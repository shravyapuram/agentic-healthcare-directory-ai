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3" r:id="rId4"/>
    <p:sldMasterId id="2147484297" r:id="rId5"/>
    <p:sldMasterId id="2147484301" r:id="rId6"/>
    <p:sldMasterId id="2147484307" r:id="rId7"/>
  </p:sldMasterIdLst>
  <p:notesMasterIdLst>
    <p:notesMasterId r:id="rId17"/>
  </p:notesMasterIdLst>
  <p:handoutMasterIdLst>
    <p:handoutMasterId r:id="rId18"/>
  </p:handoutMasterIdLst>
  <p:sldIdLst>
    <p:sldId id="1881839054" r:id="rId8"/>
    <p:sldId id="262" r:id="rId9"/>
    <p:sldId id="2147480124" r:id="rId10"/>
    <p:sldId id="2147480125" r:id="rId11"/>
    <p:sldId id="2147480126" r:id="rId12"/>
    <p:sldId id="2147480127" r:id="rId13"/>
    <p:sldId id="2147480128" r:id="rId14"/>
    <p:sldId id="2147480121" r:id="rId15"/>
    <p:sldId id="1881839143" r:id="rId16"/>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458B67-C412-0511-FAB3-4B17EB321652}" name="Chris Kramer" initials="CK" userId="S::Christopher.Kramer@ey.com::91898555-a6b5-4c1b-8618-941af9b6286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D"/>
    <a:srgbClr val="F6F6FA"/>
    <a:srgbClr val="1A1A24"/>
    <a:srgbClr val="747480"/>
    <a:srgbClr val="32FFFF"/>
    <a:srgbClr val="FF00FF"/>
    <a:srgbClr val="C5FD45"/>
    <a:srgbClr val="80FBFD"/>
    <a:srgbClr val="FFE600"/>
    <a:srgbClr val="EB4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A15E9E-595D-41B9-8E3D-C17A8AAF5BC0}" v="2" dt="2025-11-09T17:08:15.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57" autoAdjust="0"/>
  </p:normalViewPr>
  <p:slideViewPr>
    <p:cSldViewPr snapToGrid="0" snapToObjects="1" showGuides="1">
      <p:cViewPr varScale="1">
        <p:scale>
          <a:sx n="123" d="100"/>
          <a:sy n="123" d="100"/>
        </p:scale>
        <p:origin x="114" y="186"/>
      </p:cViewPr>
      <p:guideLst/>
    </p:cSldViewPr>
  </p:slideViewPr>
  <p:outlineViewPr>
    <p:cViewPr>
      <p:scale>
        <a:sx n="33" d="100"/>
        <a:sy n="33" d="100"/>
      </p:scale>
      <p:origin x="0" y="-11262"/>
    </p:cViewPr>
  </p:outlineViewPr>
  <p:notesTextViewPr>
    <p:cViewPr>
      <p:scale>
        <a:sx n="50" d="100"/>
        <a:sy n="50" d="100"/>
      </p:scale>
      <p:origin x="0" y="0"/>
    </p:cViewPr>
  </p:notesTextViewPr>
  <p:sorterViewPr>
    <p:cViewPr varScale="1">
      <p:scale>
        <a:sx n="1" d="1"/>
        <a:sy n="1" d="1"/>
      </p:scale>
      <p:origin x="0" y="-22440"/>
    </p:cViewPr>
  </p:sorterViewPr>
  <p:notesViewPr>
    <p:cSldViewPr snapToGrid="0" snapToObjects="1" showGuides="1">
      <p:cViewPr varScale="1">
        <p:scale>
          <a:sx n="79" d="100"/>
          <a:sy n="79" d="100"/>
        </p:scale>
        <p:origin x="2172" y="114"/>
      </p:cViewPr>
      <p:guideLst>
        <p:guide orient="horz" pos="2909"/>
        <p:guide pos="218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handoutMaster" Target="handoutMasters/handout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vya puram" userId="b0d355842071033c" providerId="LiveId" clId="{4345ECEF-E220-460F-9AAA-E30F22FFD6C9}"/>
    <pc:docChg chg="modSld">
      <pc:chgData name="shravya puram" userId="b0d355842071033c" providerId="LiveId" clId="{4345ECEF-E220-460F-9AAA-E30F22FFD6C9}" dt="2025-11-09T17:08:15.243" v="1"/>
      <pc:docMkLst>
        <pc:docMk/>
      </pc:docMkLst>
      <pc:sldChg chg="modSp">
        <pc:chgData name="shravya puram" userId="b0d355842071033c" providerId="LiveId" clId="{4345ECEF-E220-460F-9AAA-E30F22FFD6C9}" dt="2025-11-09T17:08:15.243" v="1"/>
        <pc:sldMkLst>
          <pc:docMk/>
          <pc:sldMk cId="1326486907" sldId="2147480125"/>
        </pc:sldMkLst>
        <pc:graphicFrameChg chg="mod">
          <ac:chgData name="shravya puram" userId="b0d355842071033c" providerId="LiveId" clId="{4345ECEF-E220-460F-9AAA-E30F22FFD6C9}" dt="2025-11-09T17:08:15.243" v="1"/>
          <ac:graphicFrameMkLst>
            <pc:docMk/>
            <pc:sldMk cId="1326486907" sldId="2147480125"/>
            <ac:graphicFrameMk id="19" creationId="{656FF79D-636F-56CF-BDF9-E7F898E6BDBB}"/>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ACFA6D-8E26-4511-AC4D-69CBA3BA753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68676ECD-12FE-4621-86E4-F0E9892A1020}">
      <dgm:prSet/>
      <dgm:spPr/>
      <dgm:t>
        <a:bodyPr/>
        <a:lstStyle/>
        <a:p>
          <a:r>
            <a:rPr lang="en-US" b="1"/>
            <a:t>Healthcare Provider Directory Validation</a:t>
          </a:r>
          <a:endParaRPr lang="en-IN"/>
        </a:p>
      </dgm:t>
    </dgm:pt>
    <dgm:pt modelId="{746A7685-1C24-4104-A157-B46CFAFDEA44}" type="parTrans" cxnId="{A3875747-11E3-45C7-BBB2-D8ED66823BBD}">
      <dgm:prSet/>
      <dgm:spPr/>
      <dgm:t>
        <a:bodyPr/>
        <a:lstStyle/>
        <a:p>
          <a:endParaRPr lang="en-IN"/>
        </a:p>
      </dgm:t>
    </dgm:pt>
    <dgm:pt modelId="{0E75797B-5A5F-4E0B-9897-5FE8B215E590}" type="sibTrans" cxnId="{A3875747-11E3-45C7-BBB2-D8ED66823BBD}">
      <dgm:prSet/>
      <dgm:spPr/>
      <dgm:t>
        <a:bodyPr/>
        <a:lstStyle/>
        <a:p>
          <a:endParaRPr lang="en-IN"/>
        </a:p>
      </dgm:t>
    </dgm:pt>
    <dgm:pt modelId="{5D51A228-616B-4B9E-91E1-10E11D6477A7}">
      <dgm:prSet/>
      <dgm:spPr/>
      <dgm:t>
        <a:bodyPr/>
        <a:lstStyle/>
        <a:p>
          <a:r>
            <a:rPr lang="en-US" dirty="0"/>
            <a:t>This challenge outlines the critical problem of inaccurate healthcare provider directories, its far-reaching consequences, and the rationale for addressing it with Agentic AI. It highlights the inefficiencies of current manual processes and the urgent need for an automated, intelligent solution to ensure data accuracy and regulatory compliance.</a:t>
          </a:r>
          <a:endParaRPr lang="en-IN" dirty="0"/>
        </a:p>
      </dgm:t>
    </dgm:pt>
    <dgm:pt modelId="{AE353FC7-C663-44B8-AB95-0BF0632ABF90}" type="parTrans" cxnId="{37283460-4C92-4BA2-8A24-2966868FF150}">
      <dgm:prSet/>
      <dgm:spPr/>
      <dgm:t>
        <a:bodyPr/>
        <a:lstStyle/>
        <a:p>
          <a:endParaRPr lang="en-IN"/>
        </a:p>
      </dgm:t>
    </dgm:pt>
    <dgm:pt modelId="{264117FF-279C-4382-8022-27D77E3D9259}" type="sibTrans" cxnId="{37283460-4C92-4BA2-8A24-2966868FF150}">
      <dgm:prSet/>
      <dgm:spPr/>
      <dgm:t>
        <a:bodyPr/>
        <a:lstStyle/>
        <a:p>
          <a:endParaRPr lang="en-IN"/>
        </a:p>
      </dgm:t>
    </dgm:pt>
    <dgm:pt modelId="{B5B27223-F543-479B-8251-D467755856F6}">
      <dgm:prSet/>
      <dgm:spPr/>
      <dgm:t>
        <a:bodyPr/>
        <a:lstStyle/>
        <a:p>
          <a:r>
            <a:rPr lang="en-US" b="1"/>
            <a:t>Inaccurate Provider Data: A Pervasive Problem</a:t>
          </a:r>
          <a:endParaRPr lang="en-IN"/>
        </a:p>
      </dgm:t>
    </dgm:pt>
    <dgm:pt modelId="{E8B44457-136F-470C-A9F2-FA6FC6B152FD}" type="parTrans" cxnId="{4A5918D6-3A95-454F-913E-51267E4F5938}">
      <dgm:prSet/>
      <dgm:spPr/>
      <dgm:t>
        <a:bodyPr/>
        <a:lstStyle/>
        <a:p>
          <a:endParaRPr lang="en-IN"/>
        </a:p>
      </dgm:t>
    </dgm:pt>
    <dgm:pt modelId="{EF34A42C-72E7-43AA-A7B1-282C98689F88}" type="sibTrans" cxnId="{4A5918D6-3A95-454F-913E-51267E4F5938}">
      <dgm:prSet/>
      <dgm:spPr/>
      <dgm:t>
        <a:bodyPr/>
        <a:lstStyle/>
        <a:p>
          <a:endParaRPr lang="en-IN"/>
        </a:p>
      </dgm:t>
    </dgm:pt>
    <dgm:pt modelId="{6D7B9F1C-B7DD-436A-A640-48B9DB064034}">
      <dgm:prSet/>
      <dgm:spPr/>
      <dgm:t>
        <a:bodyPr/>
        <a:lstStyle/>
        <a:p>
          <a:r>
            <a:rPr lang="en-US" b="1" dirty="0"/>
            <a:t>What:</a:t>
          </a:r>
          <a:r>
            <a:rPr lang="en-US" dirty="0"/>
            <a:t> Over 70% of healthcare provider directory entries contain outdated or inconsistent information.</a:t>
          </a:r>
          <a:endParaRPr lang="en-IN" dirty="0"/>
        </a:p>
      </dgm:t>
    </dgm:pt>
    <dgm:pt modelId="{1BC20A62-5349-46C5-AC3D-104924810B3B}" type="parTrans" cxnId="{57892BDC-F011-4248-9657-DB527DD5453C}">
      <dgm:prSet/>
      <dgm:spPr/>
      <dgm:t>
        <a:bodyPr/>
        <a:lstStyle/>
        <a:p>
          <a:endParaRPr lang="en-IN"/>
        </a:p>
      </dgm:t>
    </dgm:pt>
    <dgm:pt modelId="{B78B59BB-53DE-4B42-936D-02D8882CB5BE}" type="sibTrans" cxnId="{57892BDC-F011-4248-9657-DB527DD5453C}">
      <dgm:prSet/>
      <dgm:spPr/>
      <dgm:t>
        <a:bodyPr/>
        <a:lstStyle/>
        <a:p>
          <a:endParaRPr lang="en-IN"/>
        </a:p>
      </dgm:t>
    </dgm:pt>
    <dgm:pt modelId="{0DBBF0AC-6EFF-45C4-9E83-D85DF83F10B2}">
      <dgm:prSet/>
      <dgm:spPr/>
      <dgm:t>
        <a:bodyPr/>
        <a:lstStyle/>
        <a:p>
          <a:r>
            <a:rPr lang="en-US" b="1" dirty="0"/>
            <a:t>Where:</a:t>
          </a:r>
          <a:r>
            <a:rPr lang="en-US" dirty="0"/>
            <a:t> This issue affects all aspects of healthcare operations, from patient access to claims processing.</a:t>
          </a:r>
          <a:endParaRPr lang="en-IN" dirty="0"/>
        </a:p>
      </dgm:t>
    </dgm:pt>
    <dgm:pt modelId="{14BCA563-5D3F-494B-AB52-42926F72FAB5}" type="parTrans" cxnId="{A7785B8F-D3DC-4B21-8644-27F7035F388C}">
      <dgm:prSet/>
      <dgm:spPr/>
      <dgm:t>
        <a:bodyPr/>
        <a:lstStyle/>
        <a:p>
          <a:endParaRPr lang="en-IN"/>
        </a:p>
      </dgm:t>
    </dgm:pt>
    <dgm:pt modelId="{D0C5ECFA-7B75-4482-90DE-1AB9FC52D54D}" type="sibTrans" cxnId="{A7785B8F-D3DC-4B21-8644-27F7035F388C}">
      <dgm:prSet/>
      <dgm:spPr/>
      <dgm:t>
        <a:bodyPr/>
        <a:lstStyle/>
        <a:p>
          <a:endParaRPr lang="en-IN"/>
        </a:p>
      </dgm:t>
    </dgm:pt>
    <dgm:pt modelId="{C174D03A-18B0-445C-A54F-5B1EF6DB037D}">
      <dgm:prSet/>
      <dgm:spPr/>
      <dgm:t>
        <a:bodyPr/>
        <a:lstStyle/>
        <a:p>
          <a:r>
            <a:rPr lang="en-US" b="1" dirty="0"/>
            <a:t>Who:</a:t>
          </a:r>
          <a:r>
            <a:rPr lang="en-US" dirty="0"/>
            <a:t> Impacts patients, healthcare providers, payers, and regulatory bodies.</a:t>
          </a:r>
          <a:endParaRPr lang="en-IN" dirty="0"/>
        </a:p>
      </dgm:t>
    </dgm:pt>
    <dgm:pt modelId="{50DF4DEB-2A7D-4BF4-92CE-1F2E10738CD5}" type="parTrans" cxnId="{44D20B6D-7572-42C7-964D-D2E9B4720D7D}">
      <dgm:prSet/>
      <dgm:spPr/>
      <dgm:t>
        <a:bodyPr/>
        <a:lstStyle/>
        <a:p>
          <a:endParaRPr lang="en-IN"/>
        </a:p>
      </dgm:t>
    </dgm:pt>
    <dgm:pt modelId="{7AA4C5EE-1E35-4DEA-966D-90938673F2E4}" type="sibTrans" cxnId="{44D20B6D-7572-42C7-964D-D2E9B4720D7D}">
      <dgm:prSet/>
      <dgm:spPr/>
      <dgm:t>
        <a:bodyPr/>
        <a:lstStyle/>
        <a:p>
          <a:endParaRPr lang="en-IN"/>
        </a:p>
      </dgm:t>
    </dgm:pt>
    <dgm:pt modelId="{6001DB8C-C3DA-49A5-8833-44A97AB0502C}">
      <dgm:prSet/>
      <dgm:spPr/>
      <dgm:t>
        <a:bodyPr/>
        <a:lstStyle/>
        <a:p>
          <a:r>
            <a:rPr lang="en-US" b="1" dirty="0"/>
            <a:t>Why:</a:t>
          </a:r>
          <a:r>
            <a:rPr lang="en-US" dirty="0"/>
            <a:t> Manual verification processes are slow, costly, and prone to errors. Data sources are fragmented and lack real-time updates.</a:t>
          </a:r>
          <a:endParaRPr lang="en-IN" dirty="0"/>
        </a:p>
      </dgm:t>
    </dgm:pt>
    <dgm:pt modelId="{787CED0B-A88B-4CD4-B534-50FF1133C162}" type="parTrans" cxnId="{B0DDFEEB-C942-4699-88FA-E14EE6BF41FF}">
      <dgm:prSet/>
      <dgm:spPr/>
      <dgm:t>
        <a:bodyPr/>
        <a:lstStyle/>
        <a:p>
          <a:endParaRPr lang="en-IN"/>
        </a:p>
      </dgm:t>
    </dgm:pt>
    <dgm:pt modelId="{C7F98A90-D667-4C0E-A2C5-BA7B577B9001}" type="sibTrans" cxnId="{B0DDFEEB-C942-4699-88FA-E14EE6BF41FF}">
      <dgm:prSet/>
      <dgm:spPr/>
      <dgm:t>
        <a:bodyPr/>
        <a:lstStyle/>
        <a:p>
          <a:endParaRPr lang="en-IN"/>
        </a:p>
      </dgm:t>
    </dgm:pt>
    <dgm:pt modelId="{28F56BBE-D440-4AFB-B4D2-8DE11E531952}">
      <dgm:prSet/>
      <dgm:spPr/>
      <dgm:t>
        <a:bodyPr/>
        <a:lstStyle/>
        <a:p>
          <a:r>
            <a:rPr lang="en-US" b="1" dirty="0"/>
            <a:t>How:</a:t>
          </a:r>
          <a:r>
            <a:rPr lang="en-US" dirty="0"/>
            <a:t> Inaccurate contact details, incorrect specializations, outdated license information, and missing locations.</a:t>
          </a:r>
          <a:endParaRPr lang="en-IN" dirty="0"/>
        </a:p>
      </dgm:t>
    </dgm:pt>
    <dgm:pt modelId="{756D2B87-B2E7-499A-B722-525E2DC91A8C}" type="parTrans" cxnId="{9830EA3C-199F-462A-BAC6-3CDE2856ADF8}">
      <dgm:prSet/>
      <dgm:spPr/>
      <dgm:t>
        <a:bodyPr/>
        <a:lstStyle/>
        <a:p>
          <a:endParaRPr lang="en-IN"/>
        </a:p>
      </dgm:t>
    </dgm:pt>
    <dgm:pt modelId="{92B09EEB-2902-49F5-B9A7-EA6EDC5F71BD}" type="sibTrans" cxnId="{9830EA3C-199F-462A-BAC6-3CDE2856ADF8}">
      <dgm:prSet/>
      <dgm:spPr/>
      <dgm:t>
        <a:bodyPr/>
        <a:lstStyle/>
        <a:p>
          <a:endParaRPr lang="en-IN"/>
        </a:p>
      </dgm:t>
    </dgm:pt>
    <dgm:pt modelId="{55A9DEE1-DBE8-4FD0-90B4-88D4B29502C2}">
      <dgm:prSet/>
      <dgm:spPr/>
      <dgm:t>
        <a:bodyPr/>
        <a:lstStyle/>
        <a:p>
          <a:r>
            <a:rPr lang="en-US" b="1"/>
            <a:t>Why It Matters: Impact and Urgency</a:t>
          </a:r>
          <a:endParaRPr lang="en-IN"/>
        </a:p>
      </dgm:t>
    </dgm:pt>
    <dgm:pt modelId="{C897F540-BB1C-48A0-9483-1B978FA56E70}" type="parTrans" cxnId="{0B0A9C2C-F933-4CBB-812B-50DFEFC1A155}">
      <dgm:prSet/>
      <dgm:spPr/>
      <dgm:t>
        <a:bodyPr/>
        <a:lstStyle/>
        <a:p>
          <a:endParaRPr lang="en-IN"/>
        </a:p>
      </dgm:t>
    </dgm:pt>
    <dgm:pt modelId="{5BE88002-BBAB-49F2-92A8-8D976EA3616E}" type="sibTrans" cxnId="{0B0A9C2C-F933-4CBB-812B-50DFEFC1A155}">
      <dgm:prSet/>
      <dgm:spPr/>
      <dgm:t>
        <a:bodyPr/>
        <a:lstStyle/>
        <a:p>
          <a:endParaRPr lang="en-IN"/>
        </a:p>
      </dgm:t>
    </dgm:pt>
    <dgm:pt modelId="{3006E8A1-878E-4210-A749-1E09D738D354}">
      <dgm:prSet/>
      <dgm:spPr/>
      <dgm:t>
        <a:bodyPr/>
        <a:lstStyle/>
        <a:p>
          <a:r>
            <a:rPr lang="en-US" b="1" dirty="0"/>
            <a:t>Business Impact:</a:t>
          </a:r>
          <a:r>
            <a:rPr lang="en-US" dirty="0"/>
            <a:t> Leads to increased operational costs due to claim rejections, compliance penalties, and wasted resources.</a:t>
          </a:r>
          <a:endParaRPr lang="en-IN" dirty="0"/>
        </a:p>
      </dgm:t>
    </dgm:pt>
    <dgm:pt modelId="{DC3B950B-C7B2-4F51-8F8C-AF64F7667817}" type="parTrans" cxnId="{D4307DCA-B8EB-4A8B-B09F-E7FCB94CA928}">
      <dgm:prSet/>
      <dgm:spPr/>
      <dgm:t>
        <a:bodyPr/>
        <a:lstStyle/>
        <a:p>
          <a:endParaRPr lang="en-IN"/>
        </a:p>
      </dgm:t>
    </dgm:pt>
    <dgm:pt modelId="{31F3C0FD-3697-468C-A676-396252F78042}" type="sibTrans" cxnId="{D4307DCA-B8EB-4A8B-B09F-E7FCB94CA928}">
      <dgm:prSet/>
      <dgm:spPr/>
      <dgm:t>
        <a:bodyPr/>
        <a:lstStyle/>
        <a:p>
          <a:endParaRPr lang="en-IN"/>
        </a:p>
      </dgm:t>
    </dgm:pt>
    <dgm:pt modelId="{43C4741A-1134-48F1-98D2-1D2C4D27F875}">
      <dgm:prSet/>
      <dgm:spPr/>
      <dgm:t>
        <a:bodyPr/>
        <a:lstStyle/>
        <a:p>
          <a:r>
            <a:rPr lang="en-US" b="1" dirty="0"/>
            <a:t>User Impact:</a:t>
          </a:r>
          <a:r>
            <a:rPr lang="en-US" dirty="0"/>
            <a:t> Hinders patient access to care, causes delays in treatment, and erodes trust in the healthcare system.</a:t>
          </a:r>
          <a:endParaRPr lang="en-IN" dirty="0"/>
        </a:p>
      </dgm:t>
    </dgm:pt>
    <dgm:pt modelId="{61405772-C7CB-4268-8A7A-FDBF6B4CEC10}" type="parTrans" cxnId="{E46AED74-65EA-4059-8CFA-BC0CC2705620}">
      <dgm:prSet/>
      <dgm:spPr/>
      <dgm:t>
        <a:bodyPr/>
        <a:lstStyle/>
        <a:p>
          <a:endParaRPr lang="en-IN"/>
        </a:p>
      </dgm:t>
    </dgm:pt>
    <dgm:pt modelId="{D382139E-5689-4DE7-8D7E-4BB7A257EF67}" type="sibTrans" cxnId="{E46AED74-65EA-4059-8CFA-BC0CC2705620}">
      <dgm:prSet/>
      <dgm:spPr/>
      <dgm:t>
        <a:bodyPr/>
        <a:lstStyle/>
        <a:p>
          <a:endParaRPr lang="en-IN"/>
        </a:p>
      </dgm:t>
    </dgm:pt>
    <dgm:pt modelId="{E1F5F6B6-F118-481F-A2F6-3BC652C6FABD}">
      <dgm:prSet/>
      <dgm:spPr/>
      <dgm:t>
        <a:bodyPr/>
        <a:lstStyle/>
        <a:p>
          <a:r>
            <a:rPr lang="en-US" b="1" dirty="0"/>
            <a:t>Technical Impact:</a:t>
          </a:r>
          <a:r>
            <a:rPr lang="en-US" dirty="0"/>
            <a:t> Creates data silos, limits interoperability, and impedes the adoption of advanced healthcare technologies.</a:t>
          </a:r>
          <a:endParaRPr lang="en-IN" dirty="0"/>
        </a:p>
      </dgm:t>
    </dgm:pt>
    <dgm:pt modelId="{EECA5D28-CF3B-42F9-9DEE-385675C8F512}" type="parTrans" cxnId="{82E7C77F-82C0-4FF0-983D-3A342CE6FF6C}">
      <dgm:prSet/>
      <dgm:spPr/>
      <dgm:t>
        <a:bodyPr/>
        <a:lstStyle/>
        <a:p>
          <a:endParaRPr lang="en-IN"/>
        </a:p>
      </dgm:t>
    </dgm:pt>
    <dgm:pt modelId="{07AA438A-89EA-45E6-85FC-2E4BF5328AB6}" type="sibTrans" cxnId="{82E7C77F-82C0-4FF0-983D-3A342CE6FF6C}">
      <dgm:prSet/>
      <dgm:spPr/>
      <dgm:t>
        <a:bodyPr/>
        <a:lstStyle/>
        <a:p>
          <a:endParaRPr lang="en-IN"/>
        </a:p>
      </dgm:t>
    </dgm:pt>
    <dgm:pt modelId="{D107C033-1727-4FD2-BACF-2E1055B0BA7D}">
      <dgm:prSet/>
      <dgm:spPr/>
      <dgm:t>
        <a:bodyPr/>
        <a:lstStyle/>
        <a:p>
          <a:r>
            <a:rPr lang="en-US" b="1" dirty="0"/>
            <a:t>Urgency:</a:t>
          </a:r>
          <a:r>
            <a:rPr lang="en-US" dirty="0"/>
            <a:t> Regulatory mandates (e.g., No Surprises Act) require accurate and up-to-date provider directories, increasing the pressure to find a scalable solution</a:t>
          </a:r>
          <a:endParaRPr lang="en-IN" dirty="0"/>
        </a:p>
      </dgm:t>
    </dgm:pt>
    <dgm:pt modelId="{71651093-229D-4F02-B2D6-F0ECB5E0EEEB}" type="parTrans" cxnId="{9F44A111-1F82-48D8-8581-D0A037DACD18}">
      <dgm:prSet/>
      <dgm:spPr/>
      <dgm:t>
        <a:bodyPr/>
        <a:lstStyle/>
        <a:p>
          <a:endParaRPr lang="en-IN"/>
        </a:p>
      </dgm:t>
    </dgm:pt>
    <dgm:pt modelId="{823CA5DF-F4CE-4524-AAFF-4136BCA027F7}" type="sibTrans" cxnId="{9F44A111-1F82-48D8-8581-D0A037DACD18}">
      <dgm:prSet/>
      <dgm:spPr/>
      <dgm:t>
        <a:bodyPr/>
        <a:lstStyle/>
        <a:p>
          <a:endParaRPr lang="en-IN"/>
        </a:p>
      </dgm:t>
    </dgm:pt>
    <dgm:pt modelId="{F1198E4B-903E-4B28-83F0-DE52B4B1219B}">
      <dgm:prSet/>
      <dgm:spPr/>
      <dgm:t>
        <a:bodyPr/>
        <a:lstStyle/>
        <a:p>
          <a:r>
            <a:rPr lang="en-US" b="1"/>
            <a:t>Agentic AI: The Key to Accurate and Efficient Validation</a:t>
          </a:r>
          <a:endParaRPr lang="en-IN"/>
        </a:p>
      </dgm:t>
    </dgm:pt>
    <dgm:pt modelId="{AF4BF744-A9D6-4BE8-A176-2B5C0E58FCDE}" type="parTrans" cxnId="{ACBF5E14-1BF6-4FEF-AFD2-995115AF137B}">
      <dgm:prSet/>
      <dgm:spPr/>
      <dgm:t>
        <a:bodyPr/>
        <a:lstStyle/>
        <a:p>
          <a:endParaRPr lang="en-IN"/>
        </a:p>
      </dgm:t>
    </dgm:pt>
    <dgm:pt modelId="{813633CB-3D64-4696-B69F-6C4779FABA39}" type="sibTrans" cxnId="{ACBF5E14-1BF6-4FEF-AFD2-995115AF137B}">
      <dgm:prSet/>
      <dgm:spPr/>
      <dgm:t>
        <a:bodyPr/>
        <a:lstStyle/>
        <a:p>
          <a:endParaRPr lang="en-IN"/>
        </a:p>
      </dgm:t>
    </dgm:pt>
    <dgm:pt modelId="{6B4DFE03-176D-4528-BFBE-82ED38556F6E}">
      <dgm:prSet/>
      <dgm:spPr/>
      <dgm:t>
        <a:bodyPr/>
        <a:lstStyle/>
        <a:p>
          <a:r>
            <a:rPr lang="en-US" dirty="0"/>
            <a:t>The complexity and dynamic nature of healthcare data necessitate an intelligent, automated solution. Agentic AI offers the ability to autonomously verify and enrich provider data from diverse sources, ensuring accuracy, reducing manual effort, and improving overall healthcare operations.</a:t>
          </a:r>
          <a:endParaRPr lang="en-IN" dirty="0"/>
        </a:p>
      </dgm:t>
    </dgm:pt>
    <dgm:pt modelId="{1BC7DB98-7B3D-4BCD-83F3-31ED2D1B7CC4}" type="parTrans" cxnId="{923D9CAD-7B05-4F37-ACB2-FD70BAEC3FE8}">
      <dgm:prSet/>
      <dgm:spPr/>
      <dgm:t>
        <a:bodyPr/>
        <a:lstStyle/>
        <a:p>
          <a:endParaRPr lang="en-IN"/>
        </a:p>
      </dgm:t>
    </dgm:pt>
    <dgm:pt modelId="{5639456E-B3E5-4D87-8DD0-C18AB75D839E}" type="sibTrans" cxnId="{923D9CAD-7B05-4F37-ACB2-FD70BAEC3FE8}">
      <dgm:prSet/>
      <dgm:spPr/>
      <dgm:t>
        <a:bodyPr/>
        <a:lstStyle/>
        <a:p>
          <a:endParaRPr lang="en-IN"/>
        </a:p>
      </dgm:t>
    </dgm:pt>
    <dgm:pt modelId="{02ADE9B1-12D8-4532-ADE5-500A853F313B}" type="pres">
      <dgm:prSet presAssocID="{CBACFA6D-8E26-4511-AC4D-69CBA3BA7534}" presName="linearFlow" presStyleCnt="0">
        <dgm:presLayoutVars>
          <dgm:dir/>
          <dgm:animLvl val="lvl"/>
          <dgm:resizeHandles val="exact"/>
        </dgm:presLayoutVars>
      </dgm:prSet>
      <dgm:spPr/>
    </dgm:pt>
    <dgm:pt modelId="{04F0EA20-748C-4FF2-A090-C0FA1A1E722C}" type="pres">
      <dgm:prSet presAssocID="{68676ECD-12FE-4621-86E4-F0E9892A1020}" presName="composite" presStyleCnt="0"/>
      <dgm:spPr/>
    </dgm:pt>
    <dgm:pt modelId="{770BD452-F51B-4517-A8DA-CD7577D71F1E}" type="pres">
      <dgm:prSet presAssocID="{68676ECD-12FE-4621-86E4-F0E9892A1020}" presName="parentText" presStyleLbl="alignNode1" presStyleIdx="0" presStyleCnt="4">
        <dgm:presLayoutVars>
          <dgm:chMax val="1"/>
          <dgm:bulletEnabled val="1"/>
        </dgm:presLayoutVars>
      </dgm:prSet>
      <dgm:spPr/>
    </dgm:pt>
    <dgm:pt modelId="{9BDF368E-A0CE-4160-900A-7540CCA5EB6B}" type="pres">
      <dgm:prSet presAssocID="{68676ECD-12FE-4621-86E4-F0E9892A1020}" presName="descendantText" presStyleLbl="alignAcc1" presStyleIdx="0" presStyleCnt="4">
        <dgm:presLayoutVars>
          <dgm:bulletEnabled val="1"/>
        </dgm:presLayoutVars>
      </dgm:prSet>
      <dgm:spPr/>
    </dgm:pt>
    <dgm:pt modelId="{EBF24F1D-E73E-48A1-9C9C-1FA6D88E4212}" type="pres">
      <dgm:prSet presAssocID="{0E75797B-5A5F-4E0B-9897-5FE8B215E590}" presName="sp" presStyleCnt="0"/>
      <dgm:spPr/>
    </dgm:pt>
    <dgm:pt modelId="{BB6475F7-A24B-4A47-82F8-D042082A86ED}" type="pres">
      <dgm:prSet presAssocID="{B5B27223-F543-479B-8251-D467755856F6}" presName="composite" presStyleCnt="0"/>
      <dgm:spPr/>
    </dgm:pt>
    <dgm:pt modelId="{92E8676D-6297-4CCD-AFE2-96C6C6875469}" type="pres">
      <dgm:prSet presAssocID="{B5B27223-F543-479B-8251-D467755856F6}" presName="parentText" presStyleLbl="alignNode1" presStyleIdx="1" presStyleCnt="4">
        <dgm:presLayoutVars>
          <dgm:chMax val="1"/>
          <dgm:bulletEnabled val="1"/>
        </dgm:presLayoutVars>
      </dgm:prSet>
      <dgm:spPr/>
    </dgm:pt>
    <dgm:pt modelId="{4B44F03E-867B-4537-AFF1-06FD03AC9FF0}" type="pres">
      <dgm:prSet presAssocID="{B5B27223-F543-479B-8251-D467755856F6}" presName="descendantText" presStyleLbl="alignAcc1" presStyleIdx="1" presStyleCnt="4">
        <dgm:presLayoutVars>
          <dgm:bulletEnabled val="1"/>
        </dgm:presLayoutVars>
      </dgm:prSet>
      <dgm:spPr/>
    </dgm:pt>
    <dgm:pt modelId="{35406836-05D5-4C53-BA88-CFF921E8F03B}" type="pres">
      <dgm:prSet presAssocID="{EF34A42C-72E7-43AA-A7B1-282C98689F88}" presName="sp" presStyleCnt="0"/>
      <dgm:spPr/>
    </dgm:pt>
    <dgm:pt modelId="{8009DF22-DFA6-4F9B-89D8-7BCF91AE7033}" type="pres">
      <dgm:prSet presAssocID="{55A9DEE1-DBE8-4FD0-90B4-88D4B29502C2}" presName="composite" presStyleCnt="0"/>
      <dgm:spPr/>
    </dgm:pt>
    <dgm:pt modelId="{BF0D7F78-4F03-48E6-AC45-979AE780D14D}" type="pres">
      <dgm:prSet presAssocID="{55A9DEE1-DBE8-4FD0-90B4-88D4B29502C2}" presName="parentText" presStyleLbl="alignNode1" presStyleIdx="2" presStyleCnt="4">
        <dgm:presLayoutVars>
          <dgm:chMax val="1"/>
          <dgm:bulletEnabled val="1"/>
        </dgm:presLayoutVars>
      </dgm:prSet>
      <dgm:spPr/>
    </dgm:pt>
    <dgm:pt modelId="{0463A116-D78D-46BD-A147-72EB310B8456}" type="pres">
      <dgm:prSet presAssocID="{55A9DEE1-DBE8-4FD0-90B4-88D4B29502C2}" presName="descendantText" presStyleLbl="alignAcc1" presStyleIdx="2" presStyleCnt="4">
        <dgm:presLayoutVars>
          <dgm:bulletEnabled val="1"/>
        </dgm:presLayoutVars>
      </dgm:prSet>
      <dgm:spPr/>
    </dgm:pt>
    <dgm:pt modelId="{D5153956-E332-4241-AB31-9439135287E7}" type="pres">
      <dgm:prSet presAssocID="{5BE88002-BBAB-49F2-92A8-8D976EA3616E}" presName="sp" presStyleCnt="0"/>
      <dgm:spPr/>
    </dgm:pt>
    <dgm:pt modelId="{7162557D-1D9B-4038-9F18-51E29D70FF61}" type="pres">
      <dgm:prSet presAssocID="{F1198E4B-903E-4B28-83F0-DE52B4B1219B}" presName="composite" presStyleCnt="0"/>
      <dgm:spPr/>
    </dgm:pt>
    <dgm:pt modelId="{89C6425A-6500-4C21-BB7F-6A45EAE4C6AA}" type="pres">
      <dgm:prSet presAssocID="{F1198E4B-903E-4B28-83F0-DE52B4B1219B}" presName="parentText" presStyleLbl="alignNode1" presStyleIdx="3" presStyleCnt="4">
        <dgm:presLayoutVars>
          <dgm:chMax val="1"/>
          <dgm:bulletEnabled val="1"/>
        </dgm:presLayoutVars>
      </dgm:prSet>
      <dgm:spPr/>
    </dgm:pt>
    <dgm:pt modelId="{48DFD471-6AA5-4D42-AD50-AFF8B342AFB4}" type="pres">
      <dgm:prSet presAssocID="{F1198E4B-903E-4B28-83F0-DE52B4B1219B}" presName="descendantText" presStyleLbl="alignAcc1" presStyleIdx="3" presStyleCnt="4" custLinFactNeighborY="0">
        <dgm:presLayoutVars>
          <dgm:bulletEnabled val="1"/>
        </dgm:presLayoutVars>
      </dgm:prSet>
      <dgm:spPr/>
    </dgm:pt>
  </dgm:ptLst>
  <dgm:cxnLst>
    <dgm:cxn modelId="{9EED260B-EFC0-42BA-878E-F44A428643AA}" type="presOf" srcId="{43C4741A-1134-48F1-98D2-1D2C4D27F875}" destId="{0463A116-D78D-46BD-A147-72EB310B8456}" srcOrd="0" destOrd="1" presId="urn:microsoft.com/office/officeart/2005/8/layout/chevron2"/>
    <dgm:cxn modelId="{7730FE0E-8458-4D70-A730-6C313E7FA256}" type="presOf" srcId="{28F56BBE-D440-4AFB-B4D2-8DE11E531952}" destId="{4B44F03E-867B-4537-AFF1-06FD03AC9FF0}" srcOrd="0" destOrd="4" presId="urn:microsoft.com/office/officeart/2005/8/layout/chevron2"/>
    <dgm:cxn modelId="{9F44A111-1F82-48D8-8581-D0A037DACD18}" srcId="{55A9DEE1-DBE8-4FD0-90B4-88D4B29502C2}" destId="{D107C033-1727-4FD2-BACF-2E1055B0BA7D}" srcOrd="3" destOrd="0" parTransId="{71651093-229D-4F02-B2D6-F0ECB5E0EEEB}" sibTransId="{823CA5DF-F4CE-4524-AAFF-4136BCA027F7}"/>
    <dgm:cxn modelId="{B5E67013-8FCF-4379-9D22-4821974D01C2}" type="presOf" srcId="{C174D03A-18B0-445C-A54F-5B1EF6DB037D}" destId="{4B44F03E-867B-4537-AFF1-06FD03AC9FF0}" srcOrd="0" destOrd="2" presId="urn:microsoft.com/office/officeart/2005/8/layout/chevron2"/>
    <dgm:cxn modelId="{ACBF5E14-1BF6-4FEF-AFD2-995115AF137B}" srcId="{CBACFA6D-8E26-4511-AC4D-69CBA3BA7534}" destId="{F1198E4B-903E-4B28-83F0-DE52B4B1219B}" srcOrd="3" destOrd="0" parTransId="{AF4BF744-A9D6-4BE8-A176-2B5C0E58FCDE}" sibTransId="{813633CB-3D64-4696-B69F-6C4779FABA39}"/>
    <dgm:cxn modelId="{3CB06A14-740D-4934-AEC3-D9E58658B0BC}" type="presOf" srcId="{6001DB8C-C3DA-49A5-8833-44A97AB0502C}" destId="{4B44F03E-867B-4537-AFF1-06FD03AC9FF0}" srcOrd="0" destOrd="3" presId="urn:microsoft.com/office/officeart/2005/8/layout/chevron2"/>
    <dgm:cxn modelId="{1464A017-0FF6-414B-A662-47B22808DD81}" type="presOf" srcId="{55A9DEE1-DBE8-4FD0-90B4-88D4B29502C2}" destId="{BF0D7F78-4F03-48E6-AC45-979AE780D14D}" srcOrd="0" destOrd="0" presId="urn:microsoft.com/office/officeart/2005/8/layout/chevron2"/>
    <dgm:cxn modelId="{6198FF29-E9D7-42FD-BDDD-2437376CEE1B}" type="presOf" srcId="{5D51A228-616B-4B9E-91E1-10E11D6477A7}" destId="{9BDF368E-A0CE-4160-900A-7540CCA5EB6B}" srcOrd="0" destOrd="0" presId="urn:microsoft.com/office/officeart/2005/8/layout/chevron2"/>
    <dgm:cxn modelId="{0B0A9C2C-F933-4CBB-812B-50DFEFC1A155}" srcId="{CBACFA6D-8E26-4511-AC4D-69CBA3BA7534}" destId="{55A9DEE1-DBE8-4FD0-90B4-88D4B29502C2}" srcOrd="2" destOrd="0" parTransId="{C897F540-BB1C-48A0-9483-1B978FA56E70}" sibTransId="{5BE88002-BBAB-49F2-92A8-8D976EA3616E}"/>
    <dgm:cxn modelId="{9830EA3C-199F-462A-BAC6-3CDE2856ADF8}" srcId="{B5B27223-F543-479B-8251-D467755856F6}" destId="{28F56BBE-D440-4AFB-B4D2-8DE11E531952}" srcOrd="4" destOrd="0" parTransId="{756D2B87-B2E7-499A-B722-525E2DC91A8C}" sibTransId="{92B09EEB-2902-49F5-B9A7-EA6EDC5F71BD}"/>
    <dgm:cxn modelId="{2693C23F-835A-4EEC-814C-582794182AD1}" type="presOf" srcId="{6B4DFE03-176D-4528-BFBE-82ED38556F6E}" destId="{48DFD471-6AA5-4D42-AD50-AFF8B342AFB4}" srcOrd="0" destOrd="0" presId="urn:microsoft.com/office/officeart/2005/8/layout/chevron2"/>
    <dgm:cxn modelId="{37283460-4C92-4BA2-8A24-2966868FF150}" srcId="{68676ECD-12FE-4621-86E4-F0E9892A1020}" destId="{5D51A228-616B-4B9E-91E1-10E11D6477A7}" srcOrd="0" destOrd="0" parTransId="{AE353FC7-C663-44B8-AB95-0BF0632ABF90}" sibTransId="{264117FF-279C-4382-8022-27D77E3D9259}"/>
    <dgm:cxn modelId="{A3875747-11E3-45C7-BBB2-D8ED66823BBD}" srcId="{CBACFA6D-8E26-4511-AC4D-69CBA3BA7534}" destId="{68676ECD-12FE-4621-86E4-F0E9892A1020}" srcOrd="0" destOrd="0" parTransId="{746A7685-1C24-4104-A157-B46CFAFDEA44}" sibTransId="{0E75797B-5A5F-4E0B-9897-5FE8B215E590}"/>
    <dgm:cxn modelId="{44D20B6D-7572-42C7-964D-D2E9B4720D7D}" srcId="{B5B27223-F543-479B-8251-D467755856F6}" destId="{C174D03A-18B0-445C-A54F-5B1EF6DB037D}" srcOrd="2" destOrd="0" parTransId="{50DF4DEB-2A7D-4BF4-92CE-1F2E10738CD5}" sibTransId="{7AA4C5EE-1E35-4DEA-966D-90938673F2E4}"/>
    <dgm:cxn modelId="{E46AED74-65EA-4059-8CFA-BC0CC2705620}" srcId="{55A9DEE1-DBE8-4FD0-90B4-88D4B29502C2}" destId="{43C4741A-1134-48F1-98D2-1D2C4D27F875}" srcOrd="1" destOrd="0" parTransId="{61405772-C7CB-4268-8A7A-FDBF6B4CEC10}" sibTransId="{D382139E-5689-4DE7-8D7E-4BB7A257EF67}"/>
    <dgm:cxn modelId="{51D28477-C752-4CDC-8613-15974BD702A4}" type="presOf" srcId="{F1198E4B-903E-4B28-83F0-DE52B4B1219B}" destId="{89C6425A-6500-4C21-BB7F-6A45EAE4C6AA}" srcOrd="0" destOrd="0" presId="urn:microsoft.com/office/officeart/2005/8/layout/chevron2"/>
    <dgm:cxn modelId="{59519179-1ED1-4EAC-91FB-B2C33678D04A}" type="presOf" srcId="{B5B27223-F543-479B-8251-D467755856F6}" destId="{92E8676D-6297-4CCD-AFE2-96C6C6875469}" srcOrd="0" destOrd="0" presId="urn:microsoft.com/office/officeart/2005/8/layout/chevron2"/>
    <dgm:cxn modelId="{A4D2587B-585D-49E8-ADB0-38A3E5BE9238}" type="presOf" srcId="{CBACFA6D-8E26-4511-AC4D-69CBA3BA7534}" destId="{02ADE9B1-12D8-4532-ADE5-500A853F313B}" srcOrd="0" destOrd="0" presId="urn:microsoft.com/office/officeart/2005/8/layout/chevron2"/>
    <dgm:cxn modelId="{82E7C77F-82C0-4FF0-983D-3A342CE6FF6C}" srcId="{55A9DEE1-DBE8-4FD0-90B4-88D4B29502C2}" destId="{E1F5F6B6-F118-481F-A2F6-3BC652C6FABD}" srcOrd="2" destOrd="0" parTransId="{EECA5D28-CF3B-42F9-9DEE-385675C8F512}" sibTransId="{07AA438A-89EA-45E6-85FC-2E4BF5328AB6}"/>
    <dgm:cxn modelId="{7E8E3481-4E7C-49AB-96F1-96DD0A7736C6}" type="presOf" srcId="{E1F5F6B6-F118-481F-A2F6-3BC652C6FABD}" destId="{0463A116-D78D-46BD-A147-72EB310B8456}" srcOrd="0" destOrd="2" presId="urn:microsoft.com/office/officeart/2005/8/layout/chevron2"/>
    <dgm:cxn modelId="{A7785B8F-D3DC-4B21-8644-27F7035F388C}" srcId="{B5B27223-F543-479B-8251-D467755856F6}" destId="{0DBBF0AC-6EFF-45C4-9E83-D85DF83F10B2}" srcOrd="1" destOrd="0" parTransId="{14BCA563-5D3F-494B-AB52-42926F72FAB5}" sibTransId="{D0C5ECFA-7B75-4482-90DE-1AB9FC52D54D}"/>
    <dgm:cxn modelId="{501E82A4-63DB-4A4C-B1D3-9C8445210240}" type="presOf" srcId="{3006E8A1-878E-4210-A749-1E09D738D354}" destId="{0463A116-D78D-46BD-A147-72EB310B8456}" srcOrd="0" destOrd="0" presId="urn:microsoft.com/office/officeart/2005/8/layout/chevron2"/>
    <dgm:cxn modelId="{923D9CAD-7B05-4F37-ACB2-FD70BAEC3FE8}" srcId="{F1198E4B-903E-4B28-83F0-DE52B4B1219B}" destId="{6B4DFE03-176D-4528-BFBE-82ED38556F6E}" srcOrd="0" destOrd="0" parTransId="{1BC7DB98-7B3D-4BCD-83F3-31ED2D1B7CC4}" sibTransId="{5639456E-B3E5-4D87-8DD0-C18AB75D839E}"/>
    <dgm:cxn modelId="{71747CB1-E266-46F1-99CB-E3261761D269}" type="presOf" srcId="{6D7B9F1C-B7DD-436A-A640-48B9DB064034}" destId="{4B44F03E-867B-4537-AFF1-06FD03AC9FF0}" srcOrd="0" destOrd="0" presId="urn:microsoft.com/office/officeart/2005/8/layout/chevron2"/>
    <dgm:cxn modelId="{7D6BE4BD-204F-40F6-8396-81FA856470E3}" type="presOf" srcId="{D107C033-1727-4FD2-BACF-2E1055B0BA7D}" destId="{0463A116-D78D-46BD-A147-72EB310B8456}" srcOrd="0" destOrd="3" presId="urn:microsoft.com/office/officeart/2005/8/layout/chevron2"/>
    <dgm:cxn modelId="{CAC72CBF-C9F4-49A8-ADE0-3175AF7FB091}" type="presOf" srcId="{68676ECD-12FE-4621-86E4-F0E9892A1020}" destId="{770BD452-F51B-4517-A8DA-CD7577D71F1E}" srcOrd="0" destOrd="0" presId="urn:microsoft.com/office/officeart/2005/8/layout/chevron2"/>
    <dgm:cxn modelId="{A4DCC8C7-7D91-403D-807D-488A9F56FEA9}" type="presOf" srcId="{0DBBF0AC-6EFF-45C4-9E83-D85DF83F10B2}" destId="{4B44F03E-867B-4537-AFF1-06FD03AC9FF0}" srcOrd="0" destOrd="1" presId="urn:microsoft.com/office/officeart/2005/8/layout/chevron2"/>
    <dgm:cxn modelId="{D4307DCA-B8EB-4A8B-B09F-E7FCB94CA928}" srcId="{55A9DEE1-DBE8-4FD0-90B4-88D4B29502C2}" destId="{3006E8A1-878E-4210-A749-1E09D738D354}" srcOrd="0" destOrd="0" parTransId="{DC3B950B-C7B2-4F51-8F8C-AF64F7667817}" sibTransId="{31F3C0FD-3697-468C-A676-396252F78042}"/>
    <dgm:cxn modelId="{4A5918D6-3A95-454F-913E-51267E4F5938}" srcId="{CBACFA6D-8E26-4511-AC4D-69CBA3BA7534}" destId="{B5B27223-F543-479B-8251-D467755856F6}" srcOrd="1" destOrd="0" parTransId="{E8B44457-136F-470C-A9F2-FA6FC6B152FD}" sibTransId="{EF34A42C-72E7-43AA-A7B1-282C98689F88}"/>
    <dgm:cxn modelId="{57892BDC-F011-4248-9657-DB527DD5453C}" srcId="{B5B27223-F543-479B-8251-D467755856F6}" destId="{6D7B9F1C-B7DD-436A-A640-48B9DB064034}" srcOrd="0" destOrd="0" parTransId="{1BC20A62-5349-46C5-AC3D-104924810B3B}" sibTransId="{B78B59BB-53DE-4B42-936D-02D8882CB5BE}"/>
    <dgm:cxn modelId="{B0DDFEEB-C942-4699-88FA-E14EE6BF41FF}" srcId="{B5B27223-F543-479B-8251-D467755856F6}" destId="{6001DB8C-C3DA-49A5-8833-44A97AB0502C}" srcOrd="3" destOrd="0" parTransId="{787CED0B-A88B-4CD4-B534-50FF1133C162}" sibTransId="{C7F98A90-D667-4C0E-A2C5-BA7B577B9001}"/>
    <dgm:cxn modelId="{F27CCA08-DB0A-44EC-A8CF-92CB5DDD71B4}" type="presParOf" srcId="{02ADE9B1-12D8-4532-ADE5-500A853F313B}" destId="{04F0EA20-748C-4FF2-A090-C0FA1A1E722C}" srcOrd="0" destOrd="0" presId="urn:microsoft.com/office/officeart/2005/8/layout/chevron2"/>
    <dgm:cxn modelId="{4D854449-1946-40BF-AF57-A98AB37D823F}" type="presParOf" srcId="{04F0EA20-748C-4FF2-A090-C0FA1A1E722C}" destId="{770BD452-F51B-4517-A8DA-CD7577D71F1E}" srcOrd="0" destOrd="0" presId="urn:microsoft.com/office/officeart/2005/8/layout/chevron2"/>
    <dgm:cxn modelId="{5782775F-175F-4FD7-8423-938C5AAF8EB4}" type="presParOf" srcId="{04F0EA20-748C-4FF2-A090-C0FA1A1E722C}" destId="{9BDF368E-A0CE-4160-900A-7540CCA5EB6B}" srcOrd="1" destOrd="0" presId="urn:microsoft.com/office/officeart/2005/8/layout/chevron2"/>
    <dgm:cxn modelId="{4ECEA30A-9BD4-438B-9243-B7398A85C600}" type="presParOf" srcId="{02ADE9B1-12D8-4532-ADE5-500A853F313B}" destId="{EBF24F1D-E73E-48A1-9C9C-1FA6D88E4212}" srcOrd="1" destOrd="0" presId="urn:microsoft.com/office/officeart/2005/8/layout/chevron2"/>
    <dgm:cxn modelId="{20766C1B-B2D2-44B6-80FE-7DD2DC56C651}" type="presParOf" srcId="{02ADE9B1-12D8-4532-ADE5-500A853F313B}" destId="{BB6475F7-A24B-4A47-82F8-D042082A86ED}" srcOrd="2" destOrd="0" presId="urn:microsoft.com/office/officeart/2005/8/layout/chevron2"/>
    <dgm:cxn modelId="{A94000F8-C664-4CBA-8987-3FAFA75B6D0A}" type="presParOf" srcId="{BB6475F7-A24B-4A47-82F8-D042082A86ED}" destId="{92E8676D-6297-4CCD-AFE2-96C6C6875469}" srcOrd="0" destOrd="0" presId="urn:microsoft.com/office/officeart/2005/8/layout/chevron2"/>
    <dgm:cxn modelId="{AF6582AC-4935-4720-AF54-21CE15F99D33}" type="presParOf" srcId="{BB6475F7-A24B-4A47-82F8-D042082A86ED}" destId="{4B44F03E-867B-4537-AFF1-06FD03AC9FF0}" srcOrd="1" destOrd="0" presId="urn:microsoft.com/office/officeart/2005/8/layout/chevron2"/>
    <dgm:cxn modelId="{5BD70E87-7140-4754-9918-103118D84171}" type="presParOf" srcId="{02ADE9B1-12D8-4532-ADE5-500A853F313B}" destId="{35406836-05D5-4C53-BA88-CFF921E8F03B}" srcOrd="3" destOrd="0" presId="urn:microsoft.com/office/officeart/2005/8/layout/chevron2"/>
    <dgm:cxn modelId="{303F197E-2704-4D8A-A39B-0F779C94D416}" type="presParOf" srcId="{02ADE9B1-12D8-4532-ADE5-500A853F313B}" destId="{8009DF22-DFA6-4F9B-89D8-7BCF91AE7033}" srcOrd="4" destOrd="0" presId="urn:microsoft.com/office/officeart/2005/8/layout/chevron2"/>
    <dgm:cxn modelId="{C9329E8D-1DC3-4665-97D2-5AE3C0E2D85D}" type="presParOf" srcId="{8009DF22-DFA6-4F9B-89D8-7BCF91AE7033}" destId="{BF0D7F78-4F03-48E6-AC45-979AE780D14D}" srcOrd="0" destOrd="0" presId="urn:microsoft.com/office/officeart/2005/8/layout/chevron2"/>
    <dgm:cxn modelId="{AF1BB3D2-50A6-4062-BFDA-D3766283049B}" type="presParOf" srcId="{8009DF22-DFA6-4F9B-89D8-7BCF91AE7033}" destId="{0463A116-D78D-46BD-A147-72EB310B8456}" srcOrd="1" destOrd="0" presId="urn:microsoft.com/office/officeart/2005/8/layout/chevron2"/>
    <dgm:cxn modelId="{E0E7F6BB-646C-447E-869C-0B5A66E6B172}" type="presParOf" srcId="{02ADE9B1-12D8-4532-ADE5-500A853F313B}" destId="{D5153956-E332-4241-AB31-9439135287E7}" srcOrd="5" destOrd="0" presId="urn:microsoft.com/office/officeart/2005/8/layout/chevron2"/>
    <dgm:cxn modelId="{AE7F98B1-B53F-45D1-9485-A7F59980D282}" type="presParOf" srcId="{02ADE9B1-12D8-4532-ADE5-500A853F313B}" destId="{7162557D-1D9B-4038-9F18-51E29D70FF61}" srcOrd="6" destOrd="0" presId="urn:microsoft.com/office/officeart/2005/8/layout/chevron2"/>
    <dgm:cxn modelId="{C5A496A9-E680-4DF5-8384-5C30BFFD6E94}" type="presParOf" srcId="{7162557D-1D9B-4038-9F18-51E29D70FF61}" destId="{89C6425A-6500-4C21-BB7F-6A45EAE4C6AA}" srcOrd="0" destOrd="0" presId="urn:microsoft.com/office/officeart/2005/8/layout/chevron2"/>
    <dgm:cxn modelId="{E6BDAD76-FCC3-4670-A65B-43C21A329F36}" type="presParOf" srcId="{7162557D-1D9B-4038-9F18-51E29D70FF61}" destId="{48DFD471-6AA5-4D42-AD50-AFF8B342AFB4}"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0BD452-F51B-4517-A8DA-CD7577D71F1E}">
      <dsp:nvSpPr>
        <dsp:cNvPr id="0" name=""/>
        <dsp:cNvSpPr/>
      </dsp:nvSpPr>
      <dsp:spPr>
        <a:xfrm rot="5400000">
          <a:off x="-247699" y="250989"/>
          <a:ext cx="1651332" cy="115593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Healthcare Provider Directory Validation</a:t>
          </a:r>
          <a:endParaRPr lang="en-IN" sz="1100" kern="1200"/>
        </a:p>
      </dsp:txBody>
      <dsp:txXfrm rot="-5400000">
        <a:off x="1" y="581255"/>
        <a:ext cx="1155932" cy="495400"/>
      </dsp:txXfrm>
    </dsp:sp>
    <dsp:sp modelId="{9BDF368E-A0CE-4160-900A-7540CCA5EB6B}">
      <dsp:nvSpPr>
        <dsp:cNvPr id="0" name=""/>
        <dsp:cNvSpPr/>
      </dsp:nvSpPr>
      <dsp:spPr>
        <a:xfrm rot="5400000">
          <a:off x="3972707" y="-2813484"/>
          <a:ext cx="1073366" cy="670691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This challenge outlines the critical problem of inaccurate healthcare provider directories, its far-reaching consequences, and the rationale for addressing it with Agentic AI. It highlights the inefficiencies of current manual processes and the urgent need for an automated, intelligent solution to ensure data accuracy and regulatory compliance.</a:t>
          </a:r>
          <a:endParaRPr lang="en-IN" sz="1000" kern="1200" dirty="0"/>
        </a:p>
      </dsp:txBody>
      <dsp:txXfrm rot="-5400000">
        <a:off x="1155933" y="55687"/>
        <a:ext cx="6654518" cy="968572"/>
      </dsp:txXfrm>
    </dsp:sp>
    <dsp:sp modelId="{92E8676D-6297-4CCD-AFE2-96C6C6875469}">
      <dsp:nvSpPr>
        <dsp:cNvPr id="0" name=""/>
        <dsp:cNvSpPr/>
      </dsp:nvSpPr>
      <dsp:spPr>
        <a:xfrm rot="5400000">
          <a:off x="-247699" y="1759247"/>
          <a:ext cx="1651332" cy="115593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Inaccurate Provider Data: A Pervasive Problem</a:t>
          </a:r>
          <a:endParaRPr lang="en-IN" sz="1100" kern="1200"/>
        </a:p>
      </dsp:txBody>
      <dsp:txXfrm rot="-5400000">
        <a:off x="1" y="2089513"/>
        <a:ext cx="1155932" cy="495400"/>
      </dsp:txXfrm>
    </dsp:sp>
    <dsp:sp modelId="{4B44F03E-867B-4537-AFF1-06FD03AC9FF0}">
      <dsp:nvSpPr>
        <dsp:cNvPr id="0" name=""/>
        <dsp:cNvSpPr/>
      </dsp:nvSpPr>
      <dsp:spPr>
        <a:xfrm rot="5400000">
          <a:off x="3972707" y="-1305226"/>
          <a:ext cx="1073366" cy="670691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b="1" kern="1200" dirty="0"/>
            <a:t>What:</a:t>
          </a:r>
          <a:r>
            <a:rPr lang="en-US" sz="1000" kern="1200" dirty="0"/>
            <a:t> Over 70% of healthcare provider directory entries contain outdated or inconsistent information.</a:t>
          </a:r>
          <a:endParaRPr lang="en-IN" sz="1000" kern="1200" dirty="0"/>
        </a:p>
        <a:p>
          <a:pPr marL="57150" lvl="1" indent="-57150" algn="l" defTabSz="444500">
            <a:lnSpc>
              <a:spcPct val="90000"/>
            </a:lnSpc>
            <a:spcBef>
              <a:spcPct val="0"/>
            </a:spcBef>
            <a:spcAft>
              <a:spcPct val="15000"/>
            </a:spcAft>
            <a:buChar char="•"/>
          </a:pPr>
          <a:r>
            <a:rPr lang="en-US" sz="1000" b="1" kern="1200" dirty="0"/>
            <a:t>Where:</a:t>
          </a:r>
          <a:r>
            <a:rPr lang="en-US" sz="1000" kern="1200" dirty="0"/>
            <a:t> This issue affects all aspects of healthcare operations, from patient access to claims processing.</a:t>
          </a:r>
          <a:endParaRPr lang="en-IN" sz="1000" kern="1200" dirty="0"/>
        </a:p>
        <a:p>
          <a:pPr marL="57150" lvl="1" indent="-57150" algn="l" defTabSz="444500">
            <a:lnSpc>
              <a:spcPct val="90000"/>
            </a:lnSpc>
            <a:spcBef>
              <a:spcPct val="0"/>
            </a:spcBef>
            <a:spcAft>
              <a:spcPct val="15000"/>
            </a:spcAft>
            <a:buChar char="•"/>
          </a:pPr>
          <a:r>
            <a:rPr lang="en-US" sz="1000" b="1" kern="1200" dirty="0"/>
            <a:t>Who:</a:t>
          </a:r>
          <a:r>
            <a:rPr lang="en-US" sz="1000" kern="1200" dirty="0"/>
            <a:t> Impacts patients, healthcare providers, payers, and regulatory bodies.</a:t>
          </a:r>
          <a:endParaRPr lang="en-IN" sz="1000" kern="1200" dirty="0"/>
        </a:p>
        <a:p>
          <a:pPr marL="57150" lvl="1" indent="-57150" algn="l" defTabSz="444500">
            <a:lnSpc>
              <a:spcPct val="90000"/>
            </a:lnSpc>
            <a:spcBef>
              <a:spcPct val="0"/>
            </a:spcBef>
            <a:spcAft>
              <a:spcPct val="15000"/>
            </a:spcAft>
            <a:buChar char="•"/>
          </a:pPr>
          <a:r>
            <a:rPr lang="en-US" sz="1000" b="1" kern="1200" dirty="0"/>
            <a:t>Why:</a:t>
          </a:r>
          <a:r>
            <a:rPr lang="en-US" sz="1000" kern="1200" dirty="0"/>
            <a:t> Manual verification processes are slow, costly, and prone to errors. Data sources are fragmented and lack real-time updates.</a:t>
          </a:r>
          <a:endParaRPr lang="en-IN" sz="1000" kern="1200" dirty="0"/>
        </a:p>
        <a:p>
          <a:pPr marL="57150" lvl="1" indent="-57150" algn="l" defTabSz="444500">
            <a:lnSpc>
              <a:spcPct val="90000"/>
            </a:lnSpc>
            <a:spcBef>
              <a:spcPct val="0"/>
            </a:spcBef>
            <a:spcAft>
              <a:spcPct val="15000"/>
            </a:spcAft>
            <a:buChar char="•"/>
          </a:pPr>
          <a:r>
            <a:rPr lang="en-US" sz="1000" b="1" kern="1200" dirty="0"/>
            <a:t>How:</a:t>
          </a:r>
          <a:r>
            <a:rPr lang="en-US" sz="1000" kern="1200" dirty="0"/>
            <a:t> Inaccurate contact details, incorrect specializations, outdated license information, and missing locations.</a:t>
          </a:r>
          <a:endParaRPr lang="en-IN" sz="1000" kern="1200" dirty="0"/>
        </a:p>
      </dsp:txBody>
      <dsp:txXfrm rot="-5400000">
        <a:off x="1155933" y="1563945"/>
        <a:ext cx="6654518" cy="968572"/>
      </dsp:txXfrm>
    </dsp:sp>
    <dsp:sp modelId="{BF0D7F78-4F03-48E6-AC45-979AE780D14D}">
      <dsp:nvSpPr>
        <dsp:cNvPr id="0" name=""/>
        <dsp:cNvSpPr/>
      </dsp:nvSpPr>
      <dsp:spPr>
        <a:xfrm rot="5400000">
          <a:off x="-247699" y="3267505"/>
          <a:ext cx="1651332" cy="115593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Why It Matters: Impact and Urgency</a:t>
          </a:r>
          <a:endParaRPr lang="en-IN" sz="1100" kern="1200"/>
        </a:p>
      </dsp:txBody>
      <dsp:txXfrm rot="-5400000">
        <a:off x="1" y="3597771"/>
        <a:ext cx="1155932" cy="495400"/>
      </dsp:txXfrm>
    </dsp:sp>
    <dsp:sp modelId="{0463A116-D78D-46BD-A147-72EB310B8456}">
      <dsp:nvSpPr>
        <dsp:cNvPr id="0" name=""/>
        <dsp:cNvSpPr/>
      </dsp:nvSpPr>
      <dsp:spPr>
        <a:xfrm rot="5400000">
          <a:off x="3972707" y="203031"/>
          <a:ext cx="1073366" cy="670691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b="1" kern="1200" dirty="0"/>
            <a:t>Business Impact:</a:t>
          </a:r>
          <a:r>
            <a:rPr lang="en-US" sz="1000" kern="1200" dirty="0"/>
            <a:t> Leads to increased operational costs due to claim rejections, compliance penalties, and wasted resources.</a:t>
          </a:r>
          <a:endParaRPr lang="en-IN" sz="1000" kern="1200" dirty="0"/>
        </a:p>
        <a:p>
          <a:pPr marL="57150" lvl="1" indent="-57150" algn="l" defTabSz="444500">
            <a:lnSpc>
              <a:spcPct val="90000"/>
            </a:lnSpc>
            <a:spcBef>
              <a:spcPct val="0"/>
            </a:spcBef>
            <a:spcAft>
              <a:spcPct val="15000"/>
            </a:spcAft>
            <a:buChar char="•"/>
          </a:pPr>
          <a:r>
            <a:rPr lang="en-US" sz="1000" b="1" kern="1200" dirty="0"/>
            <a:t>User Impact:</a:t>
          </a:r>
          <a:r>
            <a:rPr lang="en-US" sz="1000" kern="1200" dirty="0"/>
            <a:t> Hinders patient access to care, causes delays in treatment, and erodes trust in the healthcare system.</a:t>
          </a:r>
          <a:endParaRPr lang="en-IN" sz="1000" kern="1200" dirty="0"/>
        </a:p>
        <a:p>
          <a:pPr marL="57150" lvl="1" indent="-57150" algn="l" defTabSz="444500">
            <a:lnSpc>
              <a:spcPct val="90000"/>
            </a:lnSpc>
            <a:spcBef>
              <a:spcPct val="0"/>
            </a:spcBef>
            <a:spcAft>
              <a:spcPct val="15000"/>
            </a:spcAft>
            <a:buChar char="•"/>
          </a:pPr>
          <a:r>
            <a:rPr lang="en-US" sz="1000" b="1" kern="1200" dirty="0"/>
            <a:t>Technical Impact:</a:t>
          </a:r>
          <a:r>
            <a:rPr lang="en-US" sz="1000" kern="1200" dirty="0"/>
            <a:t> Creates data silos, limits interoperability, and impedes the adoption of advanced healthcare technologies.</a:t>
          </a:r>
          <a:endParaRPr lang="en-IN" sz="1000" kern="1200" dirty="0"/>
        </a:p>
        <a:p>
          <a:pPr marL="57150" lvl="1" indent="-57150" algn="l" defTabSz="444500">
            <a:lnSpc>
              <a:spcPct val="90000"/>
            </a:lnSpc>
            <a:spcBef>
              <a:spcPct val="0"/>
            </a:spcBef>
            <a:spcAft>
              <a:spcPct val="15000"/>
            </a:spcAft>
            <a:buChar char="•"/>
          </a:pPr>
          <a:r>
            <a:rPr lang="en-US" sz="1000" b="1" kern="1200" dirty="0"/>
            <a:t>Urgency:</a:t>
          </a:r>
          <a:r>
            <a:rPr lang="en-US" sz="1000" kern="1200" dirty="0"/>
            <a:t> Regulatory mandates (e.g., No Surprises Act) require accurate and up-to-date provider directories, increasing the pressure to find a scalable solution</a:t>
          </a:r>
          <a:endParaRPr lang="en-IN" sz="1000" kern="1200" dirty="0"/>
        </a:p>
      </dsp:txBody>
      <dsp:txXfrm rot="-5400000">
        <a:off x="1155933" y="3072203"/>
        <a:ext cx="6654518" cy="968572"/>
      </dsp:txXfrm>
    </dsp:sp>
    <dsp:sp modelId="{89C6425A-6500-4C21-BB7F-6A45EAE4C6AA}">
      <dsp:nvSpPr>
        <dsp:cNvPr id="0" name=""/>
        <dsp:cNvSpPr/>
      </dsp:nvSpPr>
      <dsp:spPr>
        <a:xfrm rot="5400000">
          <a:off x="-247699" y="4775763"/>
          <a:ext cx="1651332" cy="1155932"/>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1" kern="1200"/>
            <a:t>Agentic AI: The Key to Accurate and Efficient Validation</a:t>
          </a:r>
          <a:endParaRPr lang="en-IN" sz="1100" kern="1200"/>
        </a:p>
      </dsp:txBody>
      <dsp:txXfrm rot="-5400000">
        <a:off x="1" y="5106029"/>
        <a:ext cx="1155932" cy="495400"/>
      </dsp:txXfrm>
    </dsp:sp>
    <dsp:sp modelId="{48DFD471-6AA5-4D42-AD50-AFF8B342AFB4}">
      <dsp:nvSpPr>
        <dsp:cNvPr id="0" name=""/>
        <dsp:cNvSpPr/>
      </dsp:nvSpPr>
      <dsp:spPr>
        <a:xfrm rot="5400000">
          <a:off x="3972707" y="1711289"/>
          <a:ext cx="1073366" cy="670691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6350" rIns="635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The complexity and dynamic nature of healthcare data necessitate an intelligent, automated solution. Agentic AI offers the ability to autonomously verify and enrich provider data from diverse sources, ensuring accuracy, reducing manual effort, and improving overall healthcare operations.</a:t>
          </a:r>
          <a:endParaRPr lang="en-IN" sz="1000" kern="1200" dirty="0"/>
        </a:p>
      </dsp:txBody>
      <dsp:txXfrm rot="-5400000">
        <a:off x="1155933" y="4580461"/>
        <a:ext cx="6654518" cy="96857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09/11/2025</a:t>
            </a:fld>
            <a:endParaRPr lang="en-GB" dirty="0">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09/11/2025</a:t>
            </a:fld>
            <a:endParaRPr lang="en-GB" dirty="0"/>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GB"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2376997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3" name="Google Shape;4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a:extLst>
            <a:ext uri="{FF2B5EF4-FFF2-40B4-BE49-F238E27FC236}">
              <a16:creationId xmlns:a16="http://schemas.microsoft.com/office/drawing/2014/main" id="{B14BA607-77B5-7488-6FEC-BCFC0CACA602}"/>
            </a:ext>
          </a:extLst>
        </p:cNvPr>
        <p:cNvGrpSpPr/>
        <p:nvPr/>
      </p:nvGrpSpPr>
      <p:grpSpPr>
        <a:xfrm>
          <a:off x="0" y="0"/>
          <a:ext cx="0" cy="0"/>
          <a:chOff x="0" y="0"/>
          <a:chExt cx="0" cy="0"/>
        </a:xfrm>
      </p:grpSpPr>
      <p:sp>
        <p:nvSpPr>
          <p:cNvPr id="792" name="Google Shape;792;p19:notes">
            <a:extLst>
              <a:ext uri="{FF2B5EF4-FFF2-40B4-BE49-F238E27FC236}">
                <a16:creationId xmlns:a16="http://schemas.microsoft.com/office/drawing/2014/main" id="{76A382BE-5179-69F8-56BD-838C3A7529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3" name="Google Shape;793;p19:notes">
            <a:extLst>
              <a:ext uri="{FF2B5EF4-FFF2-40B4-BE49-F238E27FC236}">
                <a16:creationId xmlns:a16="http://schemas.microsoft.com/office/drawing/2014/main" id="{4FC2B826-844C-A914-07B3-D4329189A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7443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B43D19E-BFDB-4C92-8EDD-32EDDA8F41DF}" type="slidenum">
              <a:rPr lang="en-GB" smtClean="0"/>
              <a:pPr/>
              <a:t>4</a:t>
            </a:fld>
            <a:endParaRPr lang="en-GB" dirty="0"/>
          </a:p>
        </p:txBody>
      </p:sp>
    </p:spTree>
    <p:extLst>
      <p:ext uri="{BB962C8B-B14F-4D97-AF65-F5344CB8AC3E}">
        <p14:creationId xmlns:p14="http://schemas.microsoft.com/office/powerpoint/2010/main" val="3884138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1D189-0AE8-23D7-2268-1F02BB4E8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ED30C-EEA4-A1FF-FB34-EF9E4C983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A9288-CE2A-E8EF-22F9-89BDCA5BF2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905B70-14F9-AB82-EBAE-F41BEB191826}"/>
              </a:ext>
            </a:extLst>
          </p:cNvPr>
          <p:cNvSpPr>
            <a:spLocks noGrp="1"/>
          </p:cNvSpPr>
          <p:nvPr>
            <p:ph type="sldNum" sz="quarter" idx="5"/>
          </p:nvPr>
        </p:nvSpPr>
        <p:spPr/>
        <p:txBody>
          <a:bodyPr/>
          <a:lstStyle/>
          <a:p>
            <a:fld id="{5B43D19E-BFDB-4C92-8EDD-32EDDA8F41DF}" type="slidenum">
              <a:rPr lang="en-GB" smtClean="0"/>
              <a:pPr/>
              <a:t>5</a:t>
            </a:fld>
            <a:endParaRPr lang="en-GB" dirty="0"/>
          </a:p>
        </p:txBody>
      </p:sp>
    </p:spTree>
    <p:extLst>
      <p:ext uri="{BB962C8B-B14F-4D97-AF65-F5344CB8AC3E}">
        <p14:creationId xmlns:p14="http://schemas.microsoft.com/office/powerpoint/2010/main" val="4075215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7FE4-3971-A93A-2376-1F0692B49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A4FB7-8EC5-2BDC-4620-34AC37585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0972A-2F3E-D5F5-B2EB-86171884B9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84CC48-A608-7543-F81C-8F896AA7D077}"/>
              </a:ext>
            </a:extLst>
          </p:cNvPr>
          <p:cNvSpPr>
            <a:spLocks noGrp="1"/>
          </p:cNvSpPr>
          <p:nvPr>
            <p:ph type="sldNum" sz="quarter" idx="5"/>
          </p:nvPr>
        </p:nvSpPr>
        <p:spPr/>
        <p:txBody>
          <a:bodyPr/>
          <a:lstStyle/>
          <a:p>
            <a:fld id="{5B43D19E-BFDB-4C92-8EDD-32EDDA8F41DF}" type="slidenum">
              <a:rPr lang="en-GB" smtClean="0"/>
              <a:pPr/>
              <a:t>6</a:t>
            </a:fld>
            <a:endParaRPr lang="en-GB" dirty="0"/>
          </a:p>
        </p:txBody>
      </p:sp>
    </p:spTree>
    <p:extLst>
      <p:ext uri="{BB962C8B-B14F-4D97-AF65-F5344CB8AC3E}">
        <p14:creationId xmlns:p14="http://schemas.microsoft.com/office/powerpoint/2010/main" val="3599386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FA71F-748A-1AB6-D197-92A7BD4D0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9BA72A-DEA6-4149-D1B7-6B6000E55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0539F-56AD-C091-4A9C-7C1425BA01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373705-12D3-9B2B-776C-7501B88598CC}"/>
              </a:ext>
            </a:extLst>
          </p:cNvPr>
          <p:cNvSpPr>
            <a:spLocks noGrp="1"/>
          </p:cNvSpPr>
          <p:nvPr>
            <p:ph type="sldNum" sz="quarter" idx="5"/>
          </p:nvPr>
        </p:nvSpPr>
        <p:spPr/>
        <p:txBody>
          <a:bodyPr/>
          <a:lstStyle/>
          <a:p>
            <a:fld id="{5B43D19E-BFDB-4C92-8EDD-32EDDA8F41DF}" type="slidenum">
              <a:rPr lang="en-GB" smtClean="0"/>
              <a:pPr/>
              <a:t>7</a:t>
            </a:fld>
            <a:endParaRPr lang="en-GB" dirty="0"/>
          </a:p>
        </p:txBody>
      </p:sp>
    </p:spTree>
    <p:extLst>
      <p:ext uri="{BB962C8B-B14F-4D97-AF65-F5344CB8AC3E}">
        <p14:creationId xmlns:p14="http://schemas.microsoft.com/office/powerpoint/2010/main" val="4105639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a:extLst>
            <a:ext uri="{FF2B5EF4-FFF2-40B4-BE49-F238E27FC236}">
              <a16:creationId xmlns:a16="http://schemas.microsoft.com/office/drawing/2014/main" id="{B4A6D2FB-55C4-6C1D-4850-F4D7A471E945}"/>
            </a:ext>
          </a:extLst>
        </p:cNvPr>
        <p:cNvGrpSpPr/>
        <p:nvPr/>
      </p:nvGrpSpPr>
      <p:grpSpPr>
        <a:xfrm>
          <a:off x="0" y="0"/>
          <a:ext cx="0" cy="0"/>
          <a:chOff x="0" y="0"/>
          <a:chExt cx="0" cy="0"/>
        </a:xfrm>
      </p:grpSpPr>
      <p:sp>
        <p:nvSpPr>
          <p:cNvPr id="792" name="Google Shape;792;p19:notes">
            <a:extLst>
              <a:ext uri="{FF2B5EF4-FFF2-40B4-BE49-F238E27FC236}">
                <a16:creationId xmlns:a16="http://schemas.microsoft.com/office/drawing/2014/main" id="{95248942-3A95-236F-7511-BC7D161DA8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3" name="Google Shape;793;p19:notes">
            <a:extLst>
              <a:ext uri="{FF2B5EF4-FFF2-40B4-BE49-F238E27FC236}">
                <a16:creationId xmlns:a16="http://schemas.microsoft.com/office/drawing/2014/main" id="{3145657A-FF92-E2B3-83B7-C609B9518F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01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76625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lvl1pPr>
              <a:defRPr sz="16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765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Frame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6B35E2-536A-6A6D-D297-2AE300D68AC6}"/>
              </a:ext>
            </a:extLst>
          </p:cNvPr>
          <p:cNvPicPr>
            <a:picLocks noChangeAspect="1"/>
          </p:cNvPicPr>
          <p:nvPr userDrawn="1"/>
        </p:nvPicPr>
        <p:blipFill>
          <a:blip r:embed="rId2">
            <a:extLst>
              <a:ext uri="{28A0092B-C50C-407E-A947-70E740481C1C}">
                <a14:useLocalDpi xmlns:a14="http://schemas.microsoft.com/office/drawing/2010/main" val="0"/>
              </a:ext>
            </a:extLst>
          </a:blip>
          <a:srcRect l="6838" t="45634" r="-111" b="3622"/>
          <a:stretch/>
        </p:blipFill>
        <p:spPr>
          <a:xfrm>
            <a:off x="0" y="0"/>
            <a:ext cx="11902629" cy="6858000"/>
          </a:xfrm>
          <a:prstGeom prst="rect">
            <a:avLst/>
          </a:prstGeom>
        </p:spPr>
      </p:pic>
      <p:sp>
        <p:nvSpPr>
          <p:cNvPr id="10" name="Rectangle 9">
            <a:extLst>
              <a:ext uri="{FF2B5EF4-FFF2-40B4-BE49-F238E27FC236}">
                <a16:creationId xmlns:a16="http://schemas.microsoft.com/office/drawing/2014/main" id="{4A68544E-529D-6C4F-3A0D-190A5EDA39D3}"/>
              </a:ext>
              <a:ext uri="{C183D7F6-B498-43B3-948B-1728B52AA6E4}">
                <adec:decorative xmlns:adec="http://schemas.microsoft.com/office/drawing/2017/decorative" val="1"/>
              </a:ext>
            </a:extLst>
          </p:cNvPr>
          <p:cNvSpPr/>
          <p:nvPr userDrawn="1"/>
        </p:nvSpPr>
        <p:spPr>
          <a:xfrm rot="10800000" flipV="1">
            <a:off x="9688009" y="0"/>
            <a:ext cx="2503989" cy="6858000"/>
          </a:xfrm>
          <a:prstGeom prst="rect">
            <a:avLst/>
          </a:prstGeom>
          <a:gradFill flip="none" rotWithShape="1">
            <a:gsLst>
              <a:gs pos="0">
                <a:schemeClr val="tx1">
                  <a:lumMod val="0"/>
                  <a:alpha val="0"/>
                </a:schemeClr>
              </a:gs>
              <a:gs pos="87000">
                <a:srgbClr val="000000"/>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sp>
        <p:nvSpPr>
          <p:cNvPr id="3" name="Rectangle 2">
            <a:extLst>
              <a:ext uri="{FF2B5EF4-FFF2-40B4-BE49-F238E27FC236}">
                <a16:creationId xmlns:a16="http://schemas.microsoft.com/office/drawing/2014/main" id="{E713817A-1A0E-6215-C86F-711F67622AC3}"/>
              </a:ext>
              <a:ext uri="{C183D7F6-B498-43B3-948B-1728B52AA6E4}">
                <adec:decorative xmlns:adec="http://schemas.microsoft.com/office/drawing/2017/decorative" val="1"/>
              </a:ext>
            </a:extLst>
          </p:cNvPr>
          <p:cNvSpPr/>
          <p:nvPr userDrawn="1"/>
        </p:nvSpPr>
        <p:spPr>
          <a:xfrm>
            <a:off x="0" y="0"/>
            <a:ext cx="6403762" cy="6858000"/>
          </a:xfrm>
          <a:prstGeom prst="rect">
            <a:avLst/>
          </a:prstGeom>
          <a:gradFill flip="none" rotWithShape="1">
            <a:gsLst>
              <a:gs pos="0">
                <a:schemeClr val="tx1">
                  <a:lumMod val="0"/>
                  <a:alpha val="0"/>
                </a:schemeClr>
              </a:gs>
              <a:gs pos="46000">
                <a:srgbClr val="000000">
                  <a:alpha val="82000"/>
                </a:srgbClr>
              </a:gs>
              <a:gs pos="100000">
                <a:srgbClr val="000000">
                  <a:alpha val="70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endParaRPr lang="en-US" sz="1200" b="1">
              <a:solidFill>
                <a:schemeClr val="tx1"/>
              </a:solidFill>
            </a:endParaRPr>
          </a:p>
        </p:txBody>
      </p:sp>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4"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a:p>
          </p:txBody>
        </p:sp>
      </p:grpSp>
      <p:grpSp>
        <p:nvGrpSpPr>
          <p:cNvPr id="5" name="Group 4">
            <a:extLst>
              <a:ext uri="{FF2B5EF4-FFF2-40B4-BE49-F238E27FC236}">
                <a16:creationId xmlns:a16="http://schemas.microsoft.com/office/drawing/2014/main" id="{9167EEE6-F985-2112-F3A8-85F1A04A37BD}"/>
              </a:ext>
            </a:extLst>
          </p:cNvPr>
          <p:cNvGrpSpPr/>
          <p:nvPr userDrawn="1"/>
        </p:nvGrpSpPr>
        <p:grpSpPr>
          <a:xfrm>
            <a:off x="501828"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1218338" y="3758091"/>
            <a:ext cx="4907628" cy="511939"/>
          </a:xfrm>
        </p:spPr>
        <p:txBody>
          <a:bodyPr wrap="square">
            <a:noAutofit/>
          </a:bodyPr>
          <a:lstStyle>
            <a:lvl1pPr marL="0" indent="0" algn="l">
              <a:buNone/>
              <a:defRPr lang="en-GB" sz="1600" kern="1200" dirty="0">
                <a:solidFill>
                  <a:schemeClr val="bg1"/>
                </a:solidFill>
                <a:latin typeface="+mj-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p:nvPr>
        </p:nvSpPr>
        <p:spPr>
          <a:xfrm>
            <a:off x="1206763" y="4369091"/>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dirty="0"/>
              <a:t>Click to edit Master text styles</a:t>
            </a:r>
          </a:p>
        </p:txBody>
      </p:sp>
      <p:grpSp>
        <p:nvGrpSpPr>
          <p:cNvPr id="2" name="Group 1">
            <a:extLst>
              <a:ext uri="{FF2B5EF4-FFF2-40B4-BE49-F238E27FC236}">
                <a16:creationId xmlns:a16="http://schemas.microsoft.com/office/drawing/2014/main" id="{166D7E4E-2A81-A5AB-16CA-DBCEFBD59141}"/>
              </a:ext>
            </a:extLst>
          </p:cNvPr>
          <p:cNvGrpSpPr/>
          <p:nvPr userDrawn="1"/>
        </p:nvGrpSpPr>
        <p:grpSpPr>
          <a:xfrm>
            <a:off x="501828" y="1238429"/>
            <a:ext cx="4887183" cy="3734730"/>
            <a:chOff x="485774" y="1291008"/>
            <a:chExt cx="5706110" cy="4360545"/>
          </a:xfrm>
        </p:grpSpPr>
        <p:sp>
          <p:nvSpPr>
            <p:cNvPr id="26" name="Freeform 25">
              <a:extLst>
                <a:ext uri="{FF2B5EF4-FFF2-40B4-BE49-F238E27FC236}">
                  <a16:creationId xmlns:a16="http://schemas.microsoft.com/office/drawing/2014/main" id="{F7E50E80-DFF0-E065-898F-1AFD970459B6}"/>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7E9D0337-F340-664F-6A13-B03AA4BA4F82}"/>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9" name="Title 4">
            <a:extLst>
              <a:ext uri="{FF2B5EF4-FFF2-40B4-BE49-F238E27FC236}">
                <a16:creationId xmlns:a16="http://schemas.microsoft.com/office/drawing/2014/main" id="{1F7B1FDC-B90E-6693-A750-B9BA4B535E8A}"/>
              </a:ext>
            </a:extLst>
          </p:cNvPr>
          <p:cNvSpPr>
            <a:spLocks noGrp="1"/>
          </p:cNvSpPr>
          <p:nvPr>
            <p:ph type="title"/>
          </p:nvPr>
        </p:nvSpPr>
        <p:spPr>
          <a:xfrm>
            <a:off x="905817" y="2020357"/>
            <a:ext cx="4054110" cy="1654043"/>
          </a:xfrm>
        </p:spPr>
        <p:txBody>
          <a:bodyPr anchor="t">
            <a:noAutofit/>
          </a:bodyPr>
          <a:lstStyle>
            <a:lvl1pPr>
              <a:defRPr sz="4200" b="1" i="0">
                <a:solidFill>
                  <a:schemeClr val="bg1"/>
                </a:solidFill>
                <a:latin typeface="EYInterstate Regular" panose="02000503020000020004" pitchFamily="2" charset="0"/>
              </a:defRPr>
            </a:lvl1pPr>
          </a:lstStyle>
          <a:p>
            <a:r>
              <a:rPr lang="en-GB" dirty="0"/>
              <a:t>Click to edit Master title style</a:t>
            </a:r>
            <a:endParaRPr lang="en-US" dirty="0"/>
          </a:p>
        </p:txBody>
      </p:sp>
      <p:pic>
        <p:nvPicPr>
          <p:cNvPr id="7" name="Picture 6" descr="A building with a blue circle and a blue circle with a black background&#10;&#10;AI-generated content may be incorrect.">
            <a:extLst>
              <a:ext uri="{FF2B5EF4-FFF2-40B4-BE49-F238E27FC236}">
                <a16:creationId xmlns:a16="http://schemas.microsoft.com/office/drawing/2014/main" id="{2B4A7BDB-B532-C423-2417-C0BCCF2311DD}"/>
              </a:ext>
            </a:extLst>
          </p:cNvPr>
          <p:cNvPicPr>
            <a:picLocks noChangeAspect="1"/>
          </p:cNvPicPr>
          <p:nvPr userDrawn="1"/>
        </p:nvPicPr>
        <p:blipFill>
          <a:blip r:embed="rId3">
            <a:extLst>
              <a:ext uri="{28A0092B-C50C-407E-A947-70E740481C1C}">
                <a14:useLocalDpi xmlns:a14="http://schemas.microsoft.com/office/drawing/2010/main" val="0"/>
              </a:ext>
            </a:extLst>
          </a:blip>
          <a:srcRect l="46704" t="46821" r="37380" b="19549"/>
          <a:stretch/>
        </p:blipFill>
        <p:spPr>
          <a:xfrm>
            <a:off x="5067055" y="185194"/>
            <a:ext cx="2016648" cy="4513703"/>
          </a:xfrm>
          <a:prstGeom prst="rect">
            <a:avLst/>
          </a:prstGeom>
        </p:spPr>
      </p:pic>
      <p:pic>
        <p:nvPicPr>
          <p:cNvPr id="8" name="Picture 7">
            <a:extLst>
              <a:ext uri="{FF2B5EF4-FFF2-40B4-BE49-F238E27FC236}">
                <a16:creationId xmlns:a16="http://schemas.microsoft.com/office/drawing/2014/main" id="{E76B35E2-536A-6A6D-D297-2AE300D68AC6}"/>
              </a:ext>
            </a:extLst>
          </p:cNvPr>
          <p:cNvPicPr>
            <a:picLocks noChangeAspect="1"/>
          </p:cNvPicPr>
          <p:nvPr userDrawn="1"/>
        </p:nvPicPr>
        <p:blipFill>
          <a:blip r:embed="rId2">
            <a:extLst>
              <a:ext uri="{28A0092B-C50C-407E-A947-70E740481C1C}">
                <a14:useLocalDpi xmlns:a14="http://schemas.microsoft.com/office/drawing/2010/main" val="0"/>
              </a:ext>
            </a:extLst>
          </a:blip>
          <a:srcRect l="46545" t="77229" r="41864" b="20949"/>
          <a:stretch/>
        </p:blipFill>
        <p:spPr>
          <a:xfrm>
            <a:off x="5067055" y="4270030"/>
            <a:ext cx="1479150" cy="246221"/>
          </a:xfrm>
          <a:prstGeom prst="rect">
            <a:avLst/>
          </a:prstGeom>
        </p:spPr>
      </p:pic>
    </p:spTree>
    <p:extLst>
      <p:ext uri="{BB962C8B-B14F-4D97-AF65-F5344CB8AC3E}">
        <p14:creationId xmlns:p14="http://schemas.microsoft.com/office/powerpoint/2010/main" val="51403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
        <p:cNvGrpSpPr/>
        <p:nvPr/>
      </p:nvGrpSpPr>
      <p:grpSpPr>
        <a:xfrm>
          <a:off x="0" y="0"/>
          <a:ext cx="0" cy="0"/>
          <a:chOff x="0" y="0"/>
          <a:chExt cx="0" cy="0"/>
        </a:xfrm>
      </p:grpSpPr>
      <p:sp>
        <p:nvSpPr>
          <p:cNvPr id="7" name="Google Shape;7;p2"/>
          <p:cNvSpPr>
            <a:spLocks noGrp="1"/>
          </p:cNvSpPr>
          <p:nvPr>
            <p:ph type="pic" idx="2"/>
          </p:nvPr>
        </p:nvSpPr>
        <p:spPr>
          <a:xfrm>
            <a:off x="940705" y="1563914"/>
            <a:ext cx="3679372" cy="3679372"/>
          </a:xfrm>
          <a:prstGeom prst="rect">
            <a:avLst/>
          </a:prstGeom>
          <a:noFill/>
          <a:ln>
            <a:noFill/>
          </a:ln>
        </p:spPr>
      </p:sp>
    </p:spTree>
    <p:extLst>
      <p:ext uri="{BB962C8B-B14F-4D97-AF65-F5344CB8AC3E}">
        <p14:creationId xmlns:p14="http://schemas.microsoft.com/office/powerpoint/2010/main" val="223721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6"/>
        <p:cNvGrpSpPr/>
        <p:nvPr/>
      </p:nvGrpSpPr>
      <p:grpSpPr>
        <a:xfrm>
          <a:off x="0" y="0"/>
          <a:ext cx="0" cy="0"/>
          <a:chOff x="0" y="0"/>
          <a:chExt cx="0" cy="0"/>
        </a:xfrm>
      </p:grpSpPr>
      <p:sp>
        <p:nvSpPr>
          <p:cNvPr id="17" name="Google Shape;17;p7"/>
          <p:cNvSpPr>
            <a:spLocks noGrp="1"/>
          </p:cNvSpPr>
          <p:nvPr>
            <p:ph type="pic" idx="2"/>
          </p:nvPr>
        </p:nvSpPr>
        <p:spPr>
          <a:xfrm>
            <a:off x="1357358" y="2692302"/>
            <a:ext cx="2085188" cy="2085188"/>
          </a:xfrm>
          <a:prstGeom prst="rect">
            <a:avLst/>
          </a:prstGeom>
          <a:noFill/>
          <a:ln>
            <a:noFill/>
          </a:ln>
        </p:spPr>
      </p:sp>
    </p:spTree>
    <p:extLst>
      <p:ext uri="{BB962C8B-B14F-4D97-AF65-F5344CB8AC3E}">
        <p14:creationId xmlns:p14="http://schemas.microsoft.com/office/powerpoint/2010/main" val="1733186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oilerplate">
    <p:spTree>
      <p:nvGrpSpPr>
        <p:cNvPr id="1" name=""/>
        <p:cNvGrpSpPr/>
        <p:nvPr/>
      </p:nvGrpSpPr>
      <p:grpSpPr>
        <a:xfrm>
          <a:off x="0" y="0"/>
          <a:ext cx="0" cy="0"/>
          <a:chOff x="0" y="0"/>
          <a:chExt cx="0" cy="0"/>
        </a:xfrm>
      </p:grpSpPr>
      <p:pic>
        <p:nvPicPr>
          <p:cNvPr id="6" name="Picture 5" descr="A bright yellow circle&#10;&#10;Description automatically generated with medium confidence">
            <a:extLst>
              <a:ext uri="{FF2B5EF4-FFF2-40B4-BE49-F238E27FC236}">
                <a16:creationId xmlns:a16="http://schemas.microsoft.com/office/drawing/2014/main" id="{0CE0EE1C-69FD-A2A1-0E47-EEBF86AA51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Tree>
    <p:extLst>
      <p:ext uri="{BB962C8B-B14F-4D97-AF65-F5344CB8AC3E}">
        <p14:creationId xmlns:p14="http://schemas.microsoft.com/office/powerpoint/2010/main" val="401074884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483827"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16pt</a:t>
            </a:r>
          </a:p>
          <a:p>
            <a:pPr lvl="1"/>
            <a:r>
              <a:rPr lang="en-US" dirty="0"/>
              <a:t>Second level text style </a:t>
            </a:r>
            <a:r>
              <a:rPr lang="en-US" dirty="0" err="1"/>
              <a:t>EYInterstate</a:t>
            </a:r>
            <a:r>
              <a:rPr lang="en-US" dirty="0"/>
              <a:t> Light 16pt</a:t>
            </a:r>
          </a:p>
          <a:p>
            <a:pPr lvl="2"/>
            <a:r>
              <a:rPr lang="en-US" dirty="0"/>
              <a:t>Third level text style </a:t>
            </a:r>
            <a:r>
              <a:rPr lang="en-US" dirty="0" err="1"/>
              <a:t>EYInterstate</a:t>
            </a:r>
            <a:r>
              <a:rPr lang="en-US" dirty="0"/>
              <a:t> Light 14pt</a:t>
            </a:r>
          </a:p>
          <a:p>
            <a:pPr lvl="3"/>
            <a:r>
              <a:rPr lang="en-US" dirty="0"/>
              <a:t>Fourth level text style </a:t>
            </a:r>
            <a:r>
              <a:rPr lang="en-US" dirty="0" err="1"/>
              <a:t>EYInterstate</a:t>
            </a:r>
            <a:r>
              <a:rPr lang="en-US" dirty="0"/>
              <a:t> Light 14pt</a:t>
            </a:r>
          </a:p>
          <a:p>
            <a:pPr lvl="4"/>
            <a:r>
              <a:rPr lang="en-US" dirty="0"/>
              <a:t>Fifth level text style </a:t>
            </a:r>
            <a:r>
              <a:rPr lang="en-US" dirty="0" err="1"/>
              <a:t>EYInterstate</a:t>
            </a:r>
            <a:r>
              <a:rPr lang="en-US" dirty="0"/>
              <a:t> Light 12pt</a:t>
            </a:r>
          </a:p>
          <a:p>
            <a:pPr lvl="5"/>
            <a:r>
              <a:rPr lang="en-US" dirty="0"/>
              <a:t>Sixth level text style </a:t>
            </a:r>
            <a:r>
              <a:rPr lang="en-US" dirty="0" err="1"/>
              <a:t>EYInterstate</a:t>
            </a:r>
            <a:r>
              <a:rPr lang="en-US" dirty="0"/>
              <a:t> Light 12pt</a:t>
            </a:r>
          </a:p>
          <a:p>
            <a:pPr lvl="6"/>
            <a:r>
              <a:rPr lang="en-US" dirty="0"/>
              <a:t>Seventh level text style </a:t>
            </a:r>
            <a:r>
              <a:rPr lang="en-US" dirty="0" err="1"/>
              <a:t>EYInterstate</a:t>
            </a:r>
            <a:r>
              <a:rPr lang="en-US" dirty="0"/>
              <a:t> Light 11pt</a:t>
            </a:r>
          </a:p>
          <a:p>
            <a:pPr lvl="7"/>
            <a:r>
              <a:rPr lang="en-US" dirty="0"/>
              <a:t>Eighth level text style </a:t>
            </a:r>
            <a:r>
              <a:rPr lang="en-US" dirty="0" err="1"/>
              <a:t>EYInterstate</a:t>
            </a:r>
            <a:r>
              <a:rPr lang="en-US" dirty="0"/>
              <a:t> Light 10pt</a:t>
            </a:r>
          </a:p>
        </p:txBody>
      </p:sp>
    </p:spTree>
    <p:extLst>
      <p:ext uri="{BB962C8B-B14F-4D97-AF65-F5344CB8AC3E}">
        <p14:creationId xmlns:p14="http://schemas.microsoft.com/office/powerpoint/2010/main" val="3547212497"/>
      </p:ext>
    </p:extLst>
  </p:cSld>
  <p:clrMap bg1="lt1" tx1="dk1" bg2="lt2" tx2="dk2" accent1="accent1" accent2="accent2" accent3="accent3" accent4="accent4" accent5="accent5" accent6="accent6" hlink="hlink" folHlink="folHlink"/>
  <p:sldLayoutIdLst>
    <p:sldLayoutId id="2147484144" r:id="rId1"/>
  </p:sldLayoutIdLst>
  <p:hf sldNum="0" hdr="0" ftr="0"/>
  <p:txStyles>
    <p:titleStyle>
      <a:lvl1pPr algn="l" defTabSz="914400" rtl="0" eaLnBrk="1" latinLnBrk="0" hangingPunct="1">
        <a:lnSpc>
          <a:spcPct val="85000"/>
        </a:lnSpc>
        <a:spcBef>
          <a:spcPct val="0"/>
        </a:spcBef>
        <a:buNone/>
        <a:defRPr sz="24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400"/>
        </a:spcBef>
        <a:spcAft>
          <a:spcPts val="4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400"/>
        </a:spcBef>
        <a:spcAft>
          <a:spcPts val="400"/>
        </a:spcAft>
        <a:buClr>
          <a:schemeClr val="tx2"/>
        </a:buClr>
        <a:buSzPct val="100000"/>
        <a:buFont typeface="Wingdings" pitchFamily="2" charset="2"/>
        <a:buChar char="§"/>
        <a:defRPr sz="1400" kern="1200">
          <a:solidFill>
            <a:schemeClr val="bg1"/>
          </a:solidFill>
          <a:latin typeface="+mn-lt"/>
          <a:ea typeface="+mn-ea"/>
          <a:cs typeface="+mn-cs"/>
        </a:defRPr>
      </a:lvl4pPr>
      <a:lvl5pPr marL="1260000" indent="-252000" algn="l" defTabSz="914400" rtl="0" eaLnBrk="1" latinLnBrk="0" hangingPunct="1">
        <a:spcBef>
          <a:spcPts val="40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400"/>
        </a:spcBef>
        <a:spcAft>
          <a:spcPts val="400"/>
        </a:spcAft>
        <a:buClr>
          <a:schemeClr val="tx2"/>
        </a:buClr>
        <a:buFont typeface="Wingdings" pitchFamily="2" charset="2"/>
        <a:buChar char="§"/>
        <a:tabLst/>
        <a:defRPr sz="1200" kern="1200">
          <a:solidFill>
            <a:schemeClr val="bg1"/>
          </a:solidFill>
          <a:latin typeface="+mn-lt"/>
          <a:ea typeface="+mn-ea"/>
          <a:cs typeface="+mn-cs"/>
        </a:defRPr>
      </a:lvl6pPr>
      <a:lvl7pPr marL="1764000" indent="-252000" algn="l" defTabSz="914400" rtl="0" eaLnBrk="1" latinLnBrk="0" hangingPunct="1">
        <a:spcBef>
          <a:spcPts val="40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40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66" orient="horz" pos="550" userDrawn="1">
          <p15:clr>
            <a:srgbClr val="F26B43"/>
          </p15:clr>
        </p15:guide>
        <p15:guide id="67" orient="horz" pos="232" userDrawn="1">
          <p15:clr>
            <a:srgbClr val="F26B43"/>
          </p15:clr>
        </p15:guide>
        <p15:guide id="68" orient="horz" pos="3816" userDrawn="1">
          <p15:clr>
            <a:srgbClr val="F26B43"/>
          </p15:clr>
        </p15:guide>
        <p15:guide id="69" orient="horz" pos="89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dirty="0"/>
              <a:t>Click to edit Master title style</a:t>
            </a:r>
          </a:p>
        </p:txBody>
      </p:sp>
      <p:sp>
        <p:nvSpPr>
          <p:cNvPr id="3" name="Text Placeholder 2"/>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a:t>
            </a:r>
            <a:r>
              <a:rPr lang="en-US" dirty="0" err="1"/>
              <a:t>20pt</a:t>
            </a:r>
            <a:endParaRPr lang="en-US" dirty="0"/>
          </a:p>
          <a:p>
            <a:pPr lvl="1"/>
            <a:r>
              <a:rPr lang="en-US" dirty="0"/>
              <a:t>Second level text style </a:t>
            </a:r>
            <a:r>
              <a:rPr lang="en-US" dirty="0" err="1"/>
              <a:t>EYInterstate</a:t>
            </a:r>
            <a:r>
              <a:rPr lang="en-US" dirty="0"/>
              <a:t> Light </a:t>
            </a:r>
            <a:r>
              <a:rPr lang="en-US" dirty="0" err="1"/>
              <a:t>20pt</a:t>
            </a:r>
            <a:endParaRPr lang="en-US" dirty="0"/>
          </a:p>
          <a:p>
            <a:pPr lvl="2"/>
            <a:r>
              <a:rPr lang="en-US" dirty="0"/>
              <a:t>Third level text style </a:t>
            </a:r>
            <a:r>
              <a:rPr lang="en-US" dirty="0" err="1"/>
              <a:t>EYInterstate</a:t>
            </a:r>
            <a:r>
              <a:rPr lang="en-US" dirty="0"/>
              <a:t> Light </a:t>
            </a:r>
            <a:r>
              <a:rPr lang="en-US" dirty="0" err="1"/>
              <a:t>18pt</a:t>
            </a:r>
            <a:endParaRPr lang="en-US" dirty="0"/>
          </a:p>
          <a:p>
            <a:pPr lvl="3"/>
            <a:r>
              <a:rPr lang="en-US" dirty="0"/>
              <a:t>Fourth level text style </a:t>
            </a:r>
            <a:r>
              <a:rPr lang="en-US" dirty="0" err="1"/>
              <a:t>EYInterstate</a:t>
            </a:r>
            <a:r>
              <a:rPr lang="en-US" dirty="0"/>
              <a:t> Light </a:t>
            </a:r>
            <a:r>
              <a:rPr lang="en-US" dirty="0" err="1"/>
              <a:t>16pt</a:t>
            </a:r>
            <a:endParaRPr lang="en-US" dirty="0"/>
          </a:p>
          <a:p>
            <a:pPr lvl="4"/>
            <a:r>
              <a:rPr lang="en-US" dirty="0"/>
              <a:t>Fifth level text style </a:t>
            </a:r>
            <a:r>
              <a:rPr lang="en-US" dirty="0" err="1"/>
              <a:t>EYInterstate</a:t>
            </a:r>
            <a:r>
              <a:rPr lang="en-US" dirty="0"/>
              <a:t> Light </a:t>
            </a:r>
            <a:r>
              <a:rPr lang="en-US" dirty="0" err="1"/>
              <a:t>16pt</a:t>
            </a:r>
            <a:endParaRPr lang="en-US" dirty="0"/>
          </a:p>
          <a:p>
            <a:pPr lvl="5"/>
            <a:r>
              <a:rPr lang="en-US" dirty="0"/>
              <a:t>Sixth level text style </a:t>
            </a:r>
            <a:r>
              <a:rPr lang="en-US" dirty="0" err="1"/>
              <a:t>EYInterstate</a:t>
            </a:r>
            <a:r>
              <a:rPr lang="en-US" dirty="0"/>
              <a:t> Light </a:t>
            </a:r>
            <a:r>
              <a:rPr lang="en-US" dirty="0" err="1"/>
              <a:t>14pt</a:t>
            </a:r>
            <a:endParaRPr lang="en-US" dirty="0"/>
          </a:p>
          <a:p>
            <a:pPr lvl="6"/>
            <a:r>
              <a:rPr lang="en-US" dirty="0"/>
              <a:t>Seventh level text style </a:t>
            </a:r>
            <a:r>
              <a:rPr lang="en-US" dirty="0" err="1"/>
              <a:t>EYInterstate</a:t>
            </a:r>
            <a:r>
              <a:rPr lang="en-US" dirty="0"/>
              <a:t> Light </a:t>
            </a:r>
            <a:r>
              <a:rPr lang="en-US" dirty="0" err="1"/>
              <a:t>14pt</a:t>
            </a:r>
            <a:endParaRPr lang="en-US" dirty="0"/>
          </a:p>
          <a:p>
            <a:pPr lvl="7"/>
            <a:r>
              <a:rPr lang="en-US" dirty="0"/>
              <a:t>Eighth level text style </a:t>
            </a:r>
            <a:r>
              <a:rPr lang="en-US" dirty="0" err="1"/>
              <a:t>EYInterstate</a:t>
            </a:r>
            <a:r>
              <a:rPr lang="en-US" dirty="0"/>
              <a:t> Light </a:t>
            </a:r>
            <a:r>
              <a:rPr lang="en-US" dirty="0" err="1"/>
              <a:t>12pt</a:t>
            </a:r>
            <a:endParaRPr lang="en-US" dirty="0"/>
          </a:p>
          <a:p>
            <a:pPr lvl="8"/>
            <a:r>
              <a:rPr lang="en-US" dirty="0"/>
              <a:t>Nineth level text style </a:t>
            </a:r>
            <a:r>
              <a:rPr lang="en-US" dirty="0" err="1"/>
              <a:t>EYInterstate</a:t>
            </a:r>
            <a:r>
              <a:rPr lang="en-US" dirty="0"/>
              <a:t> Light </a:t>
            </a:r>
            <a:r>
              <a:rPr lang="en-US" dirty="0" err="1"/>
              <a:t>12pt</a:t>
            </a:r>
            <a:endParaRPr lang="en-US" dirty="0"/>
          </a:p>
        </p:txBody>
      </p:sp>
      <p:grpSp>
        <p:nvGrpSpPr>
          <p:cNvPr id="6" name="Group 4">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
        <p:nvSpPr>
          <p:cNvPr id="12" name="Slide Number Placeholder">
            <a:extLst>
              <a:ext uri="{FF2B5EF4-FFF2-40B4-BE49-F238E27FC236}">
                <a16:creationId xmlns:a16="http://schemas.microsoft.com/office/drawing/2014/main" id="{ED74E7B3-73BA-6CBF-F361-5C4836CC1A2A}"/>
              </a:ext>
            </a:extLst>
          </p:cNvPr>
          <p:cNvSpPr>
            <a:spLocks noGrp="1"/>
          </p:cNvSpPr>
          <p:nvPr>
            <p:ph type="sldNum" sz="quarter" idx="4"/>
          </p:nvPr>
        </p:nvSpPr>
        <p:spPr>
          <a:xfrm>
            <a:off x="485747" y="6437115"/>
            <a:ext cx="509098"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dirty="0"/>
          </a:p>
        </p:txBody>
      </p:sp>
      <p:sp>
        <p:nvSpPr>
          <p:cNvPr id="14" name="Date Placeholder">
            <a:extLst>
              <a:ext uri="{FF2B5EF4-FFF2-40B4-BE49-F238E27FC236}">
                <a16:creationId xmlns:a16="http://schemas.microsoft.com/office/drawing/2014/main" id="{F72B6F9D-B29D-E927-36D7-47D672109207}"/>
              </a:ext>
            </a:extLst>
          </p:cNvPr>
          <p:cNvSpPr>
            <a:spLocks noGrp="1"/>
          </p:cNvSpPr>
          <p:nvPr>
            <p:ph type="dt" sz="half" idx="2"/>
          </p:nvPr>
        </p:nvSpPr>
        <p:spPr>
          <a:xfrm>
            <a:off x="994845" y="6437115"/>
            <a:ext cx="1275686" cy="123111"/>
          </a:xfrm>
          <a:prstGeom prst="rect">
            <a:avLst/>
          </a:prstGeom>
        </p:spPr>
        <p:txBody>
          <a:bodyPr vert="horz" lIns="0" tIns="0" rIns="0" bIns="0" rtlCol="0" anchor="t">
            <a:spAutoFit/>
          </a:bodyPr>
          <a:lstStyle>
            <a:lvl1pPr marL="0" algn="l" defTabSz="914400" rtl="0" eaLnBrk="1" latinLnBrk="0" hangingPunct="1">
              <a:defRPr lang="en-IN" sz="800" kern="1200" smtClean="0">
                <a:solidFill>
                  <a:schemeClr val="bg1"/>
                </a:solidFill>
                <a:latin typeface="+mn-lt"/>
                <a:ea typeface="+mn-ea"/>
                <a:cs typeface="+mn-cs"/>
              </a:defRPr>
            </a:lvl1pPr>
          </a:lstStyle>
          <a:p>
            <a:fld id="{51B22532-B74A-42F2-AC78-F979D73BFCAB}" type="datetime1">
              <a:rPr lang="en-US" smtClean="0"/>
              <a:t>11/9/2025</a:t>
            </a:fld>
            <a:endParaRPr lang="en-US" dirty="0"/>
          </a:p>
        </p:txBody>
      </p:sp>
      <p:sp>
        <p:nvSpPr>
          <p:cNvPr id="15" name="Footer Placeholder">
            <a:extLst>
              <a:ext uri="{FF2B5EF4-FFF2-40B4-BE49-F238E27FC236}">
                <a16:creationId xmlns:a16="http://schemas.microsoft.com/office/drawing/2014/main" id="{F3C10C79-9BC5-0699-5C8C-F8347F46437D}"/>
              </a:ext>
            </a:extLst>
          </p:cNvPr>
          <p:cNvSpPr>
            <a:spLocks noGrp="1"/>
          </p:cNvSpPr>
          <p:nvPr>
            <p:ph type="ftr" sz="quarter" idx="3"/>
          </p:nvPr>
        </p:nvSpPr>
        <p:spPr>
          <a:xfrm>
            <a:off x="2270531" y="6437115"/>
            <a:ext cx="3825470" cy="123111"/>
          </a:xfrm>
          <a:prstGeom prst="rect">
            <a:avLst/>
          </a:prstGeom>
        </p:spPr>
        <p:txBody>
          <a:bodyPr vert="horz" lIns="0" tIns="0" rIns="0" bIns="0" rtlCol="0" anchor="t">
            <a:sp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spTree>
    <p:extLst>
      <p:ext uri="{BB962C8B-B14F-4D97-AF65-F5344CB8AC3E}">
        <p14:creationId xmlns:p14="http://schemas.microsoft.com/office/powerpoint/2010/main" val="868626163"/>
      </p:ext>
    </p:extLst>
  </p:cSld>
  <p:clrMap bg1="lt1" tx1="dk1" bg2="lt2" tx2="dk2" accent1="accent1" accent2="accent2" accent3="accent3" accent4="accent4" accent5="accent5" accent6="accent6" hlink="hlink" folHlink="folHlink"/>
  <p:sldLayoutIdLst>
    <p:sldLayoutId id="2147484298" r:id="rId1"/>
  </p:sldLayoutIdLst>
  <p:hf hdr="0"/>
  <p:txStyles>
    <p:titleStyle>
      <a:lvl1pPr algn="l" defTabSz="914400" rtl="0" eaLnBrk="1" latinLnBrk="0" hangingPunct="1">
        <a:lnSpc>
          <a:spcPct val="85000"/>
        </a:lnSpc>
        <a:spcBef>
          <a:spcPct val="0"/>
        </a:spcBef>
        <a:buNone/>
        <a:defRPr sz="3600" b="1" i="0" kern="1200">
          <a:solidFill>
            <a:schemeClr val="tx2"/>
          </a:solidFill>
          <a:latin typeface="+mj-lt"/>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pos="7378">
          <p15:clr>
            <a:srgbClr val="F26B43"/>
          </p15:clr>
        </p15:guide>
        <p15:guide id="35" pos="302">
          <p15:clr>
            <a:srgbClr val="F26B43"/>
          </p15:clr>
        </p15:guide>
        <p15:guide id="36" orient="horz" pos="210">
          <p15:clr>
            <a:srgbClr val="F26B43"/>
          </p15:clr>
        </p15:guide>
        <p15:guide id="37" orient="horz" pos="527">
          <p15:clr>
            <a:srgbClr val="F26B43"/>
          </p15:clr>
        </p15:guide>
        <p15:guide id="38" orient="horz" pos="890">
          <p15:clr>
            <a:srgbClr val="F26B43"/>
          </p15:clr>
        </p15:guide>
        <p15:guide id="39" orient="horz" pos="383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3334093835"/>
      </p:ext>
    </p:extLst>
  </p:cSld>
  <p:clrMap bg1="lt1" tx1="dk1" bg2="dk2" tx2="lt2" accent1="accent1" accent2="accent2" accent3="accent3" accent4="accent4" accent5="accent5" accent6="accent6" hlink="hlink" folHlink="folHlink"/>
  <p:sldLayoutIdLst>
    <p:sldLayoutId id="2147484302" r:id="rId1"/>
    <p:sldLayoutId id="214748430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3827" y="369888"/>
            <a:ext cx="11224347" cy="470898"/>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p:cNvSpPr>
            <a:spLocks noGrp="1"/>
          </p:cNvSpPr>
          <p:nvPr>
            <p:ph type="body" idx="1"/>
          </p:nvPr>
        </p:nvSpPr>
        <p:spPr>
          <a:xfrm>
            <a:off x="483827" y="1411287"/>
            <a:ext cx="11224347" cy="4638675"/>
          </a:xfrm>
          <a:prstGeom prst="rect">
            <a:avLst/>
          </a:prstGeom>
        </p:spPr>
        <p:txBody>
          <a:bodyPr vert="horz" lIns="0" tIns="0" rIns="0" bIns="0" rtlCol="0" anchor="t" anchorCtr="0">
            <a:noAutofit/>
          </a:bodyPr>
          <a:lstStyle/>
          <a:p>
            <a:r>
              <a:rPr lang="en-US" dirty="0"/>
              <a:t>First level text style </a:t>
            </a:r>
            <a:r>
              <a:rPr lang="en-US" dirty="0" err="1"/>
              <a:t>EYInterstate</a:t>
            </a:r>
            <a:r>
              <a:rPr lang="en-US" dirty="0"/>
              <a:t> Light 16pt</a:t>
            </a:r>
          </a:p>
          <a:p>
            <a:pPr lvl="1"/>
            <a:r>
              <a:rPr lang="en-US" dirty="0"/>
              <a:t>Second level text style </a:t>
            </a:r>
            <a:r>
              <a:rPr lang="en-US" dirty="0" err="1"/>
              <a:t>EYInterstate</a:t>
            </a:r>
            <a:r>
              <a:rPr lang="en-US" dirty="0"/>
              <a:t> Light 16pt</a:t>
            </a:r>
          </a:p>
          <a:p>
            <a:pPr lvl="2"/>
            <a:r>
              <a:rPr lang="en-US" dirty="0"/>
              <a:t>Third level text style </a:t>
            </a:r>
            <a:r>
              <a:rPr lang="en-US" dirty="0" err="1"/>
              <a:t>EYInterstate</a:t>
            </a:r>
            <a:r>
              <a:rPr lang="en-US" dirty="0"/>
              <a:t> Light 14pt</a:t>
            </a:r>
          </a:p>
          <a:p>
            <a:pPr lvl="3"/>
            <a:r>
              <a:rPr lang="en-US" dirty="0"/>
              <a:t>Fourth level text style </a:t>
            </a:r>
            <a:r>
              <a:rPr lang="en-US" dirty="0" err="1"/>
              <a:t>EYInterstate</a:t>
            </a:r>
            <a:r>
              <a:rPr lang="en-US" dirty="0"/>
              <a:t> Light 14pt</a:t>
            </a:r>
          </a:p>
          <a:p>
            <a:pPr lvl="4"/>
            <a:r>
              <a:rPr lang="en-US" dirty="0"/>
              <a:t>Fifth level text style </a:t>
            </a:r>
            <a:r>
              <a:rPr lang="en-US" dirty="0" err="1"/>
              <a:t>EYInterstate</a:t>
            </a:r>
            <a:r>
              <a:rPr lang="en-US" dirty="0"/>
              <a:t> Light 12pt</a:t>
            </a:r>
          </a:p>
          <a:p>
            <a:pPr lvl="5"/>
            <a:r>
              <a:rPr lang="en-US" dirty="0"/>
              <a:t>Sixth level text style </a:t>
            </a:r>
            <a:r>
              <a:rPr lang="en-US" dirty="0" err="1"/>
              <a:t>EYInterstate</a:t>
            </a:r>
            <a:r>
              <a:rPr lang="en-US" dirty="0"/>
              <a:t> Light 12pt</a:t>
            </a:r>
          </a:p>
          <a:p>
            <a:pPr lvl="6"/>
            <a:r>
              <a:rPr lang="en-US" dirty="0"/>
              <a:t>Seventh level text style </a:t>
            </a:r>
            <a:r>
              <a:rPr lang="en-US" dirty="0" err="1"/>
              <a:t>EYInterstate</a:t>
            </a:r>
            <a:r>
              <a:rPr lang="en-US" dirty="0"/>
              <a:t> Light 11pt</a:t>
            </a:r>
          </a:p>
          <a:p>
            <a:pPr lvl="7"/>
            <a:r>
              <a:rPr lang="en-US" dirty="0"/>
              <a:t>Eighth level text style </a:t>
            </a:r>
            <a:r>
              <a:rPr lang="en-US" dirty="0" err="1"/>
              <a:t>EYInterstate</a:t>
            </a:r>
            <a:r>
              <a:rPr lang="en-US" dirty="0"/>
              <a:t> Light 10pt</a:t>
            </a:r>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0095"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solidFill>
                  <a:schemeClr val="tx1"/>
                </a:solidFill>
                <a:latin typeface="+mn-lt"/>
              </a:endParaRPr>
            </a:p>
          </p:txBody>
        </p:sp>
      </p:grpSp>
      <p:sp>
        <p:nvSpPr>
          <p:cNvPr id="12" name="Footer Placeholder 2">
            <a:extLst>
              <a:ext uri="{FF2B5EF4-FFF2-40B4-BE49-F238E27FC236}">
                <a16:creationId xmlns:a16="http://schemas.microsoft.com/office/drawing/2014/main" id="{9BF29B04-6439-2C6A-A81E-4FC3BA28D86B}"/>
              </a:ext>
            </a:extLst>
          </p:cNvPr>
          <p:cNvSpPr txBox="1">
            <a:spLocks/>
          </p:cNvSpPr>
          <p:nvPr userDrawn="1"/>
        </p:nvSpPr>
        <p:spPr>
          <a:xfrm>
            <a:off x="3032813" y="6437115"/>
            <a:ext cx="3086100" cy="123111"/>
          </a:xfrm>
          <a:prstGeom prst="rect">
            <a:avLst/>
          </a:prstGeom>
        </p:spPr>
        <p:txBody>
          <a:bodyPr lIns="0" tIns="0" rIns="0" bIns="0">
            <a:spAutoFit/>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dirty="0">
                <a:latin typeface="+mn-lt"/>
              </a:rPr>
              <a:t>Presentation title</a:t>
            </a:r>
          </a:p>
        </p:txBody>
      </p:sp>
      <p:sp>
        <p:nvSpPr>
          <p:cNvPr id="14" name="Slide Number Placeholder 4">
            <a:extLst>
              <a:ext uri="{FF2B5EF4-FFF2-40B4-BE49-F238E27FC236}">
                <a16:creationId xmlns:a16="http://schemas.microsoft.com/office/drawing/2014/main" id="{8704F4D5-867D-1369-512A-05F4066E74D3}"/>
              </a:ext>
            </a:extLst>
          </p:cNvPr>
          <p:cNvSpPr txBox="1">
            <a:spLocks/>
          </p:cNvSpPr>
          <p:nvPr userDrawn="1"/>
        </p:nvSpPr>
        <p:spPr>
          <a:xfrm>
            <a:off x="479425" y="6437115"/>
            <a:ext cx="663066" cy="123111"/>
          </a:xfrm>
          <a:prstGeom prst="rect">
            <a:avLst/>
          </a:prstGeom>
        </p:spPr>
        <p:txBody>
          <a:bodyPr lIns="0" tIns="0" rIns="0" bIns="0">
            <a:spAutoFit/>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dirty="0">
                <a:latin typeface="+mn-lt"/>
              </a:rPr>
              <a:t>Page </a:t>
            </a:r>
            <a:fld id="{D5B76411-544C-4F9A-8EDE-9EEB2BD21F95}" type="slidenum">
              <a:rPr lang="en-IN" smtClean="0">
                <a:latin typeface="+mn-lt"/>
              </a:rPr>
              <a:t>‹#›</a:t>
            </a:fld>
            <a:endParaRPr dirty="0">
              <a:latin typeface="+mn-lt"/>
            </a:endParaRPr>
          </a:p>
        </p:txBody>
      </p:sp>
      <p:sp>
        <p:nvSpPr>
          <p:cNvPr id="15" name="Date Placeholder 1">
            <a:extLst>
              <a:ext uri="{FF2B5EF4-FFF2-40B4-BE49-F238E27FC236}">
                <a16:creationId xmlns:a16="http://schemas.microsoft.com/office/drawing/2014/main" id="{5BACDB6A-631F-2CFF-042A-A43F63705192}"/>
              </a:ext>
            </a:extLst>
          </p:cNvPr>
          <p:cNvSpPr txBox="1">
            <a:spLocks/>
          </p:cNvSpPr>
          <p:nvPr userDrawn="1"/>
        </p:nvSpPr>
        <p:spPr>
          <a:xfrm>
            <a:off x="1352728" y="6437115"/>
            <a:ext cx="1191258" cy="123111"/>
          </a:xfrm>
          <a:prstGeom prst="rect">
            <a:avLst/>
          </a:prstGeom>
        </p:spPr>
        <p:txBody>
          <a:bodyPr lIns="0" tIns="0" rIns="0" bIns="0">
            <a:spAutoFit/>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fld id="{7DBDBB20-DA7B-4EA8-9594-84A1D3A4EA29}" type="datetime3">
              <a:rPr lang="en-US" b="0" smtClean="0">
                <a:latin typeface="+mn-lt"/>
              </a:rPr>
              <a:pPr lvl="0" algn="l"/>
              <a:t>9 November 2025</a:t>
            </a:fld>
            <a:endParaRPr lang="en-IN" b="0" dirty="0">
              <a:latin typeface="+mn-lt"/>
            </a:endParaRPr>
          </a:p>
        </p:txBody>
      </p:sp>
    </p:spTree>
    <p:extLst>
      <p:ext uri="{BB962C8B-B14F-4D97-AF65-F5344CB8AC3E}">
        <p14:creationId xmlns:p14="http://schemas.microsoft.com/office/powerpoint/2010/main" val="1323615085"/>
      </p:ext>
    </p:extLst>
  </p:cSld>
  <p:clrMap bg1="lt1" tx1="dk1" bg2="lt2" tx2="dk2" accent1="accent1" accent2="accent2" accent3="accent3" accent4="accent4" accent5="accent5" accent6="accent6" hlink="hlink" folHlink="folHlink"/>
  <p:sldLayoutIdLst>
    <p:sldLayoutId id="2147484349" r:id="rId1"/>
  </p:sldLayoutIdLst>
  <p:hf sldNum="0" hdr="0" ftr="0"/>
  <p:txStyles>
    <p:titleStyle>
      <a:lvl1pPr algn="l" defTabSz="914400" rtl="0" eaLnBrk="1" latinLnBrk="0" hangingPunct="1">
        <a:lnSpc>
          <a:spcPct val="85000"/>
        </a:lnSpc>
        <a:spcBef>
          <a:spcPct val="0"/>
        </a:spcBef>
        <a:buNone/>
        <a:defRPr sz="2400" b="1" i="0" kern="1200">
          <a:solidFill>
            <a:schemeClr val="bg1"/>
          </a:solidFill>
          <a:latin typeface="EYInterstate" panose="02000503020000020004" pitchFamily="2" charset="0"/>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400"/>
        </a:spcBef>
        <a:spcAft>
          <a:spcPts val="4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400"/>
        </a:spcBef>
        <a:spcAft>
          <a:spcPts val="400"/>
        </a:spcAft>
        <a:buClr>
          <a:schemeClr val="tx2"/>
        </a:buClr>
        <a:buSzPct val="100000"/>
        <a:buFont typeface="Wingdings" pitchFamily="2" charset="2"/>
        <a:buChar char="§"/>
        <a:defRPr sz="1400" kern="1200">
          <a:solidFill>
            <a:schemeClr val="bg1"/>
          </a:solidFill>
          <a:latin typeface="+mn-lt"/>
          <a:ea typeface="+mn-ea"/>
          <a:cs typeface="+mn-cs"/>
        </a:defRPr>
      </a:lvl4pPr>
      <a:lvl5pPr marL="1260000" indent="-252000" algn="l" defTabSz="914400" rtl="0" eaLnBrk="1" latinLnBrk="0" hangingPunct="1">
        <a:spcBef>
          <a:spcPts val="40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400"/>
        </a:spcBef>
        <a:spcAft>
          <a:spcPts val="400"/>
        </a:spcAft>
        <a:buClr>
          <a:schemeClr val="tx2"/>
        </a:buClr>
        <a:buFont typeface="Wingdings" pitchFamily="2" charset="2"/>
        <a:buChar char="§"/>
        <a:tabLst/>
        <a:defRPr sz="1200" kern="1200">
          <a:solidFill>
            <a:schemeClr val="bg1"/>
          </a:solidFill>
          <a:latin typeface="+mn-lt"/>
          <a:ea typeface="+mn-ea"/>
          <a:cs typeface="+mn-cs"/>
        </a:defRPr>
      </a:lvl6pPr>
      <a:lvl7pPr marL="1764000" indent="-252000" algn="l" defTabSz="914400" rtl="0" eaLnBrk="1" latinLnBrk="0" hangingPunct="1">
        <a:spcBef>
          <a:spcPts val="40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40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89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19881959-73E3-F474-EBD8-EA5C5D1B86AD}"/>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D78A39F2-CB2C-524C-52BA-B6D17C38C0A2}"/>
              </a:ext>
            </a:extLst>
          </p:cNvPr>
          <p:cNvSpPr>
            <a:spLocks noGrp="1"/>
          </p:cNvSpPr>
          <p:nvPr>
            <p:ph type="body" sz="quarter" idx="10"/>
          </p:nvPr>
        </p:nvSpPr>
        <p:spPr>
          <a:xfrm>
            <a:off x="959209" y="4299344"/>
            <a:ext cx="4906010" cy="276999"/>
          </a:xfrm>
        </p:spPr>
        <p:txBody>
          <a:bodyPr/>
          <a:lstStyle/>
          <a:p>
            <a:r>
              <a:rPr lang="en-IN" sz="1800" dirty="0"/>
              <a:t>Date of submission: 07-11-2025</a:t>
            </a:r>
          </a:p>
        </p:txBody>
      </p:sp>
      <p:sp>
        <p:nvSpPr>
          <p:cNvPr id="10" name="Title 9">
            <a:extLst>
              <a:ext uri="{FF2B5EF4-FFF2-40B4-BE49-F238E27FC236}">
                <a16:creationId xmlns:a16="http://schemas.microsoft.com/office/drawing/2014/main" id="{23B44F48-F5B1-E66D-16E8-DD8FA457EA13}"/>
              </a:ext>
            </a:extLst>
          </p:cNvPr>
          <p:cNvSpPr>
            <a:spLocks noGrp="1"/>
          </p:cNvSpPr>
          <p:nvPr>
            <p:ph type="title"/>
          </p:nvPr>
        </p:nvSpPr>
        <p:spPr>
          <a:xfrm>
            <a:off x="901337" y="2460462"/>
            <a:ext cx="3659088" cy="1654043"/>
          </a:xfrm>
        </p:spPr>
        <p:txBody>
          <a:bodyPr/>
          <a:lstStyle/>
          <a:p>
            <a:r>
              <a:rPr lang="en-IN" sz="4400" dirty="0"/>
              <a:t>EY Techathon 6.0 Executive Summary</a:t>
            </a:r>
            <a:endParaRPr lang="en-US" sz="4400" dirty="0"/>
          </a:p>
        </p:txBody>
      </p:sp>
    </p:spTree>
    <p:extLst>
      <p:ext uri="{BB962C8B-B14F-4D97-AF65-F5344CB8AC3E}">
        <p14:creationId xmlns:p14="http://schemas.microsoft.com/office/powerpoint/2010/main" val="4135984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2" name="Rectangle 1">
            <a:extLst>
              <a:ext uri="{FF2B5EF4-FFF2-40B4-BE49-F238E27FC236}">
                <a16:creationId xmlns:a16="http://schemas.microsoft.com/office/drawing/2014/main" id="{58A5A31E-4583-762F-6481-824EBAC3E810}"/>
              </a:ext>
            </a:extLst>
          </p:cNvPr>
          <p:cNvSpPr/>
          <p:nvPr/>
        </p:nvSpPr>
        <p:spPr>
          <a:xfrm>
            <a:off x="0" y="0"/>
            <a:ext cx="6400484"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465" name="Google Shape;465;p39"/>
          <p:cNvSpPr/>
          <p:nvPr/>
        </p:nvSpPr>
        <p:spPr>
          <a:xfrm>
            <a:off x="6400485" y="0"/>
            <a:ext cx="5791515" cy="68580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nvGrpSpPr>
          <p:cNvPr id="483" name="Google Shape;483;p39"/>
          <p:cNvGrpSpPr/>
          <p:nvPr/>
        </p:nvGrpSpPr>
        <p:grpSpPr>
          <a:xfrm>
            <a:off x="615148" y="2061327"/>
            <a:ext cx="4417761" cy="2735345"/>
            <a:chOff x="302632" y="2549152"/>
            <a:chExt cx="4417761" cy="2735345"/>
          </a:xfrm>
          <a:gradFill>
            <a:gsLst>
              <a:gs pos="0">
                <a:schemeClr val="accent2"/>
              </a:gs>
              <a:gs pos="100000">
                <a:schemeClr val="accent4"/>
              </a:gs>
            </a:gsLst>
            <a:lin ang="2700000" scaled="0"/>
          </a:gradFill>
        </p:grpSpPr>
        <p:sp>
          <p:nvSpPr>
            <p:cNvPr id="484" name="Google Shape;484;p39"/>
            <p:cNvSpPr/>
            <p:nvPr/>
          </p:nvSpPr>
          <p:spPr>
            <a:xfrm>
              <a:off x="302632" y="2874832"/>
              <a:ext cx="4417761" cy="2185898"/>
            </a:xfrm>
            <a:custGeom>
              <a:avLst/>
              <a:gdLst/>
              <a:ahLst/>
              <a:cxnLst/>
              <a:rect l="l" t="t" r="r" b="b"/>
              <a:pathLst>
                <a:path w="788" h="386" extrusionOk="0">
                  <a:moveTo>
                    <a:pt x="775" y="195"/>
                  </a:moveTo>
                  <a:cubicBezTo>
                    <a:pt x="760" y="204"/>
                    <a:pt x="744" y="213"/>
                    <a:pt x="728" y="223"/>
                  </a:cubicBezTo>
                  <a:cubicBezTo>
                    <a:pt x="682" y="252"/>
                    <a:pt x="615" y="280"/>
                    <a:pt x="555" y="313"/>
                  </a:cubicBezTo>
                  <a:cubicBezTo>
                    <a:pt x="556" y="313"/>
                    <a:pt x="556" y="313"/>
                    <a:pt x="557" y="313"/>
                  </a:cubicBezTo>
                  <a:cubicBezTo>
                    <a:pt x="561" y="313"/>
                    <a:pt x="566" y="313"/>
                    <a:pt x="571" y="314"/>
                  </a:cubicBezTo>
                  <a:cubicBezTo>
                    <a:pt x="607" y="317"/>
                    <a:pt x="646" y="326"/>
                    <a:pt x="681" y="326"/>
                  </a:cubicBezTo>
                  <a:cubicBezTo>
                    <a:pt x="721" y="326"/>
                    <a:pt x="756" y="315"/>
                    <a:pt x="779" y="277"/>
                  </a:cubicBezTo>
                  <a:cubicBezTo>
                    <a:pt x="788" y="262"/>
                    <a:pt x="787" y="232"/>
                    <a:pt x="775" y="195"/>
                  </a:cubicBezTo>
                  <a:moveTo>
                    <a:pt x="174" y="0"/>
                  </a:moveTo>
                  <a:cubicBezTo>
                    <a:pt x="173" y="1"/>
                    <a:pt x="171" y="2"/>
                    <a:pt x="169" y="3"/>
                  </a:cubicBezTo>
                  <a:cubicBezTo>
                    <a:pt x="4" y="79"/>
                    <a:pt x="0" y="273"/>
                    <a:pt x="158" y="386"/>
                  </a:cubicBezTo>
                  <a:cubicBezTo>
                    <a:pt x="165" y="282"/>
                    <a:pt x="219" y="206"/>
                    <a:pt x="184" y="69"/>
                  </a:cubicBezTo>
                  <a:cubicBezTo>
                    <a:pt x="178" y="44"/>
                    <a:pt x="175" y="21"/>
                    <a:pt x="174" y="0"/>
                  </a:cubicBezTo>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5" name="Google Shape;485;p39"/>
            <p:cNvSpPr/>
            <p:nvPr/>
          </p:nvSpPr>
          <p:spPr>
            <a:xfrm>
              <a:off x="1177941" y="2549152"/>
              <a:ext cx="3491728" cy="2735345"/>
            </a:xfrm>
            <a:custGeom>
              <a:avLst/>
              <a:gdLst/>
              <a:ahLst/>
              <a:cxnLst/>
              <a:rect l="l" t="t" r="r" b="b"/>
              <a:pathLst>
                <a:path w="617" h="483" extrusionOk="0">
                  <a:moveTo>
                    <a:pt x="262" y="0"/>
                  </a:moveTo>
                  <a:cubicBezTo>
                    <a:pt x="191" y="0"/>
                    <a:pt x="110" y="17"/>
                    <a:pt x="16" y="59"/>
                  </a:cubicBezTo>
                  <a:cubicBezTo>
                    <a:pt x="17" y="80"/>
                    <a:pt x="20" y="103"/>
                    <a:pt x="26" y="128"/>
                  </a:cubicBezTo>
                  <a:cubicBezTo>
                    <a:pt x="61" y="265"/>
                    <a:pt x="7" y="341"/>
                    <a:pt x="0" y="445"/>
                  </a:cubicBezTo>
                  <a:cubicBezTo>
                    <a:pt x="4" y="448"/>
                    <a:pt x="8" y="451"/>
                    <a:pt x="13" y="454"/>
                  </a:cubicBezTo>
                  <a:cubicBezTo>
                    <a:pt x="44" y="475"/>
                    <a:pt x="74" y="483"/>
                    <a:pt x="102" y="483"/>
                  </a:cubicBezTo>
                  <a:cubicBezTo>
                    <a:pt x="154" y="483"/>
                    <a:pt x="201" y="455"/>
                    <a:pt x="248" y="428"/>
                  </a:cubicBezTo>
                  <a:cubicBezTo>
                    <a:pt x="295" y="400"/>
                    <a:pt x="343" y="373"/>
                    <a:pt x="397" y="372"/>
                  </a:cubicBezTo>
                  <a:cubicBezTo>
                    <a:pt x="457" y="339"/>
                    <a:pt x="524" y="311"/>
                    <a:pt x="570" y="282"/>
                  </a:cubicBezTo>
                  <a:cubicBezTo>
                    <a:pt x="586" y="272"/>
                    <a:pt x="602" y="263"/>
                    <a:pt x="617" y="254"/>
                  </a:cubicBezTo>
                  <a:cubicBezTo>
                    <a:pt x="585" y="152"/>
                    <a:pt x="472" y="0"/>
                    <a:pt x="262" y="0"/>
                  </a:cubicBezTo>
                </a:path>
              </a:pathLst>
            </a:custGeom>
            <a:grp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486" name="Google Shape;486;p39"/>
          <p:cNvSpPr/>
          <p:nvPr/>
        </p:nvSpPr>
        <p:spPr>
          <a:xfrm>
            <a:off x="1490457" y="1587995"/>
            <a:ext cx="4122047" cy="3879995"/>
          </a:xfrm>
          <a:custGeom>
            <a:avLst/>
            <a:gdLst/>
            <a:ahLst/>
            <a:cxnLst/>
            <a:rect l="l" t="t" r="r" b="b"/>
            <a:pathLst>
              <a:path w="733" h="691" extrusionOk="0">
                <a:moveTo>
                  <a:pt x="398" y="459"/>
                </a:moveTo>
                <a:cubicBezTo>
                  <a:pt x="344" y="460"/>
                  <a:pt x="296" y="487"/>
                  <a:pt x="249" y="515"/>
                </a:cubicBezTo>
                <a:cubicBezTo>
                  <a:pt x="202" y="542"/>
                  <a:pt x="155" y="570"/>
                  <a:pt x="103" y="570"/>
                </a:cubicBezTo>
                <a:cubicBezTo>
                  <a:pt x="75" y="570"/>
                  <a:pt x="45" y="562"/>
                  <a:pt x="14" y="541"/>
                </a:cubicBezTo>
                <a:cubicBezTo>
                  <a:pt x="9" y="538"/>
                  <a:pt x="5" y="535"/>
                  <a:pt x="1" y="532"/>
                </a:cubicBezTo>
                <a:cubicBezTo>
                  <a:pt x="0" y="545"/>
                  <a:pt x="0" y="557"/>
                  <a:pt x="0" y="571"/>
                </a:cubicBezTo>
                <a:cubicBezTo>
                  <a:pt x="3" y="621"/>
                  <a:pt x="51" y="691"/>
                  <a:pt x="112" y="691"/>
                </a:cubicBezTo>
                <a:cubicBezTo>
                  <a:pt x="114" y="691"/>
                  <a:pt x="117" y="691"/>
                  <a:pt x="120" y="691"/>
                </a:cubicBezTo>
                <a:cubicBezTo>
                  <a:pt x="205" y="681"/>
                  <a:pt x="240" y="583"/>
                  <a:pt x="315" y="516"/>
                </a:cubicBezTo>
                <a:cubicBezTo>
                  <a:pt x="338" y="495"/>
                  <a:pt x="367" y="476"/>
                  <a:pt x="398" y="459"/>
                </a:cubicBezTo>
                <a:moveTo>
                  <a:pt x="140" y="0"/>
                </a:moveTo>
                <a:cubicBezTo>
                  <a:pt x="64" y="0"/>
                  <a:pt x="15" y="55"/>
                  <a:pt x="17" y="146"/>
                </a:cubicBezTo>
                <a:cubicBezTo>
                  <a:pt x="111" y="104"/>
                  <a:pt x="192" y="87"/>
                  <a:pt x="263" y="87"/>
                </a:cubicBezTo>
                <a:cubicBezTo>
                  <a:pt x="473" y="87"/>
                  <a:pt x="586" y="239"/>
                  <a:pt x="618" y="341"/>
                </a:cubicBezTo>
                <a:cubicBezTo>
                  <a:pt x="673" y="309"/>
                  <a:pt x="724" y="273"/>
                  <a:pt x="729" y="201"/>
                </a:cubicBezTo>
                <a:cubicBezTo>
                  <a:pt x="733" y="149"/>
                  <a:pt x="694" y="95"/>
                  <a:pt x="549" y="95"/>
                </a:cubicBezTo>
                <a:cubicBezTo>
                  <a:pt x="523" y="95"/>
                  <a:pt x="494" y="96"/>
                  <a:pt x="461" y="100"/>
                </a:cubicBezTo>
                <a:cubicBezTo>
                  <a:pt x="452" y="101"/>
                  <a:pt x="442" y="102"/>
                  <a:pt x="433" y="102"/>
                </a:cubicBezTo>
                <a:cubicBezTo>
                  <a:pt x="306" y="102"/>
                  <a:pt x="236" y="3"/>
                  <a:pt x="145" y="0"/>
                </a:cubicBezTo>
                <a:cubicBezTo>
                  <a:pt x="143" y="0"/>
                  <a:pt x="141" y="0"/>
                  <a:pt x="140" y="0"/>
                </a:cubicBezTo>
              </a:path>
            </a:pathLst>
          </a:custGeom>
          <a:solidFill>
            <a:srgbClr val="D8D8D8"/>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7" name="Google Shape;487;p39"/>
          <p:cNvSpPr/>
          <p:nvPr/>
        </p:nvSpPr>
        <p:spPr>
          <a:xfrm>
            <a:off x="1071830" y="2089869"/>
            <a:ext cx="316348" cy="266399"/>
          </a:xfrm>
          <a:prstGeom prst="ellipse">
            <a:avLst/>
          </a:prstGeom>
          <a:gradFill>
            <a:gsLst>
              <a:gs pos="0">
                <a:schemeClr val="accent2"/>
              </a:gs>
              <a:gs pos="100000">
                <a:schemeClr val="accent4"/>
              </a:gs>
            </a:gsLst>
            <a:lin ang="2700000" scaled="0"/>
          </a:gra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8" name="Google Shape;488;p39"/>
          <p:cNvSpPr/>
          <p:nvPr/>
        </p:nvSpPr>
        <p:spPr>
          <a:xfrm>
            <a:off x="1409586" y="1778279"/>
            <a:ext cx="130820" cy="147471"/>
          </a:xfrm>
          <a:prstGeom prst="ellipse">
            <a:avLst/>
          </a:prstGeom>
          <a:gradFill>
            <a:gsLst>
              <a:gs pos="0">
                <a:schemeClr val="accent2"/>
              </a:gs>
              <a:gs pos="100000">
                <a:schemeClr val="accent4"/>
              </a:gs>
            </a:gsLst>
            <a:lin ang="2700000" scaled="0"/>
          </a:gra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89" name="Google Shape;489;p39"/>
          <p:cNvSpPr/>
          <p:nvPr/>
        </p:nvSpPr>
        <p:spPr>
          <a:xfrm>
            <a:off x="3521748" y="4463673"/>
            <a:ext cx="344891" cy="271156"/>
          </a:xfrm>
          <a:prstGeom prst="ellipse">
            <a:avLst/>
          </a:prstGeom>
          <a:gradFill>
            <a:gsLst>
              <a:gs pos="0">
                <a:schemeClr val="accent2"/>
              </a:gs>
              <a:gs pos="100000">
                <a:schemeClr val="accent4"/>
              </a:gs>
            </a:gsLst>
            <a:lin ang="2700000" scaled="0"/>
          </a:gra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90" name="Google Shape;490;p39"/>
          <p:cNvSpPr/>
          <p:nvPr/>
        </p:nvSpPr>
        <p:spPr>
          <a:xfrm>
            <a:off x="3990325" y="4366152"/>
            <a:ext cx="180771" cy="147471"/>
          </a:xfrm>
          <a:prstGeom prst="ellipse">
            <a:avLst/>
          </a:prstGeom>
          <a:gradFill>
            <a:gsLst>
              <a:gs pos="0">
                <a:schemeClr val="accent2"/>
              </a:gs>
              <a:gs pos="100000">
                <a:schemeClr val="accent4"/>
              </a:gs>
            </a:gsLst>
            <a:lin ang="2700000" scaled="0"/>
          </a:gra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3" name="Handshake12" descr="{&quot;Key&quot;:&quot;POWER_USER_SHAPE_ICON&quot;,&quot;Value&quot;:&quot;POWER_USER_SHAPE_ICON_STYLE_1&quot;}">
            <a:extLst>
              <a:ext uri="{FF2B5EF4-FFF2-40B4-BE49-F238E27FC236}">
                <a16:creationId xmlns:a16="http://schemas.microsoft.com/office/drawing/2014/main" id="{DBF03BF2-DF3D-B064-9E6E-317C35F8E06D}"/>
              </a:ext>
            </a:extLst>
          </p:cNvPr>
          <p:cNvGrpSpPr>
            <a:grpSpLocks noChangeAspect="1"/>
          </p:cNvGrpSpPr>
          <p:nvPr/>
        </p:nvGrpSpPr>
        <p:grpSpPr>
          <a:xfrm>
            <a:off x="2187648" y="2768300"/>
            <a:ext cx="1394131" cy="1021689"/>
            <a:chOff x="2880904" y="-1689100"/>
            <a:chExt cx="1017228" cy="745476"/>
          </a:xfrm>
          <a:solidFill>
            <a:schemeClr val="bg1"/>
          </a:solidFill>
        </p:grpSpPr>
        <p:sp>
          <p:nvSpPr>
            <p:cNvPr id="4" name="Free-form: Shape 2335">
              <a:extLst>
                <a:ext uri="{FF2B5EF4-FFF2-40B4-BE49-F238E27FC236}">
                  <a16:creationId xmlns:a16="http://schemas.microsoft.com/office/drawing/2014/main" id="{63F8CA75-762D-BA0E-BD0B-D0393A43C140}"/>
                </a:ext>
              </a:extLst>
            </p:cNvPr>
            <p:cNvSpPr/>
            <p:nvPr/>
          </p:nvSpPr>
          <p:spPr>
            <a:xfrm>
              <a:off x="2987627" y="-1689100"/>
              <a:ext cx="267332" cy="271252"/>
            </a:xfrm>
            <a:custGeom>
              <a:avLst/>
              <a:gdLst>
                <a:gd name="connsiteX0" fmla="*/ 138072 w 267332"/>
                <a:gd name="connsiteY0" fmla="*/ 0 h 271252"/>
                <a:gd name="connsiteX1" fmla="*/ 255770 w 267332"/>
                <a:gd name="connsiteY1" fmla="*/ 79909 h 271252"/>
                <a:gd name="connsiteX2" fmla="*/ 265648 w 267332"/>
                <a:gd name="connsiteY2" fmla="*/ 156660 h 271252"/>
                <a:gd name="connsiteX3" fmla="*/ 236196 w 267332"/>
                <a:gd name="connsiteY3" fmla="*/ 222798 h 271252"/>
                <a:gd name="connsiteX4" fmla="*/ 164182 w 267332"/>
                <a:gd name="connsiteY4" fmla="*/ 267637 h 271252"/>
                <a:gd name="connsiteX5" fmla="*/ 110934 w 267332"/>
                <a:gd name="connsiteY5" fmla="*/ 269289 h 271252"/>
                <a:gd name="connsiteX6" fmla="*/ 61101 w 267332"/>
                <a:gd name="connsiteY6" fmla="*/ 249422 h 271252"/>
                <a:gd name="connsiteX7" fmla="*/ 12957 w 267332"/>
                <a:gd name="connsiteY7" fmla="*/ 193383 h 271252"/>
                <a:gd name="connsiteX8" fmla="*/ 1683 w 267332"/>
                <a:gd name="connsiteY8" fmla="*/ 115347 h 271252"/>
                <a:gd name="connsiteX9" fmla="*/ 31392 w 267332"/>
                <a:gd name="connsiteY9" fmla="*/ 48952 h 271252"/>
                <a:gd name="connsiteX10" fmla="*/ 129002 w 267332"/>
                <a:gd name="connsiteY10" fmla="*/ 0 h 271252"/>
                <a:gd name="connsiteX11" fmla="*/ 138072 w 267332"/>
                <a:gd name="connsiteY11" fmla="*/ 0 h 271252"/>
                <a:gd name="connsiteX12" fmla="*/ 134004 w 267332"/>
                <a:gd name="connsiteY12" fmla="*/ 245640 h 271252"/>
                <a:gd name="connsiteX13" fmla="*/ 241815 w 267332"/>
                <a:gd name="connsiteY13" fmla="*/ 135687 h 271252"/>
                <a:gd name="connsiteX14" fmla="*/ 133622 w 267332"/>
                <a:gd name="connsiteY14" fmla="*/ 26110 h 271252"/>
                <a:gd name="connsiteX15" fmla="*/ 25811 w 267332"/>
                <a:gd name="connsiteY15" fmla="*/ 136063 h 271252"/>
                <a:gd name="connsiteX16" fmla="*/ 134004 w 267332"/>
                <a:gd name="connsiteY16" fmla="*/ 245640 h 271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7332" h="271252">
                  <a:moveTo>
                    <a:pt x="138072" y="0"/>
                  </a:moveTo>
                  <a:cubicBezTo>
                    <a:pt x="194210" y="4529"/>
                    <a:pt x="233442" y="31166"/>
                    <a:pt x="255770" y="79909"/>
                  </a:cubicBezTo>
                  <a:cubicBezTo>
                    <a:pt x="266419" y="103192"/>
                    <a:pt x="269714" y="128775"/>
                    <a:pt x="265648" y="156660"/>
                  </a:cubicBezTo>
                  <a:cubicBezTo>
                    <a:pt x="262049" y="181534"/>
                    <a:pt x="252232" y="203580"/>
                    <a:pt x="236196" y="222798"/>
                  </a:cubicBezTo>
                  <a:cubicBezTo>
                    <a:pt x="216929" y="245885"/>
                    <a:pt x="192925" y="260831"/>
                    <a:pt x="164182" y="267637"/>
                  </a:cubicBezTo>
                  <a:cubicBezTo>
                    <a:pt x="146580" y="271823"/>
                    <a:pt x="128830" y="272374"/>
                    <a:pt x="110934" y="269289"/>
                  </a:cubicBezTo>
                  <a:cubicBezTo>
                    <a:pt x="92964" y="266205"/>
                    <a:pt x="76353" y="259582"/>
                    <a:pt x="61101" y="249422"/>
                  </a:cubicBezTo>
                  <a:cubicBezTo>
                    <a:pt x="39361" y="234929"/>
                    <a:pt x="23313" y="216249"/>
                    <a:pt x="12957" y="193383"/>
                  </a:cubicBezTo>
                  <a:cubicBezTo>
                    <a:pt x="1206" y="167432"/>
                    <a:pt x="-2552" y="141420"/>
                    <a:pt x="1683" y="115347"/>
                  </a:cubicBezTo>
                  <a:cubicBezTo>
                    <a:pt x="5723" y="90473"/>
                    <a:pt x="15626" y="68341"/>
                    <a:pt x="31392" y="48952"/>
                  </a:cubicBezTo>
                  <a:cubicBezTo>
                    <a:pt x="55042" y="19843"/>
                    <a:pt x="87578" y="3525"/>
                    <a:pt x="129002" y="0"/>
                  </a:cubicBezTo>
                  <a:lnTo>
                    <a:pt x="138072" y="0"/>
                  </a:lnTo>
                  <a:close/>
                  <a:moveTo>
                    <a:pt x="134004" y="245640"/>
                  </a:moveTo>
                  <a:cubicBezTo>
                    <a:pt x="193652" y="245536"/>
                    <a:pt x="241921" y="196308"/>
                    <a:pt x="241815" y="135687"/>
                  </a:cubicBezTo>
                  <a:cubicBezTo>
                    <a:pt x="241709" y="75065"/>
                    <a:pt x="193269" y="26006"/>
                    <a:pt x="133622" y="26110"/>
                  </a:cubicBezTo>
                  <a:cubicBezTo>
                    <a:pt x="73973" y="26214"/>
                    <a:pt x="25705" y="75442"/>
                    <a:pt x="25811" y="136063"/>
                  </a:cubicBezTo>
                  <a:cubicBezTo>
                    <a:pt x="25916" y="196685"/>
                    <a:pt x="74356" y="245744"/>
                    <a:pt x="134004" y="245640"/>
                  </a:cubicBezTo>
                  <a:close/>
                </a:path>
              </a:pathLst>
            </a:custGeom>
            <a:grpFill/>
            <a:ln w="3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Shape 2336">
              <a:extLst>
                <a:ext uri="{FF2B5EF4-FFF2-40B4-BE49-F238E27FC236}">
                  <a16:creationId xmlns:a16="http://schemas.microsoft.com/office/drawing/2014/main" id="{EBF35941-2C32-B3DA-964A-40350501C7CF}"/>
                </a:ext>
              </a:extLst>
            </p:cNvPr>
            <p:cNvSpPr/>
            <p:nvPr/>
          </p:nvSpPr>
          <p:spPr>
            <a:xfrm>
              <a:off x="3531305" y="-1677679"/>
              <a:ext cx="267270" cy="267269"/>
            </a:xfrm>
            <a:custGeom>
              <a:avLst/>
              <a:gdLst>
                <a:gd name="connsiteX0" fmla="*/ 267270 w 267270"/>
                <a:gd name="connsiteY0" fmla="*/ 133635 h 267269"/>
                <a:gd name="connsiteX1" fmla="*/ 133635 w 267270"/>
                <a:gd name="connsiteY1" fmla="*/ 267270 h 267269"/>
                <a:gd name="connsiteX2" fmla="*/ 0 w 267270"/>
                <a:gd name="connsiteY2" fmla="*/ 133635 h 267269"/>
                <a:gd name="connsiteX3" fmla="*/ 133635 w 267270"/>
                <a:gd name="connsiteY3" fmla="*/ 0 h 267269"/>
                <a:gd name="connsiteX4" fmla="*/ 267270 w 267270"/>
                <a:gd name="connsiteY4" fmla="*/ 133635 h 267269"/>
                <a:gd name="connsiteX5" fmla="*/ 241564 w 267270"/>
                <a:gd name="connsiteY5" fmla="*/ 133635 h 267269"/>
                <a:gd name="connsiteX6" fmla="*/ 133635 w 267270"/>
                <a:gd name="connsiteY6" fmla="*/ 25706 h 267269"/>
                <a:gd name="connsiteX7" fmla="*/ 25706 w 267270"/>
                <a:gd name="connsiteY7" fmla="*/ 133635 h 267269"/>
                <a:gd name="connsiteX8" fmla="*/ 133635 w 267270"/>
                <a:gd name="connsiteY8" fmla="*/ 241564 h 267269"/>
                <a:gd name="connsiteX9" fmla="*/ 241564 w 267270"/>
                <a:gd name="connsiteY9" fmla="*/ 133635 h 26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270" h="267269">
                  <a:moveTo>
                    <a:pt x="267270" y="133635"/>
                  </a:moveTo>
                  <a:cubicBezTo>
                    <a:pt x="267270" y="207439"/>
                    <a:pt x="207441" y="267270"/>
                    <a:pt x="133635" y="267270"/>
                  </a:cubicBezTo>
                  <a:cubicBezTo>
                    <a:pt x="59829" y="267270"/>
                    <a:pt x="0" y="207439"/>
                    <a:pt x="0" y="133635"/>
                  </a:cubicBezTo>
                  <a:cubicBezTo>
                    <a:pt x="0" y="59831"/>
                    <a:pt x="59829" y="0"/>
                    <a:pt x="133635" y="0"/>
                  </a:cubicBezTo>
                  <a:cubicBezTo>
                    <a:pt x="207441" y="0"/>
                    <a:pt x="267270" y="59831"/>
                    <a:pt x="267270" y="133635"/>
                  </a:cubicBezTo>
                  <a:close/>
                  <a:moveTo>
                    <a:pt x="241564" y="133635"/>
                  </a:moveTo>
                  <a:cubicBezTo>
                    <a:pt x="241564" y="74028"/>
                    <a:pt x="193244" y="25706"/>
                    <a:pt x="133635" y="25706"/>
                  </a:cubicBezTo>
                  <a:cubicBezTo>
                    <a:pt x="74026" y="25706"/>
                    <a:pt x="25706" y="74028"/>
                    <a:pt x="25706" y="133635"/>
                  </a:cubicBezTo>
                  <a:cubicBezTo>
                    <a:pt x="25706" y="193242"/>
                    <a:pt x="74026" y="241564"/>
                    <a:pt x="133635" y="241564"/>
                  </a:cubicBezTo>
                  <a:cubicBezTo>
                    <a:pt x="193244" y="241564"/>
                    <a:pt x="241564" y="193242"/>
                    <a:pt x="241564" y="133635"/>
                  </a:cubicBezTo>
                  <a:close/>
                </a:path>
              </a:pathLst>
            </a:custGeom>
            <a:grpFill/>
            <a:ln w="3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Free-form: Shape 2337">
              <a:extLst>
                <a:ext uri="{FF2B5EF4-FFF2-40B4-BE49-F238E27FC236}">
                  <a16:creationId xmlns:a16="http://schemas.microsoft.com/office/drawing/2014/main" id="{B55DEBEC-C678-160F-D80C-96B805C5612A}"/>
                </a:ext>
              </a:extLst>
            </p:cNvPr>
            <p:cNvSpPr/>
            <p:nvPr/>
          </p:nvSpPr>
          <p:spPr>
            <a:xfrm>
              <a:off x="3211631" y="-1439163"/>
              <a:ext cx="150124" cy="153795"/>
            </a:xfrm>
            <a:custGeom>
              <a:avLst/>
              <a:gdLst>
                <a:gd name="connsiteX0" fmla="*/ 74930 w 150124"/>
                <a:gd name="connsiteY0" fmla="*/ 153796 h 153795"/>
                <a:gd name="connsiteX1" fmla="*/ 0 w 150124"/>
                <a:gd name="connsiteY1" fmla="*/ 76767 h 153795"/>
                <a:gd name="connsiteX2" fmla="*/ 75194 w 150124"/>
                <a:gd name="connsiteY2" fmla="*/ 0 h 153795"/>
                <a:gd name="connsiteX3" fmla="*/ 150124 w 150124"/>
                <a:gd name="connsiteY3" fmla="*/ 77029 h 153795"/>
                <a:gd name="connsiteX4" fmla="*/ 74930 w 150124"/>
                <a:gd name="connsiteY4" fmla="*/ 153796 h 153795"/>
                <a:gd name="connsiteX5" fmla="*/ 75062 w 150124"/>
                <a:gd name="connsiteY5" fmla="*/ 128163 h 153795"/>
                <a:gd name="connsiteX6" fmla="*/ 124491 w 150124"/>
                <a:gd name="connsiteY6" fmla="*/ 76898 h 153795"/>
                <a:gd name="connsiteX7" fmla="*/ 75062 w 150124"/>
                <a:gd name="connsiteY7" fmla="*/ 25632 h 153795"/>
                <a:gd name="connsiteX8" fmla="*/ 25633 w 150124"/>
                <a:gd name="connsiteY8" fmla="*/ 76898 h 153795"/>
                <a:gd name="connsiteX9" fmla="*/ 75062 w 150124"/>
                <a:gd name="connsiteY9" fmla="*/ 128163 h 153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124" h="153795">
                  <a:moveTo>
                    <a:pt x="74930" y="153796"/>
                  </a:moveTo>
                  <a:cubicBezTo>
                    <a:pt x="33472" y="153722"/>
                    <a:pt x="-74" y="119236"/>
                    <a:pt x="0" y="76767"/>
                  </a:cubicBezTo>
                  <a:cubicBezTo>
                    <a:pt x="74" y="34298"/>
                    <a:pt x="33741" y="-72"/>
                    <a:pt x="75194" y="0"/>
                  </a:cubicBezTo>
                  <a:cubicBezTo>
                    <a:pt x="116651" y="72"/>
                    <a:pt x="150197" y="34559"/>
                    <a:pt x="150124" y="77029"/>
                  </a:cubicBezTo>
                  <a:cubicBezTo>
                    <a:pt x="150050" y="119500"/>
                    <a:pt x="116383" y="153869"/>
                    <a:pt x="74930" y="153796"/>
                  </a:cubicBezTo>
                  <a:close/>
                  <a:moveTo>
                    <a:pt x="75062" y="128163"/>
                  </a:moveTo>
                  <a:cubicBezTo>
                    <a:pt x="102362" y="128163"/>
                    <a:pt x="124491" y="105211"/>
                    <a:pt x="124491" y="76898"/>
                  </a:cubicBezTo>
                  <a:cubicBezTo>
                    <a:pt x="124491" y="48585"/>
                    <a:pt x="102362" y="25632"/>
                    <a:pt x="75062" y="25632"/>
                  </a:cubicBezTo>
                  <a:cubicBezTo>
                    <a:pt x="47762" y="25632"/>
                    <a:pt x="25633" y="48585"/>
                    <a:pt x="25633" y="76898"/>
                  </a:cubicBezTo>
                  <a:cubicBezTo>
                    <a:pt x="25633" y="105211"/>
                    <a:pt x="47762" y="128163"/>
                    <a:pt x="75062" y="128163"/>
                  </a:cubicBezTo>
                  <a:close/>
                </a:path>
              </a:pathLst>
            </a:custGeom>
            <a:grpFill/>
            <a:ln w="3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Free-form: Shape 2338">
              <a:extLst>
                <a:ext uri="{FF2B5EF4-FFF2-40B4-BE49-F238E27FC236}">
                  <a16:creationId xmlns:a16="http://schemas.microsoft.com/office/drawing/2014/main" id="{B06EC25E-8EBB-393E-6949-CA4BE8EDF055}"/>
                </a:ext>
              </a:extLst>
            </p:cNvPr>
            <p:cNvSpPr/>
            <p:nvPr/>
          </p:nvSpPr>
          <p:spPr>
            <a:xfrm>
              <a:off x="3420952" y="-1439163"/>
              <a:ext cx="150124" cy="153795"/>
            </a:xfrm>
            <a:custGeom>
              <a:avLst/>
              <a:gdLst>
                <a:gd name="connsiteX0" fmla="*/ 74930 w 150124"/>
                <a:gd name="connsiteY0" fmla="*/ 153796 h 153795"/>
                <a:gd name="connsiteX1" fmla="*/ 0 w 150124"/>
                <a:gd name="connsiteY1" fmla="*/ 76767 h 153795"/>
                <a:gd name="connsiteX2" fmla="*/ 75194 w 150124"/>
                <a:gd name="connsiteY2" fmla="*/ 0 h 153795"/>
                <a:gd name="connsiteX3" fmla="*/ 150124 w 150124"/>
                <a:gd name="connsiteY3" fmla="*/ 77029 h 153795"/>
                <a:gd name="connsiteX4" fmla="*/ 74930 w 150124"/>
                <a:gd name="connsiteY4" fmla="*/ 153796 h 153795"/>
                <a:gd name="connsiteX5" fmla="*/ 75062 w 150124"/>
                <a:gd name="connsiteY5" fmla="*/ 128163 h 153795"/>
                <a:gd name="connsiteX6" fmla="*/ 124491 w 150124"/>
                <a:gd name="connsiteY6" fmla="*/ 76898 h 153795"/>
                <a:gd name="connsiteX7" fmla="*/ 75062 w 150124"/>
                <a:gd name="connsiteY7" fmla="*/ 25632 h 153795"/>
                <a:gd name="connsiteX8" fmla="*/ 25633 w 150124"/>
                <a:gd name="connsiteY8" fmla="*/ 76898 h 153795"/>
                <a:gd name="connsiteX9" fmla="*/ 75062 w 150124"/>
                <a:gd name="connsiteY9" fmla="*/ 128163 h 153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124" h="153795">
                  <a:moveTo>
                    <a:pt x="74930" y="153796"/>
                  </a:moveTo>
                  <a:cubicBezTo>
                    <a:pt x="33473" y="153722"/>
                    <a:pt x="-73" y="119236"/>
                    <a:pt x="0" y="76767"/>
                  </a:cubicBezTo>
                  <a:cubicBezTo>
                    <a:pt x="74" y="34298"/>
                    <a:pt x="33741" y="-72"/>
                    <a:pt x="75194" y="0"/>
                  </a:cubicBezTo>
                  <a:cubicBezTo>
                    <a:pt x="116651" y="72"/>
                    <a:pt x="150197" y="34559"/>
                    <a:pt x="150124" y="77029"/>
                  </a:cubicBezTo>
                  <a:cubicBezTo>
                    <a:pt x="150050" y="119500"/>
                    <a:pt x="116383" y="153869"/>
                    <a:pt x="74930" y="153796"/>
                  </a:cubicBezTo>
                  <a:close/>
                  <a:moveTo>
                    <a:pt x="75062" y="128163"/>
                  </a:moveTo>
                  <a:cubicBezTo>
                    <a:pt x="102362" y="128163"/>
                    <a:pt x="124491" y="105211"/>
                    <a:pt x="124491" y="76898"/>
                  </a:cubicBezTo>
                  <a:cubicBezTo>
                    <a:pt x="124491" y="48585"/>
                    <a:pt x="102362" y="25632"/>
                    <a:pt x="75062" y="25632"/>
                  </a:cubicBezTo>
                  <a:cubicBezTo>
                    <a:pt x="47762" y="25632"/>
                    <a:pt x="25633" y="48585"/>
                    <a:pt x="25633" y="76898"/>
                  </a:cubicBezTo>
                  <a:cubicBezTo>
                    <a:pt x="25633" y="105211"/>
                    <a:pt x="47762" y="128163"/>
                    <a:pt x="75062" y="128163"/>
                  </a:cubicBezTo>
                  <a:close/>
                </a:path>
              </a:pathLst>
            </a:custGeom>
            <a:grpFill/>
            <a:ln w="3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Shape 2339">
              <a:extLst>
                <a:ext uri="{FF2B5EF4-FFF2-40B4-BE49-F238E27FC236}">
                  <a16:creationId xmlns:a16="http://schemas.microsoft.com/office/drawing/2014/main" id="{84DE150B-22BC-789E-06DF-08519D17020E}"/>
                </a:ext>
              </a:extLst>
            </p:cNvPr>
            <p:cNvSpPr/>
            <p:nvPr/>
          </p:nvSpPr>
          <p:spPr>
            <a:xfrm>
              <a:off x="2880904" y="-1397029"/>
              <a:ext cx="1017228" cy="453405"/>
            </a:xfrm>
            <a:custGeom>
              <a:avLst/>
              <a:gdLst>
                <a:gd name="connsiteX0" fmla="*/ 1017228 w 1017228"/>
                <a:gd name="connsiteY0" fmla="*/ 434750 h 453405"/>
                <a:gd name="connsiteX1" fmla="*/ 1017228 w 1017228"/>
                <a:gd name="connsiteY1" fmla="*/ 443711 h 453405"/>
                <a:gd name="connsiteX2" fmla="*/ 1007533 w 1017228"/>
                <a:gd name="connsiteY2" fmla="*/ 453406 h 453405"/>
                <a:gd name="connsiteX3" fmla="*/ 736664 w 1017228"/>
                <a:gd name="connsiteY3" fmla="*/ 453406 h 453405"/>
                <a:gd name="connsiteX4" fmla="*/ 725794 w 1017228"/>
                <a:gd name="connsiteY4" fmla="*/ 436329 h 453405"/>
                <a:gd name="connsiteX5" fmla="*/ 719037 w 1017228"/>
                <a:gd name="connsiteY5" fmla="*/ 379225 h 453405"/>
                <a:gd name="connsiteX6" fmla="*/ 717201 w 1017228"/>
                <a:gd name="connsiteY6" fmla="*/ 378381 h 453405"/>
                <a:gd name="connsiteX7" fmla="*/ 516032 w 1017228"/>
                <a:gd name="connsiteY7" fmla="*/ 438643 h 453405"/>
                <a:gd name="connsiteX8" fmla="*/ 501343 w 1017228"/>
                <a:gd name="connsiteY8" fmla="*/ 440259 h 453405"/>
                <a:gd name="connsiteX9" fmla="*/ 486543 w 1017228"/>
                <a:gd name="connsiteY9" fmla="*/ 441691 h 453405"/>
                <a:gd name="connsiteX10" fmla="*/ 305315 w 1017228"/>
                <a:gd name="connsiteY10" fmla="*/ 376067 h 453405"/>
                <a:gd name="connsiteX11" fmla="*/ 303589 w 1017228"/>
                <a:gd name="connsiteY11" fmla="*/ 376838 h 453405"/>
                <a:gd name="connsiteX12" fmla="*/ 297750 w 1017228"/>
                <a:gd name="connsiteY12" fmla="*/ 436917 h 453405"/>
                <a:gd name="connsiteX13" fmla="*/ 287725 w 1017228"/>
                <a:gd name="connsiteY13" fmla="*/ 453406 h 453405"/>
                <a:gd name="connsiteX14" fmla="*/ 10429 w 1017228"/>
                <a:gd name="connsiteY14" fmla="*/ 453406 h 453405"/>
                <a:gd name="connsiteX15" fmla="*/ 0 w 1017228"/>
                <a:gd name="connsiteY15" fmla="*/ 444078 h 453405"/>
                <a:gd name="connsiteX16" fmla="*/ 0 w 1017228"/>
                <a:gd name="connsiteY16" fmla="*/ 435228 h 453405"/>
                <a:gd name="connsiteX17" fmla="*/ 27873 w 1017228"/>
                <a:gd name="connsiteY17" fmla="*/ 135091 h 453405"/>
                <a:gd name="connsiteX18" fmla="*/ 38596 w 1017228"/>
                <a:gd name="connsiteY18" fmla="*/ 93410 h 453405"/>
                <a:gd name="connsiteX19" fmla="*/ 59198 w 1017228"/>
                <a:gd name="connsiteY19" fmla="*/ 56063 h 453405"/>
                <a:gd name="connsiteX20" fmla="*/ 162756 w 1017228"/>
                <a:gd name="connsiteY20" fmla="*/ 575 h 453405"/>
                <a:gd name="connsiteX21" fmla="*/ 233595 w 1017228"/>
                <a:gd name="connsiteY21" fmla="*/ 12620 h 453405"/>
                <a:gd name="connsiteX22" fmla="*/ 287027 w 1017228"/>
                <a:gd name="connsiteY22" fmla="*/ 55549 h 453405"/>
                <a:gd name="connsiteX23" fmla="*/ 318242 w 1017228"/>
                <a:gd name="connsiteY23" fmla="*/ 123927 h 453405"/>
                <a:gd name="connsiteX24" fmla="*/ 323053 w 1017228"/>
                <a:gd name="connsiteY24" fmla="*/ 145447 h 453405"/>
                <a:gd name="connsiteX25" fmla="*/ 325036 w 1017228"/>
                <a:gd name="connsiteY25" fmla="*/ 146181 h 453405"/>
                <a:gd name="connsiteX26" fmla="*/ 363852 w 1017228"/>
                <a:gd name="connsiteY26" fmla="*/ 127636 h 453405"/>
                <a:gd name="connsiteX27" fmla="*/ 385298 w 1017228"/>
                <a:gd name="connsiteY27" fmla="*/ 137368 h 453405"/>
                <a:gd name="connsiteX28" fmla="*/ 403513 w 1017228"/>
                <a:gd name="connsiteY28" fmla="*/ 153856 h 453405"/>
                <a:gd name="connsiteX29" fmla="*/ 406304 w 1017228"/>
                <a:gd name="connsiteY29" fmla="*/ 153856 h 453405"/>
                <a:gd name="connsiteX30" fmla="*/ 431275 w 1017228"/>
                <a:gd name="connsiteY30" fmla="*/ 131896 h 453405"/>
                <a:gd name="connsiteX31" fmla="*/ 444679 w 1017228"/>
                <a:gd name="connsiteY31" fmla="*/ 127122 h 453405"/>
                <a:gd name="connsiteX32" fmla="*/ 508284 w 1017228"/>
                <a:gd name="connsiteY32" fmla="*/ 170345 h 453405"/>
                <a:gd name="connsiteX33" fmla="*/ 510267 w 1017228"/>
                <a:gd name="connsiteY33" fmla="*/ 170308 h 453405"/>
                <a:gd name="connsiteX34" fmla="*/ 574055 w 1017228"/>
                <a:gd name="connsiteY34" fmla="*/ 127122 h 453405"/>
                <a:gd name="connsiteX35" fmla="*/ 585622 w 1017228"/>
                <a:gd name="connsiteY35" fmla="*/ 129950 h 453405"/>
                <a:gd name="connsiteX36" fmla="*/ 612467 w 1017228"/>
                <a:gd name="connsiteY36" fmla="*/ 154738 h 453405"/>
                <a:gd name="connsiteX37" fmla="*/ 614413 w 1017228"/>
                <a:gd name="connsiteY37" fmla="*/ 154738 h 453405"/>
                <a:gd name="connsiteX38" fmla="*/ 640413 w 1017228"/>
                <a:gd name="connsiteY38" fmla="*/ 130758 h 453405"/>
                <a:gd name="connsiteX39" fmla="*/ 655873 w 1017228"/>
                <a:gd name="connsiteY39" fmla="*/ 127930 h 453405"/>
                <a:gd name="connsiteX40" fmla="*/ 700969 w 1017228"/>
                <a:gd name="connsiteY40" fmla="*/ 149450 h 453405"/>
                <a:gd name="connsiteX41" fmla="*/ 702916 w 1017228"/>
                <a:gd name="connsiteY41" fmla="*/ 148605 h 453405"/>
                <a:gd name="connsiteX42" fmla="*/ 709820 w 1017228"/>
                <a:gd name="connsiteY42" fmla="*/ 117501 h 453405"/>
                <a:gd name="connsiteX43" fmla="*/ 739161 w 1017228"/>
                <a:gd name="connsiteY43" fmla="*/ 60323 h 453405"/>
                <a:gd name="connsiteX44" fmla="*/ 787966 w 1017228"/>
                <a:gd name="connsiteY44" fmla="*/ 20919 h 453405"/>
                <a:gd name="connsiteX45" fmla="*/ 875808 w 1017228"/>
                <a:gd name="connsiteY45" fmla="*/ 10490 h 453405"/>
                <a:gd name="connsiteX46" fmla="*/ 940881 w 1017228"/>
                <a:gd name="connsiteY46" fmla="*/ 43063 h 453405"/>
                <a:gd name="connsiteX47" fmla="*/ 982341 w 1017228"/>
                <a:gd name="connsiteY47" fmla="*/ 105162 h 453405"/>
                <a:gd name="connsiteX48" fmla="*/ 993505 w 1017228"/>
                <a:gd name="connsiteY48" fmla="*/ 176845 h 453405"/>
                <a:gd name="connsiteX49" fmla="*/ 1017228 w 1017228"/>
                <a:gd name="connsiteY49" fmla="*/ 434750 h 453405"/>
                <a:gd name="connsiteX50" fmla="*/ 230988 w 1017228"/>
                <a:gd name="connsiteY50" fmla="*/ 242763 h 453405"/>
                <a:gd name="connsiteX51" fmla="*/ 328120 w 1017228"/>
                <a:gd name="connsiteY51" fmla="*/ 360386 h 453405"/>
                <a:gd name="connsiteX52" fmla="*/ 474058 w 1017228"/>
                <a:gd name="connsiteY52" fmla="*/ 414736 h 453405"/>
                <a:gd name="connsiteX53" fmla="*/ 502481 w 1017228"/>
                <a:gd name="connsiteY53" fmla="*/ 413561 h 453405"/>
                <a:gd name="connsiteX54" fmla="*/ 508100 w 1017228"/>
                <a:gd name="connsiteY54" fmla="*/ 337581 h 453405"/>
                <a:gd name="connsiteX55" fmla="*/ 471634 w 1017228"/>
                <a:gd name="connsiteY55" fmla="*/ 329355 h 453405"/>
                <a:gd name="connsiteX56" fmla="*/ 444165 w 1017228"/>
                <a:gd name="connsiteY56" fmla="*/ 323406 h 453405"/>
                <a:gd name="connsiteX57" fmla="*/ 303957 w 1017228"/>
                <a:gd name="connsiteY57" fmla="*/ 181105 h 453405"/>
                <a:gd name="connsiteX58" fmla="*/ 292829 w 1017228"/>
                <a:gd name="connsiteY58" fmla="*/ 126571 h 453405"/>
                <a:gd name="connsiteX59" fmla="*/ 247513 w 1017228"/>
                <a:gd name="connsiteY59" fmla="*/ 51436 h 453405"/>
                <a:gd name="connsiteX60" fmla="*/ 190923 w 1017228"/>
                <a:gd name="connsiteY60" fmla="*/ 26795 h 453405"/>
                <a:gd name="connsiteX61" fmla="*/ 131505 w 1017228"/>
                <a:gd name="connsiteY61" fmla="*/ 33515 h 453405"/>
                <a:gd name="connsiteX62" fmla="*/ 62466 w 1017228"/>
                <a:gd name="connsiteY62" fmla="*/ 101967 h 453405"/>
                <a:gd name="connsiteX63" fmla="*/ 55746 w 1017228"/>
                <a:gd name="connsiteY63" fmla="*/ 126277 h 453405"/>
                <a:gd name="connsiteX64" fmla="*/ 52881 w 1017228"/>
                <a:gd name="connsiteY64" fmla="*/ 144859 h 453405"/>
                <a:gd name="connsiteX65" fmla="*/ 26991 w 1017228"/>
                <a:gd name="connsiteY65" fmla="*/ 426855 h 453405"/>
                <a:gd name="connsiteX66" fmla="*/ 27686 w 1017228"/>
                <a:gd name="connsiteY66" fmla="*/ 427696 h 453405"/>
                <a:gd name="connsiteX67" fmla="*/ 27763 w 1017228"/>
                <a:gd name="connsiteY67" fmla="*/ 427700 h 453405"/>
                <a:gd name="connsiteX68" fmla="*/ 270869 w 1017228"/>
                <a:gd name="connsiteY68" fmla="*/ 427700 h 453405"/>
                <a:gd name="connsiteX69" fmla="*/ 272926 w 1017228"/>
                <a:gd name="connsiteY69" fmla="*/ 425827 h 453405"/>
                <a:gd name="connsiteX70" fmla="*/ 279242 w 1017228"/>
                <a:gd name="connsiteY70" fmla="*/ 356200 h 453405"/>
                <a:gd name="connsiteX71" fmla="*/ 278287 w 1017228"/>
                <a:gd name="connsiteY71" fmla="*/ 353593 h 453405"/>
                <a:gd name="connsiteX72" fmla="*/ 254050 w 1017228"/>
                <a:gd name="connsiteY72" fmla="*/ 327740 h 453405"/>
                <a:gd name="connsiteX73" fmla="*/ 207265 w 1017228"/>
                <a:gd name="connsiteY73" fmla="*/ 252715 h 453405"/>
                <a:gd name="connsiteX74" fmla="*/ 208550 w 1017228"/>
                <a:gd name="connsiteY74" fmla="*/ 249446 h 453405"/>
                <a:gd name="connsiteX75" fmla="*/ 227646 w 1017228"/>
                <a:gd name="connsiteY75" fmla="*/ 241441 h 453405"/>
                <a:gd name="connsiteX76" fmla="*/ 230988 w 1017228"/>
                <a:gd name="connsiteY76" fmla="*/ 242763 h 453405"/>
                <a:gd name="connsiteX77" fmla="*/ 740961 w 1017228"/>
                <a:gd name="connsiteY77" fmla="*/ 348047 h 453405"/>
                <a:gd name="connsiteX78" fmla="*/ 742907 w 1017228"/>
                <a:gd name="connsiteY78" fmla="*/ 357191 h 453405"/>
                <a:gd name="connsiteX79" fmla="*/ 750582 w 1017228"/>
                <a:gd name="connsiteY79" fmla="*/ 425717 h 453405"/>
                <a:gd name="connsiteX80" fmla="*/ 752822 w 1017228"/>
                <a:gd name="connsiteY80" fmla="*/ 427700 h 453405"/>
                <a:gd name="connsiteX81" fmla="*/ 988511 w 1017228"/>
                <a:gd name="connsiteY81" fmla="*/ 427700 h 453405"/>
                <a:gd name="connsiteX82" fmla="*/ 990163 w 1017228"/>
                <a:gd name="connsiteY82" fmla="*/ 425900 h 453405"/>
                <a:gd name="connsiteX83" fmla="*/ 967432 w 1017228"/>
                <a:gd name="connsiteY83" fmla="*/ 173797 h 453405"/>
                <a:gd name="connsiteX84" fmla="*/ 956708 w 1017228"/>
                <a:gd name="connsiteY84" fmla="*/ 109422 h 453405"/>
                <a:gd name="connsiteX85" fmla="*/ 915689 w 1017228"/>
                <a:gd name="connsiteY85" fmla="*/ 55806 h 453405"/>
                <a:gd name="connsiteX86" fmla="*/ 801517 w 1017228"/>
                <a:gd name="connsiteY86" fmla="*/ 42880 h 453405"/>
                <a:gd name="connsiteX87" fmla="*/ 778565 w 1017228"/>
                <a:gd name="connsiteY87" fmla="*/ 56798 h 453405"/>
                <a:gd name="connsiteX88" fmla="*/ 733212 w 1017228"/>
                <a:gd name="connsiteY88" fmla="*/ 128958 h 453405"/>
                <a:gd name="connsiteX89" fmla="*/ 725280 w 1017228"/>
                <a:gd name="connsiteY89" fmla="*/ 170602 h 453405"/>
                <a:gd name="connsiteX90" fmla="*/ 708461 w 1017228"/>
                <a:gd name="connsiteY90" fmla="*/ 218379 h 453405"/>
                <a:gd name="connsiteX91" fmla="*/ 690026 w 1017228"/>
                <a:gd name="connsiteY91" fmla="*/ 247720 h 453405"/>
                <a:gd name="connsiteX92" fmla="*/ 673574 w 1017228"/>
                <a:gd name="connsiteY92" fmla="*/ 267955 h 453405"/>
                <a:gd name="connsiteX93" fmla="*/ 544052 w 1017228"/>
                <a:gd name="connsiteY93" fmla="*/ 333432 h 453405"/>
                <a:gd name="connsiteX94" fmla="*/ 543281 w 1017228"/>
                <a:gd name="connsiteY94" fmla="*/ 335158 h 453405"/>
                <a:gd name="connsiteX95" fmla="*/ 546182 w 1017228"/>
                <a:gd name="connsiteY95" fmla="*/ 410330 h 453405"/>
                <a:gd name="connsiteX96" fmla="*/ 547026 w 1017228"/>
                <a:gd name="connsiteY96" fmla="*/ 411652 h 453405"/>
                <a:gd name="connsiteX97" fmla="*/ 722599 w 1017228"/>
                <a:gd name="connsiteY97" fmla="*/ 342466 h 453405"/>
                <a:gd name="connsiteX98" fmla="*/ 740961 w 1017228"/>
                <a:gd name="connsiteY98" fmla="*/ 348047 h 453405"/>
                <a:gd name="connsiteX99" fmla="*/ 521394 w 1017228"/>
                <a:gd name="connsiteY99" fmla="*/ 218379 h 453405"/>
                <a:gd name="connsiteX100" fmla="*/ 502261 w 1017228"/>
                <a:gd name="connsiteY100" fmla="*/ 223043 h 453405"/>
                <a:gd name="connsiteX101" fmla="*/ 496826 w 1017228"/>
                <a:gd name="connsiteY101" fmla="*/ 214119 h 453405"/>
                <a:gd name="connsiteX102" fmla="*/ 481329 w 1017228"/>
                <a:gd name="connsiteY102" fmla="*/ 177653 h 453405"/>
                <a:gd name="connsiteX103" fmla="*/ 446846 w 1017228"/>
                <a:gd name="connsiteY103" fmla="*/ 154481 h 453405"/>
                <a:gd name="connsiteX104" fmla="*/ 441852 w 1017228"/>
                <a:gd name="connsiteY104" fmla="*/ 155546 h 453405"/>
                <a:gd name="connsiteX105" fmla="*/ 415264 w 1017228"/>
                <a:gd name="connsiteY105" fmla="*/ 182133 h 453405"/>
                <a:gd name="connsiteX106" fmla="*/ 397270 w 1017228"/>
                <a:gd name="connsiteY106" fmla="*/ 182647 h 453405"/>
                <a:gd name="connsiteX107" fmla="*/ 367120 w 1017228"/>
                <a:gd name="connsiteY107" fmla="*/ 155693 h 453405"/>
                <a:gd name="connsiteX108" fmla="*/ 361134 w 1017228"/>
                <a:gd name="connsiteY108" fmla="*/ 155105 h 453405"/>
                <a:gd name="connsiteX109" fmla="*/ 332380 w 1017228"/>
                <a:gd name="connsiteY109" fmla="*/ 171667 h 453405"/>
                <a:gd name="connsiteX110" fmla="*/ 329846 w 1017228"/>
                <a:gd name="connsiteY110" fmla="*/ 178241 h 453405"/>
                <a:gd name="connsiteX111" fmla="*/ 445744 w 1017228"/>
                <a:gd name="connsiteY111" fmla="*/ 296929 h 453405"/>
                <a:gd name="connsiteX112" fmla="*/ 471450 w 1017228"/>
                <a:gd name="connsiteY112" fmla="*/ 303429 h 453405"/>
                <a:gd name="connsiteX113" fmla="*/ 497340 w 1017228"/>
                <a:gd name="connsiteY113" fmla="*/ 307836 h 453405"/>
                <a:gd name="connsiteX114" fmla="*/ 531235 w 1017228"/>
                <a:gd name="connsiteY114" fmla="*/ 309415 h 453405"/>
                <a:gd name="connsiteX115" fmla="*/ 616213 w 1017228"/>
                <a:gd name="connsiteY115" fmla="*/ 280698 h 453405"/>
                <a:gd name="connsiteX116" fmla="*/ 696122 w 1017228"/>
                <a:gd name="connsiteY116" fmla="*/ 180627 h 453405"/>
                <a:gd name="connsiteX117" fmla="*/ 695057 w 1017228"/>
                <a:gd name="connsiteY117" fmla="*/ 176992 h 453405"/>
                <a:gd name="connsiteX118" fmla="*/ 654184 w 1017228"/>
                <a:gd name="connsiteY118" fmla="*/ 154517 h 453405"/>
                <a:gd name="connsiteX119" fmla="*/ 650365 w 1017228"/>
                <a:gd name="connsiteY119" fmla="*/ 155399 h 453405"/>
                <a:gd name="connsiteX120" fmla="*/ 624328 w 1017228"/>
                <a:gd name="connsiteY120" fmla="*/ 181472 h 453405"/>
                <a:gd name="connsiteX121" fmla="*/ 604792 w 1017228"/>
                <a:gd name="connsiteY121" fmla="*/ 182023 h 453405"/>
                <a:gd name="connsiteX122" fmla="*/ 575230 w 1017228"/>
                <a:gd name="connsiteY122" fmla="*/ 155619 h 453405"/>
                <a:gd name="connsiteX123" fmla="*/ 570419 w 1017228"/>
                <a:gd name="connsiteY123" fmla="*/ 154701 h 453405"/>
                <a:gd name="connsiteX124" fmla="*/ 523817 w 1017228"/>
                <a:gd name="connsiteY124" fmla="*/ 206958 h 453405"/>
                <a:gd name="connsiteX125" fmla="*/ 521394 w 1017228"/>
                <a:gd name="connsiteY125" fmla="*/ 218379 h 45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1017228" h="453405">
                  <a:moveTo>
                    <a:pt x="1017228" y="434750"/>
                  </a:moveTo>
                  <a:lnTo>
                    <a:pt x="1017228" y="443711"/>
                  </a:lnTo>
                  <a:cubicBezTo>
                    <a:pt x="1015418" y="448117"/>
                    <a:pt x="1012186" y="451349"/>
                    <a:pt x="1007533" y="453406"/>
                  </a:cubicBezTo>
                  <a:lnTo>
                    <a:pt x="736664" y="453406"/>
                  </a:lnTo>
                  <a:cubicBezTo>
                    <a:pt x="730028" y="450982"/>
                    <a:pt x="726407" y="445290"/>
                    <a:pt x="725794" y="436329"/>
                  </a:cubicBezTo>
                  <a:cubicBezTo>
                    <a:pt x="725280" y="428764"/>
                    <a:pt x="723029" y="409731"/>
                    <a:pt x="719037" y="379225"/>
                  </a:cubicBezTo>
                  <a:cubicBezTo>
                    <a:pt x="718864" y="378002"/>
                    <a:pt x="718255" y="377720"/>
                    <a:pt x="717201" y="378381"/>
                  </a:cubicBezTo>
                  <a:cubicBezTo>
                    <a:pt x="655774" y="418456"/>
                    <a:pt x="588718" y="438544"/>
                    <a:pt x="516032" y="438643"/>
                  </a:cubicBezTo>
                  <a:cubicBezTo>
                    <a:pt x="511600" y="438669"/>
                    <a:pt x="506704" y="439205"/>
                    <a:pt x="501343" y="440259"/>
                  </a:cubicBezTo>
                  <a:cubicBezTo>
                    <a:pt x="495295" y="441482"/>
                    <a:pt x="490363" y="441959"/>
                    <a:pt x="486543" y="441691"/>
                  </a:cubicBezTo>
                  <a:cubicBezTo>
                    <a:pt x="420369" y="436891"/>
                    <a:pt x="359959" y="415019"/>
                    <a:pt x="305315" y="376067"/>
                  </a:cubicBezTo>
                  <a:cubicBezTo>
                    <a:pt x="304287" y="375333"/>
                    <a:pt x="303712" y="375590"/>
                    <a:pt x="303589" y="376838"/>
                  </a:cubicBezTo>
                  <a:cubicBezTo>
                    <a:pt x="299942" y="409863"/>
                    <a:pt x="297995" y="429892"/>
                    <a:pt x="297750" y="436917"/>
                  </a:cubicBezTo>
                  <a:cubicBezTo>
                    <a:pt x="297457" y="445264"/>
                    <a:pt x="294115" y="450762"/>
                    <a:pt x="287725" y="453406"/>
                  </a:cubicBezTo>
                  <a:lnTo>
                    <a:pt x="10429" y="453406"/>
                  </a:lnTo>
                  <a:cubicBezTo>
                    <a:pt x="5631" y="451838"/>
                    <a:pt x="2154" y="448731"/>
                    <a:pt x="0" y="444078"/>
                  </a:cubicBezTo>
                  <a:lnTo>
                    <a:pt x="0" y="435228"/>
                  </a:lnTo>
                  <a:cubicBezTo>
                    <a:pt x="9670" y="335169"/>
                    <a:pt x="18961" y="235124"/>
                    <a:pt x="27873" y="135091"/>
                  </a:cubicBezTo>
                  <a:cubicBezTo>
                    <a:pt x="28926" y="123340"/>
                    <a:pt x="32500" y="109447"/>
                    <a:pt x="38596" y="93410"/>
                  </a:cubicBezTo>
                  <a:cubicBezTo>
                    <a:pt x="44153" y="78721"/>
                    <a:pt x="51020" y="66272"/>
                    <a:pt x="59198" y="56063"/>
                  </a:cubicBezTo>
                  <a:cubicBezTo>
                    <a:pt x="85687" y="22841"/>
                    <a:pt x="120207" y="4345"/>
                    <a:pt x="162756" y="575"/>
                  </a:cubicBezTo>
                  <a:cubicBezTo>
                    <a:pt x="187189" y="-1604"/>
                    <a:pt x="210802" y="2411"/>
                    <a:pt x="233595" y="12620"/>
                  </a:cubicBezTo>
                  <a:cubicBezTo>
                    <a:pt x="254356" y="21899"/>
                    <a:pt x="272167" y="36208"/>
                    <a:pt x="287027" y="55549"/>
                  </a:cubicBezTo>
                  <a:cubicBezTo>
                    <a:pt x="302769" y="76066"/>
                    <a:pt x="313174" y="98856"/>
                    <a:pt x="318242" y="123927"/>
                  </a:cubicBezTo>
                  <a:cubicBezTo>
                    <a:pt x="318634" y="125885"/>
                    <a:pt x="320237" y="133060"/>
                    <a:pt x="323053" y="145447"/>
                  </a:cubicBezTo>
                  <a:cubicBezTo>
                    <a:pt x="323346" y="146648"/>
                    <a:pt x="324007" y="146890"/>
                    <a:pt x="325036" y="146181"/>
                  </a:cubicBezTo>
                  <a:cubicBezTo>
                    <a:pt x="338134" y="137294"/>
                    <a:pt x="351072" y="131114"/>
                    <a:pt x="363852" y="127636"/>
                  </a:cubicBezTo>
                  <a:cubicBezTo>
                    <a:pt x="374391" y="124809"/>
                    <a:pt x="378284" y="130794"/>
                    <a:pt x="385298" y="137368"/>
                  </a:cubicBezTo>
                  <a:cubicBezTo>
                    <a:pt x="390292" y="142021"/>
                    <a:pt x="396363" y="147514"/>
                    <a:pt x="403513" y="153856"/>
                  </a:cubicBezTo>
                  <a:cubicBezTo>
                    <a:pt x="404442" y="154664"/>
                    <a:pt x="405375" y="154664"/>
                    <a:pt x="406304" y="153856"/>
                  </a:cubicBezTo>
                  <a:cubicBezTo>
                    <a:pt x="420699" y="141418"/>
                    <a:pt x="429024" y="134099"/>
                    <a:pt x="431275" y="131896"/>
                  </a:cubicBezTo>
                  <a:cubicBezTo>
                    <a:pt x="435708" y="127489"/>
                    <a:pt x="440173" y="125899"/>
                    <a:pt x="444679" y="127122"/>
                  </a:cubicBezTo>
                  <a:cubicBezTo>
                    <a:pt x="471487" y="134368"/>
                    <a:pt x="492687" y="148778"/>
                    <a:pt x="508284" y="170345"/>
                  </a:cubicBezTo>
                  <a:cubicBezTo>
                    <a:pt x="508945" y="171252"/>
                    <a:pt x="509606" y="171237"/>
                    <a:pt x="510267" y="170308"/>
                  </a:cubicBezTo>
                  <a:cubicBezTo>
                    <a:pt x="525811" y="147882"/>
                    <a:pt x="547074" y="133486"/>
                    <a:pt x="574055" y="127122"/>
                  </a:cubicBezTo>
                  <a:cubicBezTo>
                    <a:pt x="578388" y="126120"/>
                    <a:pt x="582244" y="127060"/>
                    <a:pt x="585622" y="129950"/>
                  </a:cubicBezTo>
                  <a:cubicBezTo>
                    <a:pt x="594535" y="137662"/>
                    <a:pt x="603481" y="145924"/>
                    <a:pt x="612467" y="154738"/>
                  </a:cubicBezTo>
                  <a:cubicBezTo>
                    <a:pt x="612992" y="155274"/>
                    <a:pt x="613862" y="155274"/>
                    <a:pt x="614413" y="154738"/>
                  </a:cubicBezTo>
                  <a:cubicBezTo>
                    <a:pt x="622713" y="146732"/>
                    <a:pt x="631379" y="138738"/>
                    <a:pt x="640413" y="130758"/>
                  </a:cubicBezTo>
                  <a:cubicBezTo>
                    <a:pt x="645077" y="126681"/>
                    <a:pt x="649704" y="126057"/>
                    <a:pt x="655873" y="127930"/>
                  </a:cubicBezTo>
                  <a:cubicBezTo>
                    <a:pt x="671565" y="132752"/>
                    <a:pt x="686600" y="139927"/>
                    <a:pt x="700969" y="149450"/>
                  </a:cubicBezTo>
                  <a:cubicBezTo>
                    <a:pt x="702023" y="150136"/>
                    <a:pt x="702670" y="149854"/>
                    <a:pt x="702916" y="148605"/>
                  </a:cubicBezTo>
                  <a:cubicBezTo>
                    <a:pt x="706099" y="132741"/>
                    <a:pt x="708398" y="122374"/>
                    <a:pt x="709820" y="117501"/>
                  </a:cubicBezTo>
                  <a:cubicBezTo>
                    <a:pt x="716136" y="96201"/>
                    <a:pt x="725915" y="77142"/>
                    <a:pt x="739161" y="60323"/>
                  </a:cubicBezTo>
                  <a:cubicBezTo>
                    <a:pt x="752701" y="43112"/>
                    <a:pt x="768969" y="29978"/>
                    <a:pt x="787966" y="20919"/>
                  </a:cubicBezTo>
                  <a:cubicBezTo>
                    <a:pt x="815777" y="7650"/>
                    <a:pt x="845059" y="4174"/>
                    <a:pt x="875808" y="10490"/>
                  </a:cubicBezTo>
                  <a:cubicBezTo>
                    <a:pt x="900291" y="15533"/>
                    <a:pt x="921980" y="26391"/>
                    <a:pt x="940881" y="43063"/>
                  </a:cubicBezTo>
                  <a:cubicBezTo>
                    <a:pt x="960124" y="60029"/>
                    <a:pt x="973943" y="80730"/>
                    <a:pt x="982341" y="105162"/>
                  </a:cubicBezTo>
                  <a:cubicBezTo>
                    <a:pt x="986627" y="117600"/>
                    <a:pt x="990347" y="141492"/>
                    <a:pt x="993505" y="176845"/>
                  </a:cubicBezTo>
                  <a:cubicBezTo>
                    <a:pt x="1001143" y="262751"/>
                    <a:pt x="1009050" y="348719"/>
                    <a:pt x="1017228" y="434750"/>
                  </a:cubicBezTo>
                  <a:close/>
                  <a:moveTo>
                    <a:pt x="230988" y="242763"/>
                  </a:moveTo>
                  <a:cubicBezTo>
                    <a:pt x="252263" y="290991"/>
                    <a:pt x="284640" y="330200"/>
                    <a:pt x="328120" y="360386"/>
                  </a:cubicBezTo>
                  <a:cubicBezTo>
                    <a:pt x="371061" y="390180"/>
                    <a:pt x="419708" y="408299"/>
                    <a:pt x="474058" y="414736"/>
                  </a:cubicBezTo>
                  <a:cubicBezTo>
                    <a:pt x="486518" y="416231"/>
                    <a:pt x="495992" y="415838"/>
                    <a:pt x="502481" y="413561"/>
                  </a:cubicBezTo>
                  <a:cubicBezTo>
                    <a:pt x="537442" y="401296"/>
                    <a:pt x="539131" y="355135"/>
                    <a:pt x="508100" y="337581"/>
                  </a:cubicBezTo>
                  <a:cubicBezTo>
                    <a:pt x="498772" y="332293"/>
                    <a:pt x="481990" y="330971"/>
                    <a:pt x="471634" y="329355"/>
                  </a:cubicBezTo>
                  <a:cubicBezTo>
                    <a:pt x="460569" y="327641"/>
                    <a:pt x="451411" y="325657"/>
                    <a:pt x="444165" y="323406"/>
                  </a:cubicBezTo>
                  <a:cubicBezTo>
                    <a:pt x="372309" y="301127"/>
                    <a:pt x="325574" y="253695"/>
                    <a:pt x="303957" y="181105"/>
                  </a:cubicBezTo>
                  <a:cubicBezTo>
                    <a:pt x="299072" y="164580"/>
                    <a:pt x="296685" y="142840"/>
                    <a:pt x="292829" y="126571"/>
                  </a:cubicBezTo>
                  <a:cubicBezTo>
                    <a:pt x="285558" y="95724"/>
                    <a:pt x="270453" y="70679"/>
                    <a:pt x="247513" y="51436"/>
                  </a:cubicBezTo>
                  <a:cubicBezTo>
                    <a:pt x="231380" y="37897"/>
                    <a:pt x="212516" y="29684"/>
                    <a:pt x="190923" y="26795"/>
                  </a:cubicBezTo>
                  <a:cubicBezTo>
                    <a:pt x="170725" y="24077"/>
                    <a:pt x="150920" y="26318"/>
                    <a:pt x="131505" y="33515"/>
                  </a:cubicBezTo>
                  <a:cubicBezTo>
                    <a:pt x="99360" y="45462"/>
                    <a:pt x="76347" y="68280"/>
                    <a:pt x="62466" y="101967"/>
                  </a:cubicBezTo>
                  <a:cubicBezTo>
                    <a:pt x="58867" y="110670"/>
                    <a:pt x="57876" y="117794"/>
                    <a:pt x="55746" y="126277"/>
                  </a:cubicBezTo>
                  <a:cubicBezTo>
                    <a:pt x="54546" y="131026"/>
                    <a:pt x="53591" y="137221"/>
                    <a:pt x="52881" y="144859"/>
                  </a:cubicBezTo>
                  <a:cubicBezTo>
                    <a:pt x="44263" y="238896"/>
                    <a:pt x="35634" y="332892"/>
                    <a:pt x="26991" y="426855"/>
                  </a:cubicBezTo>
                  <a:cubicBezTo>
                    <a:pt x="26951" y="427277"/>
                    <a:pt x="27262" y="427655"/>
                    <a:pt x="27686" y="427696"/>
                  </a:cubicBezTo>
                  <a:cubicBezTo>
                    <a:pt x="27711" y="427700"/>
                    <a:pt x="27737" y="427700"/>
                    <a:pt x="27763" y="427700"/>
                  </a:cubicBezTo>
                  <a:lnTo>
                    <a:pt x="270869" y="427700"/>
                  </a:lnTo>
                  <a:cubicBezTo>
                    <a:pt x="272118" y="427700"/>
                    <a:pt x="272803" y="427075"/>
                    <a:pt x="272926" y="425827"/>
                  </a:cubicBezTo>
                  <a:lnTo>
                    <a:pt x="279242" y="356200"/>
                  </a:lnTo>
                  <a:cubicBezTo>
                    <a:pt x="279340" y="355172"/>
                    <a:pt x="279022" y="354301"/>
                    <a:pt x="278287" y="353593"/>
                  </a:cubicBezTo>
                  <a:cubicBezTo>
                    <a:pt x="268739" y="344144"/>
                    <a:pt x="260660" y="335525"/>
                    <a:pt x="254050" y="327740"/>
                  </a:cubicBezTo>
                  <a:cubicBezTo>
                    <a:pt x="234881" y="305192"/>
                    <a:pt x="219285" y="280183"/>
                    <a:pt x="207265" y="252715"/>
                  </a:cubicBezTo>
                  <a:cubicBezTo>
                    <a:pt x="206604" y="251198"/>
                    <a:pt x="207032" y="250107"/>
                    <a:pt x="208550" y="249446"/>
                  </a:cubicBezTo>
                  <a:lnTo>
                    <a:pt x="227646" y="241441"/>
                  </a:lnTo>
                  <a:cubicBezTo>
                    <a:pt x="229188" y="240780"/>
                    <a:pt x="230302" y="241220"/>
                    <a:pt x="230988" y="242763"/>
                  </a:cubicBezTo>
                  <a:close/>
                  <a:moveTo>
                    <a:pt x="740961" y="348047"/>
                  </a:moveTo>
                  <a:cubicBezTo>
                    <a:pt x="742015" y="351400"/>
                    <a:pt x="742661" y="354448"/>
                    <a:pt x="742907" y="357191"/>
                  </a:cubicBezTo>
                  <a:cubicBezTo>
                    <a:pt x="744328" y="372736"/>
                    <a:pt x="746884" y="395578"/>
                    <a:pt x="750582" y="425717"/>
                  </a:cubicBezTo>
                  <a:cubicBezTo>
                    <a:pt x="750729" y="427039"/>
                    <a:pt x="751474" y="427700"/>
                    <a:pt x="752822" y="427700"/>
                  </a:cubicBezTo>
                  <a:lnTo>
                    <a:pt x="988511" y="427700"/>
                  </a:lnTo>
                  <a:cubicBezTo>
                    <a:pt x="989711" y="427700"/>
                    <a:pt x="990262" y="427101"/>
                    <a:pt x="990163" y="425900"/>
                  </a:cubicBezTo>
                  <a:cubicBezTo>
                    <a:pt x="980274" y="314729"/>
                    <a:pt x="972694" y="230692"/>
                    <a:pt x="967432" y="173797"/>
                  </a:cubicBezTo>
                  <a:cubicBezTo>
                    <a:pt x="964519" y="142190"/>
                    <a:pt x="960943" y="120732"/>
                    <a:pt x="956708" y="109422"/>
                  </a:cubicBezTo>
                  <a:cubicBezTo>
                    <a:pt x="948655" y="87876"/>
                    <a:pt x="934979" y="70006"/>
                    <a:pt x="915689" y="55806"/>
                  </a:cubicBezTo>
                  <a:cubicBezTo>
                    <a:pt x="883409" y="32010"/>
                    <a:pt x="839231" y="25473"/>
                    <a:pt x="801517" y="42880"/>
                  </a:cubicBezTo>
                  <a:cubicBezTo>
                    <a:pt x="792189" y="47188"/>
                    <a:pt x="784540" y="51828"/>
                    <a:pt x="778565" y="56798"/>
                  </a:cubicBezTo>
                  <a:cubicBezTo>
                    <a:pt x="756043" y="75600"/>
                    <a:pt x="740924" y="99653"/>
                    <a:pt x="733212" y="128958"/>
                  </a:cubicBezTo>
                  <a:cubicBezTo>
                    <a:pt x="731497" y="135521"/>
                    <a:pt x="728853" y="149402"/>
                    <a:pt x="725280" y="170602"/>
                  </a:cubicBezTo>
                  <a:cubicBezTo>
                    <a:pt x="723003" y="184068"/>
                    <a:pt x="717395" y="199991"/>
                    <a:pt x="708461" y="218379"/>
                  </a:cubicBezTo>
                  <a:cubicBezTo>
                    <a:pt x="703577" y="228404"/>
                    <a:pt x="695644" y="239531"/>
                    <a:pt x="690026" y="247720"/>
                  </a:cubicBezTo>
                  <a:cubicBezTo>
                    <a:pt x="684470" y="255799"/>
                    <a:pt x="678983" y="262545"/>
                    <a:pt x="673574" y="267955"/>
                  </a:cubicBezTo>
                  <a:cubicBezTo>
                    <a:pt x="638419" y="303209"/>
                    <a:pt x="595244" y="325033"/>
                    <a:pt x="544052" y="333432"/>
                  </a:cubicBezTo>
                  <a:cubicBezTo>
                    <a:pt x="542924" y="333626"/>
                    <a:pt x="542667" y="334203"/>
                    <a:pt x="543281" y="335158"/>
                  </a:cubicBezTo>
                  <a:cubicBezTo>
                    <a:pt x="558950" y="359689"/>
                    <a:pt x="559916" y="384745"/>
                    <a:pt x="546182" y="410330"/>
                  </a:cubicBezTo>
                  <a:cubicBezTo>
                    <a:pt x="545642" y="411310"/>
                    <a:pt x="545925" y="411751"/>
                    <a:pt x="547026" y="411652"/>
                  </a:cubicBezTo>
                  <a:cubicBezTo>
                    <a:pt x="611339" y="405897"/>
                    <a:pt x="669865" y="382835"/>
                    <a:pt x="722599" y="342466"/>
                  </a:cubicBezTo>
                  <a:cubicBezTo>
                    <a:pt x="728328" y="338096"/>
                    <a:pt x="738574" y="340446"/>
                    <a:pt x="740961" y="348047"/>
                  </a:cubicBezTo>
                  <a:close/>
                  <a:moveTo>
                    <a:pt x="521394" y="218379"/>
                  </a:moveTo>
                  <a:cubicBezTo>
                    <a:pt x="517574" y="225283"/>
                    <a:pt x="508945" y="228000"/>
                    <a:pt x="502261" y="223043"/>
                  </a:cubicBezTo>
                  <a:cubicBezTo>
                    <a:pt x="498783" y="220498"/>
                    <a:pt x="496973" y="217523"/>
                    <a:pt x="496826" y="214119"/>
                  </a:cubicBezTo>
                  <a:cubicBezTo>
                    <a:pt x="496139" y="199823"/>
                    <a:pt x="490976" y="187667"/>
                    <a:pt x="481329" y="177653"/>
                  </a:cubicBezTo>
                  <a:cubicBezTo>
                    <a:pt x="471094" y="167051"/>
                    <a:pt x="459600" y="159328"/>
                    <a:pt x="446846" y="154481"/>
                  </a:cubicBezTo>
                  <a:cubicBezTo>
                    <a:pt x="444936" y="153772"/>
                    <a:pt x="443273" y="154125"/>
                    <a:pt x="441852" y="155546"/>
                  </a:cubicBezTo>
                  <a:lnTo>
                    <a:pt x="415264" y="182133"/>
                  </a:lnTo>
                  <a:cubicBezTo>
                    <a:pt x="410340" y="187054"/>
                    <a:pt x="402440" y="187282"/>
                    <a:pt x="397270" y="182647"/>
                  </a:cubicBezTo>
                  <a:lnTo>
                    <a:pt x="367120" y="155693"/>
                  </a:lnTo>
                  <a:cubicBezTo>
                    <a:pt x="365453" y="154224"/>
                    <a:pt x="363037" y="153985"/>
                    <a:pt x="361134" y="155105"/>
                  </a:cubicBezTo>
                  <a:lnTo>
                    <a:pt x="332380" y="171667"/>
                  </a:lnTo>
                  <a:cubicBezTo>
                    <a:pt x="329785" y="173184"/>
                    <a:pt x="328940" y="175376"/>
                    <a:pt x="329846" y="178241"/>
                  </a:cubicBezTo>
                  <a:cubicBezTo>
                    <a:pt x="349016" y="238051"/>
                    <a:pt x="387648" y="277613"/>
                    <a:pt x="445744" y="296929"/>
                  </a:cubicBezTo>
                  <a:cubicBezTo>
                    <a:pt x="455854" y="300282"/>
                    <a:pt x="464425" y="302449"/>
                    <a:pt x="471450" y="303429"/>
                  </a:cubicBezTo>
                  <a:cubicBezTo>
                    <a:pt x="482908" y="304997"/>
                    <a:pt x="491538" y="306466"/>
                    <a:pt x="497340" y="307836"/>
                  </a:cubicBezTo>
                  <a:cubicBezTo>
                    <a:pt x="508089" y="310359"/>
                    <a:pt x="519385" y="310884"/>
                    <a:pt x="531235" y="309415"/>
                  </a:cubicBezTo>
                  <a:cubicBezTo>
                    <a:pt x="562182" y="305570"/>
                    <a:pt x="590506" y="296000"/>
                    <a:pt x="616213" y="280698"/>
                  </a:cubicBezTo>
                  <a:cubicBezTo>
                    <a:pt x="655066" y="257562"/>
                    <a:pt x="681701" y="224207"/>
                    <a:pt x="696122" y="180627"/>
                  </a:cubicBezTo>
                  <a:cubicBezTo>
                    <a:pt x="696540" y="179320"/>
                    <a:pt x="696118" y="177884"/>
                    <a:pt x="695057" y="176992"/>
                  </a:cubicBezTo>
                  <a:cubicBezTo>
                    <a:pt x="683111" y="167249"/>
                    <a:pt x="669487" y="159758"/>
                    <a:pt x="654184" y="154517"/>
                  </a:cubicBezTo>
                  <a:cubicBezTo>
                    <a:pt x="652715" y="154029"/>
                    <a:pt x="651441" y="154323"/>
                    <a:pt x="650365" y="155399"/>
                  </a:cubicBezTo>
                  <a:lnTo>
                    <a:pt x="624328" y="181472"/>
                  </a:lnTo>
                  <a:cubicBezTo>
                    <a:pt x="618996" y="186815"/>
                    <a:pt x="610418" y="187058"/>
                    <a:pt x="604792" y="182023"/>
                  </a:cubicBezTo>
                  <a:lnTo>
                    <a:pt x="575230" y="155619"/>
                  </a:lnTo>
                  <a:cubicBezTo>
                    <a:pt x="573922" y="154444"/>
                    <a:pt x="572068" y="154091"/>
                    <a:pt x="570419" y="154701"/>
                  </a:cubicBezTo>
                  <a:cubicBezTo>
                    <a:pt x="547577" y="163368"/>
                    <a:pt x="526535" y="181582"/>
                    <a:pt x="523817" y="206958"/>
                  </a:cubicBezTo>
                  <a:cubicBezTo>
                    <a:pt x="523182" y="212786"/>
                    <a:pt x="522374" y="216590"/>
                    <a:pt x="521394" y="218379"/>
                  </a:cubicBezTo>
                  <a:close/>
                </a:path>
              </a:pathLst>
            </a:custGeom>
            <a:grpFill/>
            <a:ln w="3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Group 8">
            <a:extLst>
              <a:ext uri="{FF2B5EF4-FFF2-40B4-BE49-F238E27FC236}">
                <a16:creationId xmlns:a16="http://schemas.microsoft.com/office/drawing/2014/main" id="{C3AF1A25-3FA5-147B-A72D-5143F0D9E39A}"/>
              </a:ext>
            </a:extLst>
          </p:cNvPr>
          <p:cNvGrpSpPr/>
          <p:nvPr/>
        </p:nvGrpSpPr>
        <p:grpSpPr>
          <a:xfrm>
            <a:off x="6732588" y="2410175"/>
            <a:ext cx="4925973" cy="2037651"/>
            <a:chOff x="6833256" y="1017891"/>
            <a:chExt cx="4925973" cy="2037651"/>
          </a:xfrm>
        </p:grpSpPr>
        <p:sp>
          <p:nvSpPr>
            <p:cNvPr id="466" name="Google Shape;466;p39"/>
            <p:cNvSpPr txBox="1"/>
            <p:nvPr/>
          </p:nvSpPr>
          <p:spPr>
            <a:xfrm>
              <a:off x="6833256" y="1017891"/>
              <a:ext cx="4925973" cy="17542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500"/>
                <a:buFont typeface="Arial"/>
                <a:buNone/>
                <a:tabLst/>
                <a:defRPr/>
              </a:pPr>
              <a:r>
                <a:rPr kumimoji="0" lang="en-IN" sz="5400" b="0" i="0" u="none" strike="noStrike" kern="1200" cap="none" spc="0" normalizeH="0" baseline="0" noProof="0" dirty="0">
                  <a:ln>
                    <a:noFill/>
                  </a:ln>
                  <a:solidFill>
                    <a:srgbClr val="000000"/>
                  </a:solidFill>
                  <a:effectLst/>
                  <a:uLnTx/>
                  <a:uFillTx/>
                  <a:latin typeface="EYInterstate" panose="02000503020000020004" pitchFamily="2" charset="0"/>
                </a:rPr>
                <a:t>Quick</a:t>
              </a:r>
              <a:r>
                <a:rPr kumimoji="0" lang="en-US" sz="5400" b="0" i="0" u="none" strike="noStrike" kern="1200" cap="none" spc="0" normalizeH="0" baseline="0" noProof="0" dirty="0">
                  <a:ln>
                    <a:noFill/>
                  </a:ln>
                  <a:solidFill>
                    <a:srgbClr val="000000"/>
                  </a:solidFill>
                  <a:effectLst/>
                  <a:uLnTx/>
                  <a:uFillTx/>
                  <a:latin typeface="EYInterstate" panose="02000503020000020004" pitchFamily="2" charset="0"/>
                  <a:ea typeface="+mn-ea"/>
                  <a:cs typeface="+mn-cs"/>
                  <a:sym typeface="Montserrat SemiBold"/>
                </a:rPr>
                <a:t> </a:t>
              </a:r>
              <a:r>
                <a:rPr kumimoji="0" lang="en-IN" sz="5400" b="0" i="0" u="none" strike="noStrike" kern="0" cap="none" spc="0" normalizeH="0" baseline="0" noProof="0" dirty="0">
                  <a:ln>
                    <a:noFill/>
                  </a:ln>
                  <a:solidFill>
                    <a:srgbClr val="BFBFBF"/>
                  </a:solidFill>
                  <a:effectLst/>
                  <a:uLnTx/>
                  <a:uFillTx/>
                  <a:latin typeface="EYInterstate Light" panose="02000506000000020004" pitchFamily="2" charset="0"/>
                  <a:ea typeface="+mn-ea"/>
                  <a:cs typeface="+mn-cs"/>
                </a:rPr>
                <a:t>introduction</a:t>
              </a:r>
              <a:endParaRPr kumimoji="0" sz="5400" b="0" i="0" u="none" strike="noStrike" kern="0" cap="none" spc="0" normalizeH="0" baseline="0" noProof="0" dirty="0">
                <a:ln>
                  <a:noFill/>
                </a:ln>
                <a:solidFill>
                  <a:srgbClr val="BFBFBF"/>
                </a:solidFill>
                <a:effectLst/>
                <a:uLnTx/>
                <a:uFillTx/>
                <a:latin typeface="EYInterstate Light" panose="02000506000000020004" pitchFamily="2" charset="0"/>
                <a:ea typeface="+mn-ea"/>
                <a:cs typeface="+mn-cs"/>
                <a:sym typeface="Arial"/>
              </a:endParaRPr>
            </a:p>
          </p:txBody>
        </p:sp>
        <p:cxnSp>
          <p:nvCxnSpPr>
            <p:cNvPr id="475" name="Google Shape;475;p39"/>
            <p:cNvCxnSpPr>
              <a:cxnSpLocks/>
            </p:cNvCxnSpPr>
            <p:nvPr/>
          </p:nvCxnSpPr>
          <p:spPr>
            <a:xfrm>
              <a:off x="9057190" y="3055542"/>
              <a:ext cx="478104" cy="0"/>
            </a:xfrm>
            <a:prstGeom prst="straightConnector1">
              <a:avLst/>
            </a:prstGeom>
            <a:ln w="50800">
              <a:gradFill flip="none" rotWithShape="1">
                <a:gsLst>
                  <a:gs pos="42000">
                    <a:srgbClr val="FFE600"/>
                  </a:gs>
                  <a:gs pos="100000">
                    <a:srgbClr val="32FFFF"/>
                  </a:gs>
                  <a:gs pos="74000">
                    <a:srgbClr val="FF32FF"/>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F7F7F">
            <a:alpha val="14509"/>
          </a:srgbClr>
        </a:solidFill>
        <a:effectLst/>
      </p:bgPr>
    </p:bg>
    <p:spTree>
      <p:nvGrpSpPr>
        <p:cNvPr id="1" name="Shape 794">
          <a:extLst>
            <a:ext uri="{FF2B5EF4-FFF2-40B4-BE49-F238E27FC236}">
              <a16:creationId xmlns:a16="http://schemas.microsoft.com/office/drawing/2014/main" id="{466A5E9A-5487-2B9C-BD53-2650AB930538}"/>
            </a:ext>
          </a:extLst>
        </p:cNvPr>
        <p:cNvGrpSpPr/>
        <p:nvPr/>
      </p:nvGrpSpPr>
      <p:grpSpPr>
        <a:xfrm>
          <a:off x="0" y="0"/>
          <a:ext cx="0" cy="0"/>
          <a:chOff x="0" y="0"/>
          <a:chExt cx="0" cy="0"/>
        </a:xfrm>
      </p:grpSpPr>
      <p:sp>
        <p:nvSpPr>
          <p:cNvPr id="796" name="Google Shape;796;p51">
            <a:extLst>
              <a:ext uri="{FF2B5EF4-FFF2-40B4-BE49-F238E27FC236}">
                <a16:creationId xmlns:a16="http://schemas.microsoft.com/office/drawing/2014/main" id="{16E9EDCF-FE7C-721B-1916-933FA06F4D7F}"/>
              </a:ext>
            </a:extLst>
          </p:cNvPr>
          <p:cNvSpPr txBox="1"/>
          <p:nvPr/>
        </p:nvSpPr>
        <p:spPr>
          <a:xfrm>
            <a:off x="538479" y="542950"/>
            <a:ext cx="11508111" cy="1384954"/>
          </a:xfrm>
          <a:prstGeom prst="rect">
            <a:avLst/>
          </a:prstGeom>
          <a:noFill/>
          <a:ln>
            <a:noFill/>
          </a:ln>
        </p:spPr>
        <p:txBody>
          <a:bodyPr spcFirstLastPara="1" wrap="square" lIns="91425" tIns="45700" rIns="91425" bIns="45700" anchor="t" anchorCtr="0">
            <a:spAutoFit/>
          </a:bodyPr>
          <a:lstStyle/>
          <a:p>
            <a:pPr lvl="0">
              <a:buClr>
                <a:srgbClr val="000000"/>
              </a:buClr>
              <a:buSzPts val="3500"/>
              <a:defRPr/>
            </a:pPr>
            <a:r>
              <a:rPr lang="en-US" sz="3200" dirty="0"/>
              <a:t>We’re a team of three CSE undergrads from VNIT Nagpur.</a:t>
            </a:r>
            <a:br>
              <a:rPr lang="en-IN" sz="4000" dirty="0">
                <a:solidFill>
                  <a:srgbClr val="000000"/>
                </a:solidFill>
              </a:rPr>
            </a:br>
            <a:r>
              <a:rPr lang="en-IN" sz="2400" kern="0" dirty="0">
                <a:solidFill>
                  <a:schemeClr val="tx2">
                    <a:lumMod val="50000"/>
                  </a:schemeClr>
                </a:solidFill>
                <a:latin typeface="EYInterstate" panose="02000503020000020004" pitchFamily="2" charset="0"/>
              </a:rPr>
              <a:t>Our combined strengths – Python development, AI Workflow design, and UI/UX – make us capable of delivering a complete agentic AI solution</a:t>
            </a:r>
            <a:r>
              <a:rPr lang="en-IN" sz="2800" kern="0" dirty="0">
                <a:solidFill>
                  <a:schemeClr val="tx2">
                    <a:lumMod val="50000"/>
                  </a:schemeClr>
                </a:solidFill>
                <a:latin typeface="EYInterstate" panose="02000503020000020004" pitchFamily="2" charset="0"/>
              </a:rPr>
              <a:t>.</a:t>
            </a:r>
            <a:endParaRPr lang="en-IN" sz="4000" kern="0" dirty="0">
              <a:solidFill>
                <a:schemeClr val="tx2">
                  <a:lumMod val="50000"/>
                </a:schemeClr>
              </a:solidFill>
              <a:latin typeface="EYInterstate" panose="02000503020000020004" pitchFamily="2" charset="0"/>
            </a:endParaRPr>
          </a:p>
        </p:txBody>
      </p:sp>
      <p:cxnSp>
        <p:nvCxnSpPr>
          <p:cNvPr id="21" name="Straight Connector 20">
            <a:extLst>
              <a:ext uri="{FF2B5EF4-FFF2-40B4-BE49-F238E27FC236}">
                <a16:creationId xmlns:a16="http://schemas.microsoft.com/office/drawing/2014/main" id="{015559B6-91EE-D64F-CE9F-391A4B1DCAFA}"/>
              </a:ext>
            </a:extLst>
          </p:cNvPr>
          <p:cNvCxnSpPr/>
          <p:nvPr/>
        </p:nvCxnSpPr>
        <p:spPr>
          <a:xfrm>
            <a:off x="538480" y="456869"/>
            <a:ext cx="11158632"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E8550AE-EC45-7CFA-0FCC-CFB9ADAEE1C8}"/>
              </a:ext>
            </a:extLst>
          </p:cNvPr>
          <p:cNvCxnSpPr>
            <a:cxnSpLocks/>
          </p:cNvCxnSpPr>
          <p:nvPr/>
        </p:nvCxnSpPr>
        <p:spPr>
          <a:xfrm>
            <a:off x="0" y="6797040"/>
            <a:ext cx="12192000" cy="0"/>
          </a:xfrm>
          <a:prstGeom prst="line">
            <a:avLst/>
          </a:prstGeom>
          <a:ln w="152400">
            <a:gradFill flip="none" rotWithShape="1">
              <a:gsLst>
                <a:gs pos="32000">
                  <a:srgbClr val="FFE600"/>
                </a:gs>
                <a:gs pos="93000">
                  <a:srgbClr val="32FFFF"/>
                </a:gs>
                <a:gs pos="66000">
                  <a:srgbClr val="FF32FF"/>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807" name="Group 806">
            <a:extLst>
              <a:ext uri="{FF2B5EF4-FFF2-40B4-BE49-F238E27FC236}">
                <a16:creationId xmlns:a16="http://schemas.microsoft.com/office/drawing/2014/main" id="{A5780EE9-2A67-9889-B6AD-86CCB977A790}"/>
              </a:ext>
            </a:extLst>
          </p:cNvPr>
          <p:cNvGrpSpPr/>
          <p:nvPr/>
        </p:nvGrpSpPr>
        <p:grpSpPr>
          <a:xfrm>
            <a:off x="565812" y="2336729"/>
            <a:ext cx="2684502" cy="1066318"/>
            <a:chOff x="473533" y="1862892"/>
            <a:chExt cx="2684502" cy="1066318"/>
          </a:xfrm>
        </p:grpSpPr>
        <p:sp>
          <p:nvSpPr>
            <p:cNvPr id="808" name="Rechteck 58" descr="Creative listing layouts&#10;9 Pointer layout">
              <a:extLst>
                <a:ext uri="{FF2B5EF4-FFF2-40B4-BE49-F238E27FC236}">
                  <a16:creationId xmlns:a16="http://schemas.microsoft.com/office/drawing/2014/main" id="{C135AAE9-E2BF-F2FA-3933-59A29D151DD5}"/>
                </a:ext>
              </a:extLst>
            </p:cNvPr>
            <p:cNvSpPr/>
            <p:nvPr/>
          </p:nvSpPr>
          <p:spPr bwMode="gray">
            <a:xfrm>
              <a:off x="1200659" y="2111959"/>
              <a:ext cx="1957376" cy="204671"/>
            </a:xfrm>
            <a:prstGeom prst="rect">
              <a:avLst/>
            </a:prstGeom>
            <a:ln>
              <a:noFill/>
            </a:ln>
          </p:spPr>
          <p:txBody>
            <a:bodyPr wrap="square" lIns="0" tIns="0" rIns="0" bIns="0">
              <a:spAutoFit/>
            </a:bodyPr>
            <a:lstStyle/>
            <a:p>
              <a:pPr marL="0" marR="0" lvl="0" indent="0" algn="l" defTabSz="914400" rtl="0" eaLnBrk="1" fontAlgn="auto" latinLnBrk="0" hangingPunct="1">
                <a:lnSpc>
                  <a:spcPct val="95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000000">
                    <a:lumMod val="75000"/>
                    <a:lumOff val="25000"/>
                  </a:srgbClr>
                </a:solidFill>
                <a:effectLst/>
                <a:uLnTx/>
                <a:uFillTx/>
                <a:latin typeface="EYInterstate Light"/>
                <a:ea typeface="+mn-ea"/>
                <a:cs typeface="Arial" panose="020B0604020202020204" pitchFamily="34" charset="0"/>
              </a:endParaRPr>
            </a:p>
          </p:txBody>
        </p:sp>
        <p:sp>
          <p:nvSpPr>
            <p:cNvPr id="809" name="Google Shape;743;p48">
              <a:extLst>
                <a:ext uri="{FF2B5EF4-FFF2-40B4-BE49-F238E27FC236}">
                  <a16:creationId xmlns:a16="http://schemas.microsoft.com/office/drawing/2014/main" id="{FA590941-C770-66B1-5E8B-EA8468134B4C}"/>
                </a:ext>
              </a:extLst>
            </p:cNvPr>
            <p:cNvSpPr txBox="1"/>
            <p:nvPr/>
          </p:nvSpPr>
          <p:spPr>
            <a:xfrm rot="16200000">
              <a:off x="255845" y="2080580"/>
              <a:ext cx="1066318" cy="63094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Tx/>
                <a:buNone/>
                <a:tabLst/>
                <a:defRPr/>
              </a:pPr>
              <a:r>
                <a:rPr kumimoji="0" lang="en-US"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sym typeface="Montserrat SemiBold"/>
                </a:rPr>
                <a:t>01#</a:t>
              </a:r>
              <a:endParaRPr kumimoji="0"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sym typeface="Montserrat"/>
              </a:endParaRPr>
            </a:p>
          </p:txBody>
        </p:sp>
      </p:grpSp>
      <p:grpSp>
        <p:nvGrpSpPr>
          <p:cNvPr id="816" name="Group 815">
            <a:extLst>
              <a:ext uri="{FF2B5EF4-FFF2-40B4-BE49-F238E27FC236}">
                <a16:creationId xmlns:a16="http://schemas.microsoft.com/office/drawing/2014/main" id="{D005CF74-3334-2C7A-C4E6-AA23D5E12221}"/>
              </a:ext>
            </a:extLst>
          </p:cNvPr>
          <p:cNvGrpSpPr/>
          <p:nvPr/>
        </p:nvGrpSpPr>
        <p:grpSpPr>
          <a:xfrm>
            <a:off x="4468596" y="2336729"/>
            <a:ext cx="3219828" cy="1334340"/>
            <a:chOff x="461852" y="1900904"/>
            <a:chExt cx="3219828" cy="1334340"/>
          </a:xfrm>
        </p:grpSpPr>
        <p:sp>
          <p:nvSpPr>
            <p:cNvPr id="817" name="Rechteck 58" descr="Creative listing layouts&#10;9 Pointer layout">
              <a:extLst>
                <a:ext uri="{FF2B5EF4-FFF2-40B4-BE49-F238E27FC236}">
                  <a16:creationId xmlns:a16="http://schemas.microsoft.com/office/drawing/2014/main" id="{A4E28FBE-C901-2F3B-D749-9F651C5E266E}"/>
                </a:ext>
              </a:extLst>
            </p:cNvPr>
            <p:cNvSpPr/>
            <p:nvPr/>
          </p:nvSpPr>
          <p:spPr bwMode="gray">
            <a:xfrm>
              <a:off x="1307102" y="2065180"/>
              <a:ext cx="2374578" cy="1170064"/>
            </a:xfrm>
            <a:prstGeom prst="rect">
              <a:avLst/>
            </a:prstGeom>
            <a:ln>
              <a:noFill/>
            </a:ln>
          </p:spPr>
          <p:txBody>
            <a:bodyPr wrap="square" lIns="0" tIns="0" rIns="0" bIns="0">
              <a:spAutoFit/>
            </a:bodyPr>
            <a:lstStyle/>
            <a:p>
              <a:pPr>
                <a:lnSpc>
                  <a:spcPct val="95000"/>
                </a:lnSpc>
                <a:spcAft>
                  <a:spcPts val="800"/>
                </a:spcAft>
                <a:defRPr/>
              </a:pPr>
              <a:r>
                <a:rPr lang="en-IN" sz="1100" dirty="0"/>
                <a:t>Supraja </a:t>
              </a:r>
              <a:r>
                <a:rPr lang="en-IN" sz="1100" dirty="0" err="1"/>
                <a:t>Soudu</a:t>
              </a:r>
              <a:endParaRPr lang="en-IN" sz="1100" dirty="0"/>
            </a:p>
            <a:p>
              <a:pPr>
                <a:lnSpc>
                  <a:spcPct val="95000"/>
                </a:lnSpc>
                <a:spcAft>
                  <a:spcPts val="800"/>
                </a:spcAft>
                <a:defRPr/>
              </a:pPr>
              <a:r>
                <a:rPr lang="en-IN" sz="1100" dirty="0"/>
                <a:t>-</a:t>
              </a:r>
              <a:r>
                <a:rPr lang="en-US" sz="1100" dirty="0"/>
                <a:t>Designs user-friendly dashboards and presentation visuals for intuitive interaction and data visualization</a:t>
              </a:r>
            </a:p>
            <a:p>
              <a:pPr>
                <a:lnSpc>
                  <a:spcPct val="95000"/>
                </a:lnSpc>
                <a:spcAft>
                  <a:spcPts val="800"/>
                </a:spcAft>
                <a:defRPr/>
              </a:pPr>
              <a:r>
                <a:rPr lang="en-US" sz="1100" dirty="0"/>
                <a:t>-Canva, Figma, </a:t>
              </a:r>
              <a:r>
                <a:rPr lang="en-US" sz="1100" dirty="0" err="1"/>
                <a:t>Streamlit</a:t>
              </a:r>
              <a:r>
                <a:rPr lang="en-US" sz="1100" dirty="0"/>
                <a:t> UI, PowerPoint Design, User Experience</a:t>
              </a:r>
              <a:endParaRPr lang="en-IN" sz="1100" dirty="0"/>
            </a:p>
          </p:txBody>
        </p:sp>
        <p:sp>
          <p:nvSpPr>
            <p:cNvPr id="818" name="Google Shape;743;p48">
              <a:extLst>
                <a:ext uri="{FF2B5EF4-FFF2-40B4-BE49-F238E27FC236}">
                  <a16:creationId xmlns:a16="http://schemas.microsoft.com/office/drawing/2014/main" id="{DDC4A118-9D8F-2D46-01FC-447DBD3E57F8}"/>
                </a:ext>
              </a:extLst>
            </p:cNvPr>
            <p:cNvSpPr txBox="1"/>
            <p:nvPr/>
          </p:nvSpPr>
          <p:spPr>
            <a:xfrm rot="16200000">
              <a:off x="244144" y="2118612"/>
              <a:ext cx="1066318" cy="6309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Tx/>
                <a:buNone/>
                <a:tabLst/>
                <a:defRPr/>
              </a:pPr>
              <a:r>
                <a:rPr kumimoji="0" lang="en-US"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ea typeface="+mn-ea"/>
                  <a:cs typeface="+mn-cs"/>
                  <a:sym typeface="Montserrat SemiBold"/>
                </a:rPr>
                <a:t>02#</a:t>
              </a:r>
              <a:endParaRPr kumimoji="0"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ea typeface="+mn-ea"/>
                <a:cs typeface="+mn-cs"/>
                <a:sym typeface="Montserrat"/>
              </a:endParaRPr>
            </a:p>
          </p:txBody>
        </p:sp>
      </p:grpSp>
      <p:grpSp>
        <p:nvGrpSpPr>
          <p:cNvPr id="825" name="Group 824">
            <a:extLst>
              <a:ext uri="{FF2B5EF4-FFF2-40B4-BE49-F238E27FC236}">
                <a16:creationId xmlns:a16="http://schemas.microsoft.com/office/drawing/2014/main" id="{E3CC175E-40E4-090E-83A2-1230AE24EF38}"/>
              </a:ext>
            </a:extLst>
          </p:cNvPr>
          <p:cNvGrpSpPr/>
          <p:nvPr/>
        </p:nvGrpSpPr>
        <p:grpSpPr>
          <a:xfrm>
            <a:off x="8352129" y="2336729"/>
            <a:ext cx="2684462" cy="1618758"/>
            <a:chOff x="446619" y="1862892"/>
            <a:chExt cx="2684462" cy="1618758"/>
          </a:xfrm>
        </p:grpSpPr>
        <p:sp>
          <p:nvSpPr>
            <p:cNvPr id="826" name="Rechteck 58" descr="Creative listing layouts&#10;9 Pointer layout">
              <a:extLst>
                <a:ext uri="{FF2B5EF4-FFF2-40B4-BE49-F238E27FC236}">
                  <a16:creationId xmlns:a16="http://schemas.microsoft.com/office/drawing/2014/main" id="{F75B3E74-B209-D5BF-5B8C-0EDB5271CEF6}"/>
                </a:ext>
              </a:extLst>
            </p:cNvPr>
            <p:cNvSpPr/>
            <p:nvPr/>
          </p:nvSpPr>
          <p:spPr bwMode="gray">
            <a:xfrm>
              <a:off x="1173705" y="1989960"/>
              <a:ext cx="1957376" cy="1491690"/>
            </a:xfrm>
            <a:prstGeom prst="rect">
              <a:avLst/>
            </a:prstGeom>
            <a:ln>
              <a:noFill/>
            </a:ln>
          </p:spPr>
          <p:txBody>
            <a:bodyPr wrap="square" lIns="0" tIns="0" rIns="0" bIns="0">
              <a:spAutoFit/>
            </a:bodyPr>
            <a:lstStyle/>
            <a:p>
              <a:pPr>
                <a:lnSpc>
                  <a:spcPct val="95000"/>
                </a:lnSpc>
                <a:spcAft>
                  <a:spcPts val="800"/>
                </a:spcAft>
                <a:defRPr/>
              </a:pPr>
              <a:r>
                <a:rPr lang="en-IN" sz="1100" dirty="0"/>
                <a:t>Shravya Puram</a:t>
              </a:r>
            </a:p>
            <a:p>
              <a:pPr>
                <a:lnSpc>
                  <a:spcPct val="95000"/>
                </a:lnSpc>
                <a:spcAft>
                  <a:spcPts val="800"/>
                </a:spcAft>
                <a:defRPr/>
              </a:pPr>
              <a:r>
                <a:rPr lang="en-IN" sz="1100" dirty="0"/>
                <a:t>-</a:t>
              </a:r>
              <a:r>
                <a:rPr lang="en-US" sz="1100" dirty="0"/>
                <a:t>Develops and tunes logic for data enrichment and quality scoring using agentic design principles</a:t>
              </a:r>
            </a:p>
            <a:p>
              <a:pPr>
                <a:lnSpc>
                  <a:spcPct val="95000"/>
                </a:lnSpc>
                <a:spcAft>
                  <a:spcPts val="800"/>
                </a:spcAft>
                <a:defRPr/>
              </a:pPr>
              <a:r>
                <a:rPr lang="en-US" sz="1100" dirty="0"/>
                <a:t>-Data Cleaning, AI Workflow Design, SQL, Data Quality Metrics, Prompt Engineering</a:t>
              </a:r>
              <a:endParaRPr lang="en-IN" sz="1100" dirty="0"/>
            </a:p>
          </p:txBody>
        </p:sp>
        <p:sp>
          <p:nvSpPr>
            <p:cNvPr id="827" name="Google Shape;743;p48">
              <a:extLst>
                <a:ext uri="{FF2B5EF4-FFF2-40B4-BE49-F238E27FC236}">
                  <a16:creationId xmlns:a16="http://schemas.microsoft.com/office/drawing/2014/main" id="{6D0F1060-ABB6-959F-39CE-81F40AF9347C}"/>
                </a:ext>
              </a:extLst>
            </p:cNvPr>
            <p:cNvSpPr txBox="1"/>
            <p:nvPr/>
          </p:nvSpPr>
          <p:spPr>
            <a:xfrm rot="16200000">
              <a:off x="228911" y="2080600"/>
              <a:ext cx="1066318" cy="6309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Tx/>
                <a:buNone/>
                <a:tabLst/>
                <a:defRPr/>
              </a:pPr>
              <a:r>
                <a:rPr kumimoji="0" lang="en-US"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ea typeface="+mn-ea"/>
                  <a:cs typeface="+mn-cs"/>
                  <a:sym typeface="Montserrat SemiBold"/>
                </a:rPr>
                <a:t>03#</a:t>
              </a:r>
              <a:endParaRPr kumimoji="0"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ea typeface="+mn-ea"/>
                <a:cs typeface="+mn-cs"/>
                <a:sym typeface="Montserrat"/>
              </a:endParaRPr>
            </a:p>
          </p:txBody>
        </p:sp>
      </p:grpSp>
      <p:sp>
        <p:nvSpPr>
          <p:cNvPr id="830" name="Google Shape;743;p48">
            <a:extLst>
              <a:ext uri="{FF2B5EF4-FFF2-40B4-BE49-F238E27FC236}">
                <a16:creationId xmlns:a16="http://schemas.microsoft.com/office/drawing/2014/main" id="{E0E3384F-E9D4-6E90-6195-A8015C31A065}"/>
              </a:ext>
            </a:extLst>
          </p:cNvPr>
          <p:cNvSpPr txBox="1"/>
          <p:nvPr/>
        </p:nvSpPr>
        <p:spPr>
          <a:xfrm rot="16200000">
            <a:off x="8149654" y="4393485"/>
            <a:ext cx="1066318" cy="6309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3500"/>
              <a:buFontTx/>
              <a:buNone/>
              <a:tabLst/>
              <a:defRPr/>
            </a:pPr>
            <a:endParaRPr kumimoji="0" sz="3500" b="1" i="0" u="none" strike="noStrike" kern="1200" cap="none" spc="0" normalizeH="0" baseline="0" noProof="0" dirty="0">
              <a:ln>
                <a:noFill/>
              </a:ln>
              <a:solidFill>
                <a:srgbClr val="000000">
                  <a:lumMod val="85000"/>
                  <a:lumOff val="15000"/>
                </a:srgbClr>
              </a:solidFill>
              <a:effectLst/>
              <a:uLnTx/>
              <a:uFillTx/>
              <a:latin typeface="EYInterstate" panose="02000503020000020004" pitchFamily="2" charset="0"/>
              <a:ea typeface="+mn-ea"/>
              <a:cs typeface="+mn-cs"/>
              <a:sym typeface="Montserrat"/>
            </a:endParaRPr>
          </a:p>
        </p:txBody>
      </p:sp>
      <p:grpSp>
        <p:nvGrpSpPr>
          <p:cNvPr id="834" name="Group 833">
            <a:extLst>
              <a:ext uri="{FF2B5EF4-FFF2-40B4-BE49-F238E27FC236}">
                <a16:creationId xmlns:a16="http://schemas.microsoft.com/office/drawing/2014/main" id="{1088EA88-3201-ED41-E41F-6C534C02BA31}"/>
              </a:ext>
            </a:extLst>
          </p:cNvPr>
          <p:cNvGrpSpPr/>
          <p:nvPr/>
        </p:nvGrpSpPr>
        <p:grpSpPr>
          <a:xfrm>
            <a:off x="696696" y="4175777"/>
            <a:ext cx="3060803" cy="0"/>
            <a:chOff x="604417" y="2034182"/>
            <a:chExt cx="3060803" cy="0"/>
          </a:xfrm>
        </p:grpSpPr>
        <p:cxnSp>
          <p:nvCxnSpPr>
            <p:cNvPr id="835" name="Straight Connector 834">
              <a:extLst>
                <a:ext uri="{FF2B5EF4-FFF2-40B4-BE49-F238E27FC236}">
                  <a16:creationId xmlns:a16="http://schemas.microsoft.com/office/drawing/2014/main" id="{2E4716E7-C96D-0BFA-F991-E75E6EAA4332}"/>
                </a:ext>
              </a:extLst>
            </p:cNvPr>
            <p:cNvCxnSpPr>
              <a:cxnSpLocks/>
            </p:cNvCxnSpPr>
            <p:nvPr/>
          </p:nvCxnSpPr>
          <p:spPr>
            <a:xfrm>
              <a:off x="604417" y="2034182"/>
              <a:ext cx="3060803" cy="0"/>
            </a:xfrm>
            <a:prstGeom prst="line">
              <a:avLst/>
            </a:prstGeom>
            <a:noFill/>
            <a:ln w="9525" cap="flat" cmpd="sng" algn="ctr">
              <a:solidFill>
                <a:srgbClr val="FFFFFF">
                  <a:lumMod val="75000"/>
                </a:srgbClr>
              </a:solidFill>
              <a:prstDash val="solid"/>
              <a:tailEnd type="none"/>
            </a:ln>
            <a:effectLst/>
          </p:spPr>
        </p:cxnSp>
        <p:cxnSp>
          <p:nvCxnSpPr>
            <p:cNvPr id="836" name="Straight Connector 835">
              <a:extLst>
                <a:ext uri="{FF2B5EF4-FFF2-40B4-BE49-F238E27FC236}">
                  <a16:creationId xmlns:a16="http://schemas.microsoft.com/office/drawing/2014/main" id="{AB0DF1ED-D2F9-6F6B-B1E0-07A259DE9A3B}"/>
                </a:ext>
              </a:extLst>
            </p:cNvPr>
            <p:cNvCxnSpPr>
              <a:cxnSpLocks/>
            </p:cNvCxnSpPr>
            <p:nvPr/>
          </p:nvCxnSpPr>
          <p:spPr>
            <a:xfrm>
              <a:off x="704836" y="2034182"/>
              <a:ext cx="399639" cy="0"/>
            </a:xfrm>
            <a:prstGeom prst="line">
              <a:avLst/>
            </a:prstGeom>
            <a:noFill/>
            <a:ln w="41275" cap="rnd" cmpd="sng" algn="ctr">
              <a:gradFill flip="none" rotWithShape="1">
                <a:gsLst>
                  <a:gs pos="29000">
                    <a:srgbClr val="FFE600"/>
                  </a:gs>
                  <a:gs pos="74000">
                    <a:srgbClr val="FF32FF"/>
                  </a:gs>
                  <a:gs pos="100000">
                    <a:srgbClr val="32FFFF"/>
                  </a:gs>
                </a:gsLst>
                <a:lin ang="0" scaled="1"/>
                <a:tileRect/>
              </a:gradFill>
              <a:prstDash val="solid"/>
              <a:tailEnd type="none"/>
            </a:ln>
            <a:effectLst/>
          </p:spPr>
        </p:cxnSp>
      </p:grpSp>
      <p:grpSp>
        <p:nvGrpSpPr>
          <p:cNvPr id="840" name="Group 839">
            <a:extLst>
              <a:ext uri="{FF2B5EF4-FFF2-40B4-BE49-F238E27FC236}">
                <a16:creationId xmlns:a16="http://schemas.microsoft.com/office/drawing/2014/main" id="{F1F14388-44BD-7A96-BA89-6D2DFAB62C6E}"/>
              </a:ext>
            </a:extLst>
          </p:cNvPr>
          <p:cNvGrpSpPr/>
          <p:nvPr/>
        </p:nvGrpSpPr>
        <p:grpSpPr>
          <a:xfrm>
            <a:off x="4468596" y="4175777"/>
            <a:ext cx="3060803" cy="0"/>
            <a:chOff x="604417" y="2034182"/>
            <a:chExt cx="3060803" cy="0"/>
          </a:xfrm>
        </p:grpSpPr>
        <p:cxnSp>
          <p:nvCxnSpPr>
            <p:cNvPr id="841" name="Straight Connector 840">
              <a:extLst>
                <a:ext uri="{FF2B5EF4-FFF2-40B4-BE49-F238E27FC236}">
                  <a16:creationId xmlns:a16="http://schemas.microsoft.com/office/drawing/2014/main" id="{83A773AA-1C89-55B4-9F61-D0A7DBA8FFD9}"/>
                </a:ext>
              </a:extLst>
            </p:cNvPr>
            <p:cNvCxnSpPr>
              <a:cxnSpLocks/>
            </p:cNvCxnSpPr>
            <p:nvPr/>
          </p:nvCxnSpPr>
          <p:spPr>
            <a:xfrm>
              <a:off x="604417" y="2034182"/>
              <a:ext cx="3060803" cy="0"/>
            </a:xfrm>
            <a:prstGeom prst="line">
              <a:avLst/>
            </a:prstGeom>
            <a:noFill/>
            <a:ln w="9525" cap="flat" cmpd="sng" algn="ctr">
              <a:solidFill>
                <a:srgbClr val="FFFFFF">
                  <a:lumMod val="75000"/>
                </a:srgbClr>
              </a:solidFill>
              <a:prstDash val="solid"/>
              <a:tailEnd type="none"/>
            </a:ln>
            <a:effectLst/>
          </p:spPr>
        </p:cxnSp>
        <p:cxnSp>
          <p:nvCxnSpPr>
            <p:cNvPr id="842" name="Straight Connector 841">
              <a:extLst>
                <a:ext uri="{FF2B5EF4-FFF2-40B4-BE49-F238E27FC236}">
                  <a16:creationId xmlns:a16="http://schemas.microsoft.com/office/drawing/2014/main" id="{5CC76366-A8BB-6DDC-4D73-16707209AB33}"/>
                </a:ext>
              </a:extLst>
            </p:cNvPr>
            <p:cNvCxnSpPr>
              <a:cxnSpLocks/>
            </p:cNvCxnSpPr>
            <p:nvPr/>
          </p:nvCxnSpPr>
          <p:spPr>
            <a:xfrm>
              <a:off x="704836" y="2034182"/>
              <a:ext cx="399639" cy="0"/>
            </a:xfrm>
            <a:prstGeom prst="line">
              <a:avLst/>
            </a:prstGeom>
            <a:noFill/>
            <a:ln w="41275" cap="rnd" cmpd="sng" algn="ctr">
              <a:gradFill flip="none" rotWithShape="1">
                <a:gsLst>
                  <a:gs pos="29000">
                    <a:srgbClr val="FFE600"/>
                  </a:gs>
                  <a:gs pos="74000">
                    <a:srgbClr val="FF32FF"/>
                  </a:gs>
                  <a:gs pos="100000">
                    <a:srgbClr val="32FFFF"/>
                  </a:gs>
                </a:gsLst>
                <a:lin ang="0" scaled="1"/>
                <a:tileRect/>
              </a:gradFill>
              <a:prstDash val="solid"/>
              <a:tailEnd type="none"/>
            </a:ln>
            <a:effectLst/>
          </p:spPr>
        </p:cxnSp>
      </p:grpSp>
      <p:grpSp>
        <p:nvGrpSpPr>
          <p:cNvPr id="846" name="Group 845">
            <a:extLst>
              <a:ext uri="{FF2B5EF4-FFF2-40B4-BE49-F238E27FC236}">
                <a16:creationId xmlns:a16="http://schemas.microsoft.com/office/drawing/2014/main" id="{22FCF755-09E6-13CB-CABD-899137EFBB8A}"/>
              </a:ext>
            </a:extLst>
          </p:cNvPr>
          <p:cNvGrpSpPr/>
          <p:nvPr/>
        </p:nvGrpSpPr>
        <p:grpSpPr>
          <a:xfrm>
            <a:off x="8367342" y="4175777"/>
            <a:ext cx="3060803" cy="0"/>
            <a:chOff x="604417" y="2034182"/>
            <a:chExt cx="3060803" cy="0"/>
          </a:xfrm>
        </p:grpSpPr>
        <p:cxnSp>
          <p:nvCxnSpPr>
            <p:cNvPr id="847" name="Straight Connector 846">
              <a:extLst>
                <a:ext uri="{FF2B5EF4-FFF2-40B4-BE49-F238E27FC236}">
                  <a16:creationId xmlns:a16="http://schemas.microsoft.com/office/drawing/2014/main" id="{0BB012B7-29F5-8ABC-5BDE-9E561F27E033}"/>
                </a:ext>
              </a:extLst>
            </p:cNvPr>
            <p:cNvCxnSpPr>
              <a:cxnSpLocks/>
            </p:cNvCxnSpPr>
            <p:nvPr/>
          </p:nvCxnSpPr>
          <p:spPr>
            <a:xfrm>
              <a:off x="604417" y="2034182"/>
              <a:ext cx="3060803" cy="0"/>
            </a:xfrm>
            <a:prstGeom prst="line">
              <a:avLst/>
            </a:prstGeom>
            <a:noFill/>
            <a:ln w="9525" cap="flat" cmpd="sng" algn="ctr">
              <a:solidFill>
                <a:srgbClr val="FFFFFF">
                  <a:lumMod val="75000"/>
                </a:srgbClr>
              </a:solidFill>
              <a:prstDash val="solid"/>
              <a:tailEnd type="none"/>
            </a:ln>
            <a:effectLst/>
          </p:spPr>
        </p:cxnSp>
        <p:cxnSp>
          <p:nvCxnSpPr>
            <p:cNvPr id="848" name="Straight Connector 847">
              <a:extLst>
                <a:ext uri="{FF2B5EF4-FFF2-40B4-BE49-F238E27FC236}">
                  <a16:creationId xmlns:a16="http://schemas.microsoft.com/office/drawing/2014/main" id="{70F3232F-1129-E366-D01E-32BF8777101F}"/>
                </a:ext>
              </a:extLst>
            </p:cNvPr>
            <p:cNvCxnSpPr>
              <a:cxnSpLocks/>
            </p:cNvCxnSpPr>
            <p:nvPr/>
          </p:nvCxnSpPr>
          <p:spPr>
            <a:xfrm>
              <a:off x="704836" y="2034182"/>
              <a:ext cx="399639" cy="0"/>
            </a:xfrm>
            <a:prstGeom prst="line">
              <a:avLst/>
            </a:prstGeom>
            <a:noFill/>
            <a:ln w="41275" cap="rnd" cmpd="sng" algn="ctr">
              <a:gradFill flip="none" rotWithShape="1">
                <a:gsLst>
                  <a:gs pos="29000">
                    <a:srgbClr val="FFE600"/>
                  </a:gs>
                  <a:gs pos="74000">
                    <a:srgbClr val="FF32FF"/>
                  </a:gs>
                  <a:gs pos="100000">
                    <a:srgbClr val="32FFFF"/>
                  </a:gs>
                </a:gsLst>
                <a:lin ang="0" scaled="1"/>
                <a:tileRect/>
              </a:gradFill>
              <a:prstDash val="solid"/>
              <a:tailEnd type="none"/>
            </a:ln>
            <a:effectLst/>
          </p:spPr>
        </p:cxnSp>
      </p:grpSp>
      <p:sp>
        <p:nvSpPr>
          <p:cNvPr id="3" name="TextBox 2">
            <a:extLst>
              <a:ext uri="{FF2B5EF4-FFF2-40B4-BE49-F238E27FC236}">
                <a16:creationId xmlns:a16="http://schemas.microsoft.com/office/drawing/2014/main" id="{8138A853-73F7-D7FD-86CF-F6CB950C4525}"/>
              </a:ext>
            </a:extLst>
          </p:cNvPr>
          <p:cNvSpPr txBox="1"/>
          <p:nvPr/>
        </p:nvSpPr>
        <p:spPr>
          <a:xfrm>
            <a:off x="1267405" y="2421371"/>
            <a:ext cx="2285290" cy="1615827"/>
          </a:xfrm>
          <a:prstGeom prst="rect">
            <a:avLst/>
          </a:prstGeom>
          <a:noFill/>
        </p:spPr>
        <p:txBody>
          <a:bodyPr wrap="square">
            <a:spAutoFit/>
          </a:bodyPr>
          <a:lstStyle/>
          <a:p>
            <a:r>
              <a:rPr lang="en-IN" sz="1100" dirty="0"/>
              <a:t>Anurag Marda</a:t>
            </a:r>
          </a:p>
          <a:p>
            <a:endParaRPr lang="en-IN" sz="1100" dirty="0"/>
          </a:p>
          <a:p>
            <a:r>
              <a:rPr lang="en-IN" sz="1100" dirty="0"/>
              <a:t>-</a:t>
            </a:r>
            <a:r>
              <a:rPr lang="en-US" sz="1100" dirty="0"/>
              <a:t>Leads technical development; implements Python automation and AI logic for data validation &amp; reporting</a:t>
            </a:r>
          </a:p>
          <a:p>
            <a:r>
              <a:rPr lang="en-IN" sz="1100" dirty="0"/>
              <a:t>-</a:t>
            </a:r>
            <a:r>
              <a:rPr lang="en-US" sz="1100" dirty="0"/>
              <a:t>Python, Pandas, </a:t>
            </a:r>
            <a:r>
              <a:rPr lang="en-US" sz="1100" dirty="0" err="1"/>
              <a:t>BeautifulSoup</a:t>
            </a:r>
            <a:r>
              <a:rPr lang="en-US" sz="1100" dirty="0"/>
              <a:t>, </a:t>
            </a:r>
            <a:r>
              <a:rPr lang="en-US" sz="1100" dirty="0" err="1"/>
              <a:t>Streamlit</a:t>
            </a:r>
            <a:r>
              <a:rPr lang="en-US" sz="1100" dirty="0"/>
              <a:t>, File Handling, Data Processing</a:t>
            </a:r>
          </a:p>
        </p:txBody>
      </p:sp>
    </p:spTree>
    <p:extLst>
      <p:ext uri="{BB962C8B-B14F-4D97-AF65-F5344CB8AC3E}">
        <p14:creationId xmlns:p14="http://schemas.microsoft.com/office/powerpoint/2010/main" val="2153159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C2E43A9-2DDA-0E8F-5F8C-849E1F1BDC4D}"/>
              </a:ext>
            </a:extLst>
          </p:cNvPr>
          <p:cNvSpPr/>
          <p:nvPr/>
        </p:nvSpPr>
        <p:spPr>
          <a:xfrm>
            <a:off x="3498209" y="176169"/>
            <a:ext cx="8514826" cy="6505662"/>
          </a:xfrm>
          <a:prstGeom prst="roundRect">
            <a:avLst>
              <a:gd name="adj" fmla="val 0"/>
            </a:avLst>
          </a:prstGeom>
          <a:solidFill>
            <a:srgbClr val="FFFFFF">
              <a:lumMod val="95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5" name="Rectangle 4">
            <a:extLst>
              <a:ext uri="{FF2B5EF4-FFF2-40B4-BE49-F238E27FC236}">
                <a16:creationId xmlns:a16="http://schemas.microsoft.com/office/drawing/2014/main" id="{B366B56E-2CAA-70DC-713A-D2CB5C199EA1}"/>
              </a:ext>
            </a:extLst>
          </p:cNvPr>
          <p:cNvSpPr/>
          <p:nvPr/>
        </p:nvSpPr>
        <p:spPr>
          <a:xfrm>
            <a:off x="178964" y="176169"/>
            <a:ext cx="3610827" cy="6505662"/>
          </a:xfrm>
          <a:prstGeom prst="rect">
            <a:avLst/>
          </a:prstGeom>
          <a:solidFill>
            <a:sysClr val="window" lastClr="FFFFFF"/>
          </a:solidFill>
          <a:ln>
            <a:noFill/>
          </a:ln>
          <a:effectLst>
            <a:outerShdw blurRad="190500" algn="t" rotWithShape="0">
              <a:srgbClr val="3F3F3F">
                <a:alpha val="29000"/>
              </a:srgbClr>
            </a:outerShdw>
          </a:effectLst>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pic>
        <p:nvPicPr>
          <p:cNvPr id="6" name="Picture 5">
            <a:extLst>
              <a:ext uri="{FF2B5EF4-FFF2-40B4-BE49-F238E27FC236}">
                <a16:creationId xmlns:a16="http://schemas.microsoft.com/office/drawing/2014/main" id="{9AB136B6-EFDC-2774-54B6-EF18DF19CD64}"/>
              </a:ext>
            </a:extLst>
          </p:cNvPr>
          <p:cNvPicPr>
            <a:picLocks noChangeAspect="1"/>
          </p:cNvPicPr>
          <p:nvPr/>
        </p:nvPicPr>
        <p:blipFill>
          <a:blip r:embed="rId3" cstate="print">
            <a:extLst>
              <a:ext uri="{28A0092B-C50C-407E-A947-70E740481C1C}">
                <a14:useLocalDpi xmlns:a14="http://schemas.microsoft.com/office/drawing/2010/main" val="0"/>
              </a:ext>
            </a:extLst>
          </a:blip>
          <a:srcRect l="30383" r="10837"/>
          <a:stretch/>
        </p:blipFill>
        <p:spPr>
          <a:xfrm>
            <a:off x="178964" y="176169"/>
            <a:ext cx="3610826" cy="6505662"/>
          </a:xfrm>
          <a:prstGeom prst="rect">
            <a:avLst/>
          </a:prstGeom>
          <a:solidFill>
            <a:sysClr val="window" lastClr="FFFFFF"/>
          </a:solidFill>
          <a:ln>
            <a:noFill/>
          </a:ln>
          <a:effectLst>
            <a:outerShdw blurRad="190500" algn="t" rotWithShape="0">
              <a:srgbClr val="3F3F3F">
                <a:alpha val="29000"/>
              </a:srgbClr>
            </a:outerShdw>
          </a:effectLst>
        </p:spPr>
      </p:pic>
      <p:sp>
        <p:nvSpPr>
          <p:cNvPr id="7" name="Rectangle 6">
            <a:extLst>
              <a:ext uri="{FF2B5EF4-FFF2-40B4-BE49-F238E27FC236}">
                <a16:creationId xmlns:a16="http://schemas.microsoft.com/office/drawing/2014/main" id="{37FB44BB-87E1-BF5D-7A93-0FDE726C69E0}"/>
              </a:ext>
            </a:extLst>
          </p:cNvPr>
          <p:cNvSpPr/>
          <p:nvPr/>
        </p:nvSpPr>
        <p:spPr>
          <a:xfrm>
            <a:off x="178965" y="176169"/>
            <a:ext cx="3610826" cy="6505662"/>
          </a:xfrm>
          <a:prstGeom prst="rect">
            <a:avLst/>
          </a:prstGeom>
          <a:solidFill>
            <a:srgbClr val="000000">
              <a:alpha val="79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2E2E38"/>
              </a:solidFill>
              <a:effectLst/>
              <a:uLnTx/>
              <a:uFillTx/>
              <a:latin typeface="EYInterstate Light"/>
              <a:ea typeface="+mn-ea"/>
              <a:cs typeface="+mn-cs"/>
            </a:endParaRPr>
          </a:p>
        </p:txBody>
      </p:sp>
      <p:sp>
        <p:nvSpPr>
          <p:cNvPr id="8" name="Rectangle 7">
            <a:extLst>
              <a:ext uri="{FF2B5EF4-FFF2-40B4-BE49-F238E27FC236}">
                <a16:creationId xmlns:a16="http://schemas.microsoft.com/office/drawing/2014/main" id="{97562B48-78B8-EA94-A692-4954BEF40558}"/>
              </a:ext>
            </a:extLst>
          </p:cNvPr>
          <p:cNvSpPr/>
          <p:nvPr/>
        </p:nvSpPr>
        <p:spPr>
          <a:xfrm>
            <a:off x="0" y="176169"/>
            <a:ext cx="5206356" cy="6505662"/>
          </a:xfrm>
          <a:prstGeom prst="rect">
            <a:avLst/>
          </a:prstGeom>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grpSp>
        <p:nvGrpSpPr>
          <p:cNvPr id="9" name="Group 8">
            <a:extLst>
              <a:ext uri="{FF2B5EF4-FFF2-40B4-BE49-F238E27FC236}">
                <a16:creationId xmlns:a16="http://schemas.microsoft.com/office/drawing/2014/main" id="{AAEBCC31-794E-FAE0-8F22-ED33EEC05076}"/>
              </a:ext>
            </a:extLst>
          </p:cNvPr>
          <p:cNvGrpSpPr/>
          <p:nvPr/>
        </p:nvGrpSpPr>
        <p:grpSpPr>
          <a:xfrm>
            <a:off x="331316" y="1320731"/>
            <a:ext cx="3153828" cy="4157543"/>
            <a:chOff x="470216" y="-14872"/>
            <a:chExt cx="3153828" cy="4157543"/>
          </a:xfrm>
        </p:grpSpPr>
        <p:sp>
          <p:nvSpPr>
            <p:cNvPr id="10" name="Rectangle 9">
              <a:extLst>
                <a:ext uri="{FF2B5EF4-FFF2-40B4-BE49-F238E27FC236}">
                  <a16:creationId xmlns:a16="http://schemas.microsoft.com/office/drawing/2014/main" id="{F6098954-2F81-438B-32F8-99D8E14F8C2B}"/>
                </a:ext>
              </a:extLst>
            </p:cNvPr>
            <p:cNvSpPr/>
            <p:nvPr/>
          </p:nvSpPr>
          <p:spPr>
            <a:xfrm>
              <a:off x="470216" y="-14872"/>
              <a:ext cx="3153828" cy="3477875"/>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4400" b="0" i="0" u="none" strike="noStrike" kern="0" cap="none" spc="0" normalizeH="0" baseline="0" noProof="0" dirty="0">
                  <a:ln>
                    <a:noFill/>
                  </a:ln>
                  <a:solidFill>
                    <a:srgbClr val="FFFFFF"/>
                  </a:solidFill>
                  <a:effectLst/>
                  <a:uLnTx/>
                  <a:uFillTx/>
                </a:rPr>
                <a:t>Problem statement you wish to address and why </a:t>
              </a:r>
              <a:endParaRPr kumimoji="0" lang="en-US" sz="4400" b="0" i="0" u="none" strike="noStrike" kern="0" cap="none" spc="0" normalizeH="0" baseline="0" noProof="0" dirty="0">
                <a:ln>
                  <a:noFill/>
                </a:ln>
                <a:solidFill>
                  <a:schemeClr val="bg1">
                    <a:lumMod val="10000"/>
                    <a:lumOff val="90000"/>
                  </a:schemeClr>
                </a:solidFill>
                <a:effectLst/>
                <a:uLnTx/>
                <a:uFillTx/>
              </a:endParaRPr>
            </a:p>
          </p:txBody>
        </p:sp>
        <p:cxnSp>
          <p:nvCxnSpPr>
            <p:cNvPr id="11" name="Straight Connector 10">
              <a:extLst>
                <a:ext uri="{FF2B5EF4-FFF2-40B4-BE49-F238E27FC236}">
                  <a16:creationId xmlns:a16="http://schemas.microsoft.com/office/drawing/2014/main" id="{7CCC2C3C-AD34-CC52-4AB0-7456C1B74099}"/>
                </a:ext>
              </a:extLst>
            </p:cNvPr>
            <p:cNvCxnSpPr>
              <a:cxnSpLocks/>
            </p:cNvCxnSpPr>
            <p:nvPr/>
          </p:nvCxnSpPr>
          <p:spPr>
            <a:xfrm>
              <a:off x="579970" y="4142671"/>
              <a:ext cx="1181718" cy="0"/>
            </a:xfrm>
            <a:prstGeom prst="line">
              <a:avLst/>
            </a:prstGeom>
            <a:noFill/>
            <a:ln w="50800" cap="flat" cmpd="sng" algn="ctr">
              <a:gradFill flip="none" rotWithShape="1">
                <a:gsLst>
                  <a:gs pos="42000">
                    <a:srgbClr val="FFE600"/>
                  </a:gs>
                  <a:gs pos="100000">
                    <a:srgbClr val="32FFFF"/>
                  </a:gs>
                  <a:gs pos="74000">
                    <a:srgbClr val="FF32FF"/>
                  </a:gs>
                </a:gsLst>
                <a:lin ang="0" scaled="1"/>
                <a:tileRect/>
              </a:gradFill>
              <a:prstDash val="solid"/>
              <a:tailEnd type="none"/>
            </a:ln>
            <a:effectLst/>
          </p:spPr>
        </p:cxnSp>
      </p:grpSp>
      <p:graphicFrame>
        <p:nvGraphicFramePr>
          <p:cNvPr id="19" name="Content Placeholder 18">
            <a:extLst>
              <a:ext uri="{FF2B5EF4-FFF2-40B4-BE49-F238E27FC236}">
                <a16:creationId xmlns:a16="http://schemas.microsoft.com/office/drawing/2014/main" id="{656FF79D-636F-56CF-BDF9-E7F898E6BDBB}"/>
              </a:ext>
            </a:extLst>
          </p:cNvPr>
          <p:cNvGraphicFramePr>
            <a:graphicFrameLocks noGrp="1"/>
          </p:cNvGraphicFramePr>
          <p:nvPr>
            <p:ph sz="quarter" idx="16"/>
            <p:extLst>
              <p:ext uri="{D42A27DB-BD31-4B8C-83A1-F6EECF244321}">
                <p14:modId xmlns:p14="http://schemas.microsoft.com/office/powerpoint/2010/main" val="181929803"/>
              </p:ext>
            </p:extLst>
          </p:nvPr>
        </p:nvGraphicFramePr>
        <p:xfrm>
          <a:off x="3940462" y="343949"/>
          <a:ext cx="7862848" cy="61826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26486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B7EC-03BC-E244-1BCF-E66FAE0208E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1B62E82-425A-6010-2A97-1902361DAE50}"/>
              </a:ext>
            </a:extLst>
          </p:cNvPr>
          <p:cNvSpPr/>
          <p:nvPr/>
        </p:nvSpPr>
        <p:spPr>
          <a:xfrm>
            <a:off x="3626761" y="176169"/>
            <a:ext cx="8514826" cy="6505662"/>
          </a:xfrm>
          <a:prstGeom prst="roundRect">
            <a:avLst>
              <a:gd name="adj" fmla="val 0"/>
            </a:avLst>
          </a:prstGeom>
          <a:solidFill>
            <a:srgbClr val="FFFFFF">
              <a:lumMod val="95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5" name="Rectangle 4">
            <a:extLst>
              <a:ext uri="{FF2B5EF4-FFF2-40B4-BE49-F238E27FC236}">
                <a16:creationId xmlns:a16="http://schemas.microsoft.com/office/drawing/2014/main" id="{D4DAAB62-8A5B-FD14-1BFC-8DC5B8A01E19}"/>
              </a:ext>
            </a:extLst>
          </p:cNvPr>
          <p:cNvSpPr/>
          <p:nvPr/>
        </p:nvSpPr>
        <p:spPr>
          <a:xfrm>
            <a:off x="178964" y="176169"/>
            <a:ext cx="3610827" cy="6505662"/>
          </a:xfrm>
          <a:prstGeom prst="rect">
            <a:avLst/>
          </a:prstGeom>
          <a:solidFill>
            <a:sysClr val="window" lastClr="FFFFFF"/>
          </a:solidFill>
          <a:ln>
            <a:noFill/>
          </a:ln>
          <a:effectLst>
            <a:outerShdw blurRad="190500" algn="t" rotWithShape="0">
              <a:srgbClr val="3F3F3F">
                <a:alpha val="29000"/>
              </a:srgbClr>
            </a:outerShdw>
          </a:effectLst>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pic>
        <p:nvPicPr>
          <p:cNvPr id="6" name="Picture 5">
            <a:extLst>
              <a:ext uri="{FF2B5EF4-FFF2-40B4-BE49-F238E27FC236}">
                <a16:creationId xmlns:a16="http://schemas.microsoft.com/office/drawing/2014/main" id="{31265950-2B7A-937F-CF3D-B80A2B1B4774}"/>
              </a:ext>
            </a:extLst>
          </p:cNvPr>
          <p:cNvPicPr>
            <a:picLocks noChangeAspect="1"/>
          </p:cNvPicPr>
          <p:nvPr/>
        </p:nvPicPr>
        <p:blipFill>
          <a:blip r:embed="rId3" cstate="print">
            <a:extLst>
              <a:ext uri="{28A0092B-C50C-407E-A947-70E740481C1C}">
                <a14:useLocalDpi xmlns:a14="http://schemas.microsoft.com/office/drawing/2010/main" val="0"/>
              </a:ext>
            </a:extLst>
          </a:blip>
          <a:srcRect l="30383" r="10837"/>
          <a:stretch/>
        </p:blipFill>
        <p:spPr>
          <a:xfrm>
            <a:off x="178964" y="176169"/>
            <a:ext cx="3610826" cy="6505662"/>
          </a:xfrm>
          <a:prstGeom prst="rect">
            <a:avLst/>
          </a:prstGeom>
          <a:solidFill>
            <a:sysClr val="window" lastClr="FFFFFF"/>
          </a:solidFill>
          <a:ln>
            <a:noFill/>
          </a:ln>
          <a:effectLst>
            <a:outerShdw blurRad="190500" algn="t" rotWithShape="0">
              <a:srgbClr val="3F3F3F">
                <a:alpha val="29000"/>
              </a:srgbClr>
            </a:outerShdw>
          </a:effectLst>
        </p:spPr>
      </p:pic>
      <p:sp>
        <p:nvSpPr>
          <p:cNvPr id="7" name="Rectangle 6">
            <a:extLst>
              <a:ext uri="{FF2B5EF4-FFF2-40B4-BE49-F238E27FC236}">
                <a16:creationId xmlns:a16="http://schemas.microsoft.com/office/drawing/2014/main" id="{6A877BF7-D5CB-8003-3895-544E117CDEE1}"/>
              </a:ext>
            </a:extLst>
          </p:cNvPr>
          <p:cNvSpPr/>
          <p:nvPr/>
        </p:nvSpPr>
        <p:spPr>
          <a:xfrm>
            <a:off x="178965" y="176169"/>
            <a:ext cx="3610826" cy="6505662"/>
          </a:xfrm>
          <a:prstGeom prst="rect">
            <a:avLst/>
          </a:prstGeom>
          <a:solidFill>
            <a:srgbClr val="000000">
              <a:alpha val="79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2E2E38"/>
              </a:solidFill>
              <a:effectLst/>
              <a:uLnTx/>
              <a:uFillTx/>
              <a:latin typeface="EYInterstate Light"/>
              <a:ea typeface="+mn-ea"/>
              <a:cs typeface="+mn-cs"/>
            </a:endParaRPr>
          </a:p>
        </p:txBody>
      </p:sp>
      <p:sp>
        <p:nvSpPr>
          <p:cNvPr id="8" name="Rectangle 7">
            <a:extLst>
              <a:ext uri="{FF2B5EF4-FFF2-40B4-BE49-F238E27FC236}">
                <a16:creationId xmlns:a16="http://schemas.microsoft.com/office/drawing/2014/main" id="{16FEA088-C5AB-D510-09CE-C4C94FE34173}"/>
              </a:ext>
            </a:extLst>
          </p:cNvPr>
          <p:cNvSpPr/>
          <p:nvPr/>
        </p:nvSpPr>
        <p:spPr>
          <a:xfrm>
            <a:off x="0" y="176169"/>
            <a:ext cx="5206356" cy="6505662"/>
          </a:xfrm>
          <a:prstGeom prst="rect">
            <a:avLst/>
          </a:prstGeom>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sp>
        <p:nvSpPr>
          <p:cNvPr id="3" name="Content Placeholder 2">
            <a:extLst>
              <a:ext uri="{FF2B5EF4-FFF2-40B4-BE49-F238E27FC236}">
                <a16:creationId xmlns:a16="http://schemas.microsoft.com/office/drawing/2014/main" id="{C1C64679-509B-7E86-9885-6FFA670A2099}"/>
              </a:ext>
            </a:extLst>
          </p:cNvPr>
          <p:cNvSpPr>
            <a:spLocks noGrp="1"/>
          </p:cNvSpPr>
          <p:nvPr>
            <p:ph sz="quarter" idx="16"/>
          </p:nvPr>
        </p:nvSpPr>
        <p:spPr>
          <a:xfrm>
            <a:off x="3940462" y="343949"/>
            <a:ext cx="7862848" cy="6182686"/>
          </a:xfrm>
        </p:spPr>
        <p:txBody>
          <a:bodyPr/>
          <a:lstStyle/>
          <a:p>
            <a:pPr marL="0" indent="0" algn="ctr">
              <a:buNone/>
            </a:pPr>
            <a:r>
              <a:rPr lang="en-US" sz="2000" b="1" dirty="0"/>
              <a:t>Autonomous AI for Accurate Healthcare Directories</a:t>
            </a:r>
          </a:p>
          <a:p>
            <a:pPr>
              <a:buClr>
                <a:schemeClr val="bg1"/>
              </a:buClr>
            </a:pPr>
            <a:r>
              <a:rPr lang="en-US" sz="1050" dirty="0"/>
              <a:t>This slide provides an overview of our Agentic AI solution for healthcare provider directory validation and management. Our system leverages a Master Agent to orchestrate specialized Worker Agents, automating data validation, enrichment, and quality assurance, resulting in a more accurate and up-to-date provider directory. This approach significantly reduces manual effort and improves data quality.</a:t>
            </a:r>
          </a:p>
          <a:p>
            <a:pPr>
              <a:buClr>
                <a:schemeClr val="bg1"/>
              </a:buClr>
            </a:pPr>
            <a:r>
              <a:rPr lang="en-US" sz="1050" b="1" dirty="0"/>
              <a:t>Solution Concept:</a:t>
            </a:r>
            <a:r>
              <a:rPr lang="en-US" sz="1050" dirty="0"/>
              <a:t> An Agentic AI system validates and enriches provider data from public sources.</a:t>
            </a:r>
          </a:p>
          <a:p>
            <a:pPr>
              <a:buClr>
                <a:schemeClr val="bg1"/>
              </a:buClr>
            </a:pPr>
            <a:r>
              <a:rPr lang="en-US" sz="1050" b="1" dirty="0"/>
              <a:t>Master Agent:</a:t>
            </a:r>
            <a:r>
              <a:rPr lang="en-US" sz="1050" dirty="0"/>
              <a:t> Orchestrates the entire workflow, assigning tasks to Worker Agents and consolidating results.</a:t>
            </a:r>
          </a:p>
          <a:p>
            <a:pPr>
              <a:buClr>
                <a:schemeClr val="bg1"/>
              </a:buClr>
            </a:pPr>
            <a:r>
              <a:rPr lang="en-US" sz="1050" b="1" dirty="0"/>
              <a:t>Worker Agents:</a:t>
            </a:r>
            <a:endParaRPr lang="en-US" sz="1050" dirty="0"/>
          </a:p>
          <a:p>
            <a:pPr lvl="1">
              <a:buClr>
                <a:schemeClr val="bg1"/>
              </a:buClr>
            </a:pPr>
            <a:r>
              <a:rPr lang="en-US" sz="1050" b="1" dirty="0"/>
              <a:t>Data Validation Agent:</a:t>
            </a:r>
            <a:r>
              <a:rPr lang="en-US" sz="1050" dirty="0"/>
              <a:t> Validates provider information (contact, license,</a:t>
            </a:r>
          </a:p>
          <a:p>
            <a:pPr marL="252000" lvl="1" indent="0">
              <a:buClr>
                <a:schemeClr val="bg1"/>
              </a:buClr>
              <a:buNone/>
            </a:pPr>
            <a:r>
              <a:rPr lang="en-US" sz="1050" dirty="0"/>
              <a:t>                                                   address) against public databases.</a:t>
            </a:r>
          </a:p>
          <a:p>
            <a:pPr lvl="1">
              <a:buClr>
                <a:schemeClr val="bg1"/>
              </a:buClr>
            </a:pPr>
            <a:r>
              <a:rPr lang="en-US" sz="1050" b="1" dirty="0"/>
              <a:t>Data Enrichment Agent:</a:t>
            </a:r>
            <a:r>
              <a:rPr lang="en-US" sz="1050" dirty="0"/>
              <a:t> Enriches existing data with additional</a:t>
            </a:r>
          </a:p>
          <a:p>
            <a:pPr marL="252000" lvl="1" indent="0">
              <a:buClr>
                <a:schemeClr val="bg1"/>
              </a:buClr>
              <a:buNone/>
            </a:pPr>
            <a:r>
              <a:rPr lang="en-US" sz="1050" dirty="0"/>
              <a:t>                                                      information from web scraping and APIs.</a:t>
            </a:r>
          </a:p>
          <a:p>
            <a:pPr lvl="1">
              <a:buClr>
                <a:schemeClr val="bg1"/>
              </a:buClr>
            </a:pPr>
            <a:r>
              <a:rPr lang="en-US" sz="1050" b="1" dirty="0"/>
              <a:t>QA Agent:</a:t>
            </a:r>
            <a:r>
              <a:rPr lang="en-US" sz="1050" dirty="0"/>
              <a:t> Performs quality checks on validated and enriched data,</a:t>
            </a:r>
          </a:p>
          <a:p>
            <a:pPr marL="252000" lvl="1" indent="0">
              <a:buClr>
                <a:schemeClr val="bg1"/>
              </a:buClr>
              <a:buNone/>
            </a:pPr>
            <a:r>
              <a:rPr lang="en-US" sz="1050" dirty="0"/>
              <a:t>                             flagging potential errors.</a:t>
            </a:r>
          </a:p>
          <a:p>
            <a:pPr lvl="1">
              <a:buClr>
                <a:schemeClr val="bg1"/>
              </a:buClr>
            </a:pPr>
            <a:r>
              <a:rPr lang="en-US" sz="1050" b="1" dirty="0"/>
              <a:t>Directory Management Agent:</a:t>
            </a:r>
            <a:r>
              <a:rPr lang="en-US" sz="1050" dirty="0"/>
              <a:t> Updates the provider directory with</a:t>
            </a:r>
          </a:p>
          <a:p>
            <a:pPr marL="252000" lvl="1" indent="0">
              <a:buClr>
                <a:schemeClr val="bg1"/>
              </a:buClr>
              <a:buNone/>
            </a:pPr>
            <a:r>
              <a:rPr lang="en-US" sz="1050" dirty="0"/>
              <a:t>                                                                  validated data and confidence scores.</a:t>
            </a:r>
          </a:p>
          <a:p>
            <a:pPr marL="252000" lvl="1" indent="0">
              <a:buClr>
                <a:schemeClr val="bg1"/>
              </a:buClr>
              <a:buNone/>
            </a:pPr>
            <a:endParaRPr lang="en-US" sz="800" dirty="0"/>
          </a:p>
          <a:p>
            <a:pPr marL="0" indent="0">
              <a:buNone/>
            </a:pPr>
            <a:r>
              <a:rPr lang="en-US" sz="1200" b="1" dirty="0"/>
              <a:t>Tech Stack:</a:t>
            </a:r>
            <a:endParaRPr lang="en-US" sz="1200" dirty="0"/>
          </a:p>
          <a:p>
            <a:pPr>
              <a:buClr>
                <a:schemeClr val="bg1"/>
              </a:buClr>
            </a:pPr>
            <a:r>
              <a:rPr lang="en-US" sz="1200" dirty="0"/>
              <a:t>Python-based agents leveraging APIs and web scraping techniques.</a:t>
            </a:r>
          </a:p>
          <a:p>
            <a:pPr>
              <a:buClr>
                <a:schemeClr val="bg1"/>
              </a:buClr>
            </a:pPr>
            <a:r>
              <a:rPr lang="en-US" sz="1200" dirty="0" err="1"/>
              <a:t>Streamlit</a:t>
            </a:r>
            <a:r>
              <a:rPr lang="en-US" sz="1200" dirty="0"/>
              <a:t> dashboard for visualization and reporting.</a:t>
            </a:r>
          </a:p>
          <a:p>
            <a:pPr marL="0" indent="0">
              <a:buNone/>
            </a:pPr>
            <a:endParaRPr lang="en-US" sz="900" dirty="0"/>
          </a:p>
          <a:p>
            <a:pPr marL="0" indent="0">
              <a:buNone/>
            </a:pPr>
            <a:r>
              <a:rPr lang="en-US" sz="1200" b="1" dirty="0"/>
              <a:t>Impact:</a:t>
            </a:r>
            <a:endParaRPr lang="en-US" sz="1200" dirty="0"/>
          </a:p>
          <a:p>
            <a:pPr>
              <a:buClr>
                <a:srgbClr val="1A1A24"/>
              </a:buClr>
            </a:pPr>
            <a:r>
              <a:rPr lang="en-US" sz="1200" dirty="0"/>
              <a:t>Significant reduction in manual validation time (estimated 70% time saving).</a:t>
            </a:r>
          </a:p>
          <a:p>
            <a:pPr>
              <a:buClr>
                <a:srgbClr val="1A1A24"/>
              </a:buClr>
            </a:pPr>
            <a:r>
              <a:rPr lang="en-US" sz="1200" dirty="0"/>
              <a:t>Improved data accuracy and directory reliability, leading to better patient care and reduced administrative costs.</a:t>
            </a:r>
          </a:p>
          <a:p>
            <a:endParaRPr lang="en-US" dirty="0"/>
          </a:p>
          <a:p>
            <a:endParaRPr lang="en-US" dirty="0"/>
          </a:p>
        </p:txBody>
      </p:sp>
      <p:grpSp>
        <p:nvGrpSpPr>
          <p:cNvPr id="14" name="Group 13">
            <a:extLst>
              <a:ext uri="{FF2B5EF4-FFF2-40B4-BE49-F238E27FC236}">
                <a16:creationId xmlns:a16="http://schemas.microsoft.com/office/drawing/2014/main" id="{902BE8B0-B578-C5B4-21B7-D14AE39C0BC1}"/>
              </a:ext>
            </a:extLst>
          </p:cNvPr>
          <p:cNvGrpSpPr/>
          <p:nvPr/>
        </p:nvGrpSpPr>
        <p:grpSpPr>
          <a:xfrm>
            <a:off x="353965" y="529895"/>
            <a:ext cx="3260522" cy="5798210"/>
            <a:chOff x="388690" y="577664"/>
            <a:chExt cx="3260522" cy="5798210"/>
          </a:xfrm>
        </p:grpSpPr>
        <p:sp>
          <p:nvSpPr>
            <p:cNvPr id="10" name="Rectangle 9">
              <a:extLst>
                <a:ext uri="{FF2B5EF4-FFF2-40B4-BE49-F238E27FC236}">
                  <a16:creationId xmlns:a16="http://schemas.microsoft.com/office/drawing/2014/main" id="{31EB3614-5485-F8CD-D65B-C0B278567C6B}"/>
                </a:ext>
              </a:extLst>
            </p:cNvPr>
            <p:cNvSpPr/>
            <p:nvPr/>
          </p:nvSpPr>
          <p:spPr>
            <a:xfrm>
              <a:off x="388690" y="577664"/>
              <a:ext cx="3260522" cy="3477875"/>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4400" b="0" i="0" u="none" strike="noStrike" kern="0" cap="none" spc="0" normalizeH="0" baseline="0" noProof="0" dirty="0">
                  <a:ln>
                    <a:noFill/>
                  </a:ln>
                  <a:solidFill>
                    <a:srgbClr val="FFFFFF"/>
                  </a:solidFill>
                  <a:effectLst/>
                  <a:uLnTx/>
                  <a:uFillTx/>
                </a:rPr>
                <a:t>Describe your approach to solving the problem</a:t>
              </a:r>
              <a:endParaRPr kumimoji="0" lang="en-US" sz="4400" b="0" i="0" u="none" strike="noStrike" kern="0" cap="none" spc="0" normalizeH="0" baseline="0" noProof="0" dirty="0">
                <a:ln>
                  <a:noFill/>
                </a:ln>
                <a:solidFill>
                  <a:schemeClr val="bg1">
                    <a:lumMod val="50000"/>
                    <a:lumOff val="50000"/>
                  </a:schemeClr>
                </a:solidFill>
                <a:effectLst/>
                <a:uLnTx/>
                <a:uFillTx/>
              </a:endParaRPr>
            </a:p>
          </p:txBody>
        </p:sp>
        <p:sp>
          <p:nvSpPr>
            <p:cNvPr id="12" name="TextBox 11">
              <a:extLst>
                <a:ext uri="{FF2B5EF4-FFF2-40B4-BE49-F238E27FC236}">
                  <a16:creationId xmlns:a16="http://schemas.microsoft.com/office/drawing/2014/main" id="{68453F7A-CE06-A382-51AA-D06372081A49}"/>
                </a:ext>
              </a:extLst>
            </p:cNvPr>
            <p:cNvSpPr txBox="1"/>
            <p:nvPr/>
          </p:nvSpPr>
          <p:spPr>
            <a:xfrm>
              <a:off x="388690" y="4036338"/>
              <a:ext cx="3027994" cy="400110"/>
            </a:xfrm>
            <a:prstGeom prst="rect">
              <a:avLst/>
            </a:prstGeom>
            <a:noFill/>
          </p:spPr>
          <p:txBody>
            <a:bodyPr wrap="square">
              <a:spAutoFit/>
            </a:bodyPr>
            <a:lstStyle/>
            <a:p>
              <a:endParaRPr lang="en-US" sz="2000" kern="0" dirty="0">
                <a:solidFill>
                  <a:schemeClr val="bg1">
                    <a:lumMod val="10000"/>
                    <a:lumOff val="90000"/>
                  </a:schemeClr>
                </a:solidFill>
              </a:endParaRPr>
            </a:p>
          </p:txBody>
        </p:sp>
        <p:cxnSp>
          <p:nvCxnSpPr>
            <p:cNvPr id="13" name="Straight Connector 12">
              <a:extLst>
                <a:ext uri="{FF2B5EF4-FFF2-40B4-BE49-F238E27FC236}">
                  <a16:creationId xmlns:a16="http://schemas.microsoft.com/office/drawing/2014/main" id="{7CCC2C3C-AD34-CC52-4AB0-7456C1B74099}"/>
                </a:ext>
              </a:extLst>
            </p:cNvPr>
            <p:cNvCxnSpPr>
              <a:cxnSpLocks/>
            </p:cNvCxnSpPr>
            <p:nvPr/>
          </p:nvCxnSpPr>
          <p:spPr>
            <a:xfrm>
              <a:off x="498945" y="6375874"/>
              <a:ext cx="1181718" cy="0"/>
            </a:xfrm>
            <a:prstGeom prst="line">
              <a:avLst/>
            </a:prstGeom>
            <a:noFill/>
            <a:ln w="50800" cap="flat" cmpd="sng" algn="ctr">
              <a:gradFill flip="none" rotWithShape="1">
                <a:gsLst>
                  <a:gs pos="42000">
                    <a:srgbClr val="FFE600"/>
                  </a:gs>
                  <a:gs pos="100000">
                    <a:srgbClr val="32FFFF"/>
                  </a:gs>
                  <a:gs pos="74000">
                    <a:srgbClr val="FF32FF"/>
                  </a:gs>
                </a:gsLst>
                <a:lin ang="0" scaled="1"/>
                <a:tileRect/>
              </a:gradFill>
              <a:prstDash val="solid"/>
              <a:tailEnd type="none"/>
            </a:ln>
            <a:effectLst/>
          </p:spPr>
        </p:cxnSp>
      </p:grpSp>
      <p:pic>
        <p:nvPicPr>
          <p:cNvPr id="15" name="Picture 14">
            <a:extLst>
              <a:ext uri="{FF2B5EF4-FFF2-40B4-BE49-F238E27FC236}">
                <a16:creationId xmlns:a16="http://schemas.microsoft.com/office/drawing/2014/main" id="{B02DADA3-B094-73E0-7077-8C77ECA01D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4152" y="2113553"/>
            <a:ext cx="2908638" cy="3097251"/>
          </a:xfrm>
          <a:prstGeom prst="rect">
            <a:avLst/>
          </a:prstGeom>
        </p:spPr>
      </p:pic>
    </p:spTree>
    <p:extLst>
      <p:ext uri="{BB962C8B-B14F-4D97-AF65-F5344CB8AC3E}">
        <p14:creationId xmlns:p14="http://schemas.microsoft.com/office/powerpoint/2010/main" val="1461369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C101-603E-EBCF-61A6-4D5995032B5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89084E2-7BE9-5326-8437-4D0D20CDC56F}"/>
              </a:ext>
            </a:extLst>
          </p:cNvPr>
          <p:cNvSpPr/>
          <p:nvPr/>
        </p:nvSpPr>
        <p:spPr>
          <a:xfrm>
            <a:off x="3498209" y="176169"/>
            <a:ext cx="8514826" cy="6505662"/>
          </a:xfrm>
          <a:prstGeom prst="roundRect">
            <a:avLst>
              <a:gd name="adj" fmla="val 0"/>
            </a:avLst>
          </a:prstGeom>
          <a:solidFill>
            <a:srgbClr val="FFFFFF">
              <a:lumMod val="95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5" name="Rectangle 4">
            <a:extLst>
              <a:ext uri="{FF2B5EF4-FFF2-40B4-BE49-F238E27FC236}">
                <a16:creationId xmlns:a16="http://schemas.microsoft.com/office/drawing/2014/main" id="{C254EE02-819A-F54A-B50C-D2B901E7BFC0}"/>
              </a:ext>
            </a:extLst>
          </p:cNvPr>
          <p:cNvSpPr/>
          <p:nvPr/>
        </p:nvSpPr>
        <p:spPr>
          <a:xfrm>
            <a:off x="178964" y="176169"/>
            <a:ext cx="3610827" cy="6505662"/>
          </a:xfrm>
          <a:prstGeom prst="rect">
            <a:avLst/>
          </a:prstGeom>
          <a:solidFill>
            <a:sysClr val="window" lastClr="FFFFFF"/>
          </a:solidFill>
          <a:ln>
            <a:noFill/>
          </a:ln>
          <a:effectLst>
            <a:outerShdw blurRad="190500" algn="t" rotWithShape="0">
              <a:srgbClr val="3F3F3F">
                <a:alpha val="29000"/>
              </a:srgbClr>
            </a:outerShdw>
          </a:effectLst>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pic>
        <p:nvPicPr>
          <p:cNvPr id="6" name="Picture 5">
            <a:extLst>
              <a:ext uri="{FF2B5EF4-FFF2-40B4-BE49-F238E27FC236}">
                <a16:creationId xmlns:a16="http://schemas.microsoft.com/office/drawing/2014/main" id="{73203894-D8F4-E839-77BE-E9B6DB445A6A}"/>
              </a:ext>
            </a:extLst>
          </p:cNvPr>
          <p:cNvPicPr>
            <a:picLocks noChangeAspect="1"/>
          </p:cNvPicPr>
          <p:nvPr/>
        </p:nvPicPr>
        <p:blipFill>
          <a:blip r:embed="rId3" cstate="print">
            <a:extLst>
              <a:ext uri="{28A0092B-C50C-407E-A947-70E740481C1C}">
                <a14:useLocalDpi xmlns:a14="http://schemas.microsoft.com/office/drawing/2010/main" val="0"/>
              </a:ext>
            </a:extLst>
          </a:blip>
          <a:srcRect l="30383" r="10837"/>
          <a:stretch/>
        </p:blipFill>
        <p:spPr>
          <a:xfrm>
            <a:off x="178964" y="176169"/>
            <a:ext cx="3610826" cy="6505662"/>
          </a:xfrm>
          <a:prstGeom prst="rect">
            <a:avLst/>
          </a:prstGeom>
          <a:solidFill>
            <a:sysClr val="window" lastClr="FFFFFF"/>
          </a:solidFill>
          <a:ln>
            <a:noFill/>
          </a:ln>
          <a:effectLst>
            <a:outerShdw blurRad="190500" algn="t" rotWithShape="0">
              <a:srgbClr val="3F3F3F">
                <a:alpha val="29000"/>
              </a:srgbClr>
            </a:outerShdw>
          </a:effectLst>
        </p:spPr>
      </p:pic>
      <p:sp>
        <p:nvSpPr>
          <p:cNvPr id="7" name="Rectangle 6">
            <a:extLst>
              <a:ext uri="{FF2B5EF4-FFF2-40B4-BE49-F238E27FC236}">
                <a16:creationId xmlns:a16="http://schemas.microsoft.com/office/drawing/2014/main" id="{50266D5D-E24D-B024-69A5-2BA1AF29071B}"/>
              </a:ext>
            </a:extLst>
          </p:cNvPr>
          <p:cNvSpPr/>
          <p:nvPr/>
        </p:nvSpPr>
        <p:spPr>
          <a:xfrm>
            <a:off x="178965" y="176169"/>
            <a:ext cx="3610826" cy="6505662"/>
          </a:xfrm>
          <a:prstGeom prst="rect">
            <a:avLst/>
          </a:prstGeom>
          <a:solidFill>
            <a:srgbClr val="000000">
              <a:alpha val="79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2E2E38"/>
              </a:solidFill>
              <a:effectLst/>
              <a:uLnTx/>
              <a:uFillTx/>
              <a:latin typeface="EYInterstate Light"/>
              <a:ea typeface="+mn-ea"/>
              <a:cs typeface="+mn-cs"/>
            </a:endParaRPr>
          </a:p>
        </p:txBody>
      </p:sp>
      <p:sp>
        <p:nvSpPr>
          <p:cNvPr id="8" name="Rectangle 7">
            <a:extLst>
              <a:ext uri="{FF2B5EF4-FFF2-40B4-BE49-F238E27FC236}">
                <a16:creationId xmlns:a16="http://schemas.microsoft.com/office/drawing/2014/main" id="{F7641C13-0708-1278-795A-FA7E3F0248D7}"/>
              </a:ext>
            </a:extLst>
          </p:cNvPr>
          <p:cNvSpPr/>
          <p:nvPr/>
        </p:nvSpPr>
        <p:spPr>
          <a:xfrm>
            <a:off x="0" y="176169"/>
            <a:ext cx="5206356" cy="6505662"/>
          </a:xfrm>
          <a:prstGeom prst="rect">
            <a:avLst/>
          </a:prstGeom>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pic>
        <p:nvPicPr>
          <p:cNvPr id="9" name="Content Placeholder 8">
            <a:extLst>
              <a:ext uri="{FF2B5EF4-FFF2-40B4-BE49-F238E27FC236}">
                <a16:creationId xmlns:a16="http://schemas.microsoft.com/office/drawing/2014/main" id="{7973DA67-E360-74CE-E7EE-C81AB246BBF2}"/>
              </a:ext>
            </a:extLst>
          </p:cNvPr>
          <p:cNvPicPr>
            <a:picLocks noGrp="1" noChangeAspect="1"/>
          </p:cNvPicPr>
          <p:nvPr>
            <p:ph sz="quarter" idx="16"/>
          </p:nvPr>
        </p:nvPicPr>
        <p:blipFill>
          <a:blip r:embed="rId4">
            <a:extLst>
              <a:ext uri="{28A0092B-C50C-407E-A947-70E740481C1C}">
                <a14:useLocalDpi xmlns:a14="http://schemas.microsoft.com/office/drawing/2010/main" val="0"/>
              </a:ext>
            </a:extLst>
          </a:blip>
          <a:stretch>
            <a:fillRect/>
          </a:stretch>
        </p:blipFill>
        <p:spPr>
          <a:xfrm>
            <a:off x="5381356" y="176169"/>
            <a:ext cx="4677503" cy="4009288"/>
          </a:xfrm>
        </p:spPr>
      </p:pic>
      <p:grpSp>
        <p:nvGrpSpPr>
          <p:cNvPr id="14" name="Group 13">
            <a:extLst>
              <a:ext uri="{FF2B5EF4-FFF2-40B4-BE49-F238E27FC236}">
                <a16:creationId xmlns:a16="http://schemas.microsoft.com/office/drawing/2014/main" id="{15520DBA-9A91-18D9-62EE-F411D1998964}"/>
              </a:ext>
            </a:extLst>
          </p:cNvPr>
          <p:cNvGrpSpPr/>
          <p:nvPr/>
        </p:nvGrpSpPr>
        <p:grpSpPr>
          <a:xfrm>
            <a:off x="353965" y="1787712"/>
            <a:ext cx="3260522" cy="3282576"/>
            <a:chOff x="388690" y="1912680"/>
            <a:chExt cx="3260522" cy="3282576"/>
          </a:xfrm>
        </p:grpSpPr>
        <p:sp>
          <p:nvSpPr>
            <p:cNvPr id="10" name="Rectangle 9">
              <a:extLst>
                <a:ext uri="{FF2B5EF4-FFF2-40B4-BE49-F238E27FC236}">
                  <a16:creationId xmlns:a16="http://schemas.microsoft.com/office/drawing/2014/main" id="{79B6ADE4-0935-91A6-15FF-1359D60C6B91}"/>
                </a:ext>
              </a:extLst>
            </p:cNvPr>
            <p:cNvSpPr/>
            <p:nvPr/>
          </p:nvSpPr>
          <p:spPr>
            <a:xfrm>
              <a:off x="388690" y="1912680"/>
              <a:ext cx="3260522" cy="2123658"/>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4400" b="0" i="0" u="none" strike="noStrike" kern="0" cap="none" spc="0" normalizeH="0" baseline="0" noProof="0" dirty="0">
                  <a:ln>
                    <a:noFill/>
                  </a:ln>
                  <a:solidFill>
                    <a:srgbClr val="FFFFFF"/>
                  </a:solidFill>
                  <a:effectLst/>
                  <a:uLnTx/>
                  <a:uFillTx/>
                </a:rPr>
                <a:t>Planned solution design</a:t>
              </a:r>
              <a:endParaRPr kumimoji="0" lang="en-US" sz="4400" b="0" i="0" u="none" strike="noStrike" kern="0" cap="none" spc="0" normalizeH="0" baseline="0" noProof="0" dirty="0">
                <a:ln>
                  <a:noFill/>
                </a:ln>
                <a:solidFill>
                  <a:schemeClr val="bg1">
                    <a:lumMod val="50000"/>
                    <a:lumOff val="50000"/>
                  </a:schemeClr>
                </a:solidFill>
                <a:effectLst/>
                <a:uLnTx/>
                <a:uFillTx/>
              </a:endParaRPr>
            </a:p>
          </p:txBody>
        </p:sp>
        <p:sp>
          <p:nvSpPr>
            <p:cNvPr id="12" name="TextBox 11">
              <a:extLst>
                <a:ext uri="{FF2B5EF4-FFF2-40B4-BE49-F238E27FC236}">
                  <a16:creationId xmlns:a16="http://schemas.microsoft.com/office/drawing/2014/main" id="{D9303B47-175E-74EE-0F84-7EC3889C61BC}"/>
                </a:ext>
              </a:extLst>
            </p:cNvPr>
            <p:cNvSpPr txBox="1"/>
            <p:nvPr/>
          </p:nvSpPr>
          <p:spPr>
            <a:xfrm>
              <a:off x="388690" y="3978463"/>
              <a:ext cx="3027994" cy="1015663"/>
            </a:xfrm>
            <a:prstGeom prst="rect">
              <a:avLst/>
            </a:prstGeom>
            <a:noFill/>
          </p:spPr>
          <p:txBody>
            <a:bodyPr wrap="square">
              <a:spAutoFit/>
            </a:bodyPr>
            <a:lstStyle/>
            <a:p>
              <a:r>
                <a:rPr lang="en-IN" sz="2000" kern="0" dirty="0">
                  <a:solidFill>
                    <a:schemeClr val="bg1">
                      <a:lumMod val="10000"/>
                      <a:lumOff val="90000"/>
                    </a:schemeClr>
                  </a:solidFill>
                </a:rPr>
                <a:t>(Diagram and Key Technology components planned for use)</a:t>
              </a:r>
              <a:endParaRPr lang="en-US" sz="2000" kern="0" dirty="0">
                <a:solidFill>
                  <a:schemeClr val="bg1">
                    <a:lumMod val="10000"/>
                    <a:lumOff val="90000"/>
                  </a:schemeClr>
                </a:solidFill>
              </a:endParaRPr>
            </a:p>
          </p:txBody>
        </p:sp>
        <p:cxnSp>
          <p:nvCxnSpPr>
            <p:cNvPr id="13" name="Straight Connector 12">
              <a:extLst>
                <a:ext uri="{FF2B5EF4-FFF2-40B4-BE49-F238E27FC236}">
                  <a16:creationId xmlns:a16="http://schemas.microsoft.com/office/drawing/2014/main" id="{60FDC083-CD50-316A-77A4-D843BFED556E}"/>
                </a:ext>
              </a:extLst>
            </p:cNvPr>
            <p:cNvCxnSpPr>
              <a:cxnSpLocks/>
            </p:cNvCxnSpPr>
            <p:nvPr/>
          </p:nvCxnSpPr>
          <p:spPr>
            <a:xfrm>
              <a:off x="498945" y="5195256"/>
              <a:ext cx="1181718" cy="0"/>
            </a:xfrm>
            <a:prstGeom prst="line">
              <a:avLst/>
            </a:prstGeom>
            <a:noFill/>
            <a:ln w="50800" cap="flat" cmpd="sng" algn="ctr">
              <a:gradFill flip="none" rotWithShape="1">
                <a:gsLst>
                  <a:gs pos="42000">
                    <a:srgbClr val="FFE600"/>
                  </a:gs>
                  <a:gs pos="100000">
                    <a:srgbClr val="32FFFF"/>
                  </a:gs>
                  <a:gs pos="74000">
                    <a:srgbClr val="FF32FF"/>
                  </a:gs>
                </a:gsLst>
                <a:lin ang="0" scaled="1"/>
                <a:tileRect/>
              </a:gradFill>
              <a:prstDash val="solid"/>
              <a:tailEnd type="none"/>
            </a:ln>
            <a:effectLst/>
          </p:spPr>
        </p:cxnSp>
      </p:grpSp>
      <p:pic>
        <p:nvPicPr>
          <p:cNvPr id="15" name="Picture 14">
            <a:extLst>
              <a:ext uri="{FF2B5EF4-FFF2-40B4-BE49-F238E27FC236}">
                <a16:creationId xmlns:a16="http://schemas.microsoft.com/office/drawing/2014/main" id="{1A308AD7-BBFE-5381-84B3-9705B7778B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9404" y="3853495"/>
            <a:ext cx="7184572" cy="2828336"/>
          </a:xfrm>
          <a:prstGeom prst="rect">
            <a:avLst/>
          </a:prstGeom>
        </p:spPr>
      </p:pic>
    </p:spTree>
    <p:extLst>
      <p:ext uri="{BB962C8B-B14F-4D97-AF65-F5344CB8AC3E}">
        <p14:creationId xmlns:p14="http://schemas.microsoft.com/office/powerpoint/2010/main" val="1049141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F0559-87FC-CA88-A5E5-3471AF68EFA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CAE5002-0CE1-42E6-D451-1F509DE499B5}"/>
              </a:ext>
            </a:extLst>
          </p:cNvPr>
          <p:cNvSpPr/>
          <p:nvPr/>
        </p:nvSpPr>
        <p:spPr>
          <a:xfrm>
            <a:off x="3498209" y="176169"/>
            <a:ext cx="8514826" cy="6505662"/>
          </a:xfrm>
          <a:prstGeom prst="roundRect">
            <a:avLst>
              <a:gd name="adj" fmla="val 0"/>
            </a:avLst>
          </a:prstGeom>
          <a:solidFill>
            <a:srgbClr val="FFFFFF">
              <a:lumMod val="95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5" name="Rectangle 4">
            <a:extLst>
              <a:ext uri="{FF2B5EF4-FFF2-40B4-BE49-F238E27FC236}">
                <a16:creationId xmlns:a16="http://schemas.microsoft.com/office/drawing/2014/main" id="{1466A4CB-FDAA-DB35-24ED-CE9206D460FF}"/>
              </a:ext>
            </a:extLst>
          </p:cNvPr>
          <p:cNvSpPr/>
          <p:nvPr/>
        </p:nvSpPr>
        <p:spPr>
          <a:xfrm>
            <a:off x="178964" y="176169"/>
            <a:ext cx="3610827" cy="6505662"/>
          </a:xfrm>
          <a:prstGeom prst="rect">
            <a:avLst/>
          </a:prstGeom>
          <a:solidFill>
            <a:sysClr val="window" lastClr="FFFFFF"/>
          </a:solidFill>
          <a:ln>
            <a:noFill/>
          </a:ln>
          <a:effectLst>
            <a:outerShdw blurRad="190500" algn="t" rotWithShape="0">
              <a:srgbClr val="3F3F3F">
                <a:alpha val="29000"/>
              </a:srgbClr>
            </a:outerShdw>
          </a:effectLst>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pic>
        <p:nvPicPr>
          <p:cNvPr id="6" name="Picture 5">
            <a:extLst>
              <a:ext uri="{FF2B5EF4-FFF2-40B4-BE49-F238E27FC236}">
                <a16:creationId xmlns:a16="http://schemas.microsoft.com/office/drawing/2014/main" id="{FD30BB4A-9812-BD42-3803-C9C64D7D516B}"/>
              </a:ext>
            </a:extLst>
          </p:cNvPr>
          <p:cNvPicPr>
            <a:picLocks noChangeAspect="1"/>
          </p:cNvPicPr>
          <p:nvPr/>
        </p:nvPicPr>
        <p:blipFill>
          <a:blip r:embed="rId3" cstate="print">
            <a:extLst>
              <a:ext uri="{28A0092B-C50C-407E-A947-70E740481C1C}">
                <a14:useLocalDpi xmlns:a14="http://schemas.microsoft.com/office/drawing/2010/main" val="0"/>
              </a:ext>
            </a:extLst>
          </a:blip>
          <a:srcRect l="30383" r="10837"/>
          <a:stretch/>
        </p:blipFill>
        <p:spPr>
          <a:xfrm>
            <a:off x="178964" y="176169"/>
            <a:ext cx="3610826" cy="6505662"/>
          </a:xfrm>
          <a:prstGeom prst="rect">
            <a:avLst/>
          </a:prstGeom>
          <a:solidFill>
            <a:sysClr val="window" lastClr="FFFFFF"/>
          </a:solidFill>
          <a:ln>
            <a:noFill/>
          </a:ln>
          <a:effectLst>
            <a:outerShdw blurRad="190500" algn="t" rotWithShape="0">
              <a:srgbClr val="3F3F3F">
                <a:alpha val="29000"/>
              </a:srgbClr>
            </a:outerShdw>
          </a:effectLst>
        </p:spPr>
      </p:pic>
      <p:sp>
        <p:nvSpPr>
          <p:cNvPr id="7" name="Rectangle 6">
            <a:extLst>
              <a:ext uri="{FF2B5EF4-FFF2-40B4-BE49-F238E27FC236}">
                <a16:creationId xmlns:a16="http://schemas.microsoft.com/office/drawing/2014/main" id="{4722E9BE-2D0F-4531-773F-E121FD3A9552}"/>
              </a:ext>
            </a:extLst>
          </p:cNvPr>
          <p:cNvSpPr/>
          <p:nvPr/>
        </p:nvSpPr>
        <p:spPr>
          <a:xfrm>
            <a:off x="178965" y="176169"/>
            <a:ext cx="3610826" cy="6505662"/>
          </a:xfrm>
          <a:prstGeom prst="rect">
            <a:avLst/>
          </a:prstGeom>
          <a:solidFill>
            <a:srgbClr val="000000">
              <a:alpha val="79000"/>
            </a:srgb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2E2E38"/>
              </a:solidFill>
              <a:effectLst/>
              <a:uLnTx/>
              <a:uFillTx/>
              <a:latin typeface="EYInterstate Light"/>
              <a:ea typeface="+mn-ea"/>
              <a:cs typeface="+mn-cs"/>
            </a:endParaRPr>
          </a:p>
        </p:txBody>
      </p:sp>
      <p:sp>
        <p:nvSpPr>
          <p:cNvPr id="8" name="Rectangle 7">
            <a:extLst>
              <a:ext uri="{FF2B5EF4-FFF2-40B4-BE49-F238E27FC236}">
                <a16:creationId xmlns:a16="http://schemas.microsoft.com/office/drawing/2014/main" id="{48E4B90D-6C41-B3B1-6FEC-E07E9AE81298}"/>
              </a:ext>
            </a:extLst>
          </p:cNvPr>
          <p:cNvSpPr/>
          <p:nvPr/>
        </p:nvSpPr>
        <p:spPr>
          <a:xfrm>
            <a:off x="0" y="176169"/>
            <a:ext cx="5206356" cy="6505662"/>
          </a:xfrm>
          <a:prstGeom prst="rect">
            <a:avLst/>
          </a:prstGeom>
        </p:spPr>
        <p:txBody>
          <a:bodyPr vert="horz" wrap="square" lIns="91392" tIns="45696" rIns="91392" bIns="45696" numCol="1" anchor="t" anchorCtr="0" compatLnSpc="1">
            <a:prstTxWarp prst="textNoShape">
              <a:avLst/>
            </a:prstTxWarp>
          </a:bodyPr>
          <a:lstStyle/>
          <a:p>
            <a:pPr defTabSz="456971">
              <a:defRPr/>
            </a:pPr>
            <a:endParaRPr lang="en-IN" sz="999" kern="0" dirty="0">
              <a:solidFill>
                <a:prstClr val="black"/>
              </a:solidFill>
              <a:latin typeface="Open Sans Light"/>
            </a:endParaRPr>
          </a:p>
        </p:txBody>
      </p:sp>
      <p:grpSp>
        <p:nvGrpSpPr>
          <p:cNvPr id="14" name="Group 13">
            <a:extLst>
              <a:ext uri="{FF2B5EF4-FFF2-40B4-BE49-F238E27FC236}">
                <a16:creationId xmlns:a16="http://schemas.microsoft.com/office/drawing/2014/main" id="{84583BB3-2484-7227-24EB-3685AD7BE157}"/>
              </a:ext>
            </a:extLst>
          </p:cNvPr>
          <p:cNvGrpSpPr/>
          <p:nvPr/>
        </p:nvGrpSpPr>
        <p:grpSpPr>
          <a:xfrm>
            <a:off x="353965" y="691942"/>
            <a:ext cx="3260522" cy="5474117"/>
            <a:chOff x="388690" y="577664"/>
            <a:chExt cx="3260522" cy="5474117"/>
          </a:xfrm>
        </p:grpSpPr>
        <p:sp>
          <p:nvSpPr>
            <p:cNvPr id="10" name="Rectangle 9">
              <a:extLst>
                <a:ext uri="{FF2B5EF4-FFF2-40B4-BE49-F238E27FC236}">
                  <a16:creationId xmlns:a16="http://schemas.microsoft.com/office/drawing/2014/main" id="{E704710B-D087-E0D9-1385-E6435E1B2D16}"/>
                </a:ext>
              </a:extLst>
            </p:cNvPr>
            <p:cNvSpPr/>
            <p:nvPr/>
          </p:nvSpPr>
          <p:spPr>
            <a:xfrm>
              <a:off x="388690" y="577664"/>
              <a:ext cx="3260522" cy="3477875"/>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IN" sz="4400" b="0" i="0" u="none" strike="noStrike" kern="0" cap="none" spc="0" normalizeH="0" baseline="0" noProof="0" dirty="0">
                  <a:ln>
                    <a:noFill/>
                  </a:ln>
                  <a:solidFill>
                    <a:srgbClr val="FFFFFF"/>
                  </a:solidFill>
                  <a:effectLst/>
                  <a:uLnTx/>
                  <a:uFillTx/>
                </a:rPr>
                <a:t>Potential Benefit from your proposed solution</a:t>
              </a:r>
              <a:endParaRPr kumimoji="0" lang="en-US" sz="4400" b="0" i="0" u="none" strike="noStrike" kern="0" cap="none" spc="0" normalizeH="0" baseline="0" noProof="0" dirty="0">
                <a:ln>
                  <a:noFill/>
                </a:ln>
                <a:solidFill>
                  <a:schemeClr val="bg1">
                    <a:lumMod val="50000"/>
                    <a:lumOff val="50000"/>
                  </a:schemeClr>
                </a:solidFill>
                <a:effectLst/>
                <a:uLnTx/>
                <a:uFillTx/>
              </a:endParaRPr>
            </a:p>
          </p:txBody>
        </p:sp>
        <p:sp>
          <p:nvSpPr>
            <p:cNvPr id="12" name="TextBox 11">
              <a:extLst>
                <a:ext uri="{FF2B5EF4-FFF2-40B4-BE49-F238E27FC236}">
                  <a16:creationId xmlns:a16="http://schemas.microsoft.com/office/drawing/2014/main" id="{459CE3DA-F7EE-426E-B85E-67C6C651AA25}"/>
                </a:ext>
              </a:extLst>
            </p:cNvPr>
            <p:cNvSpPr txBox="1"/>
            <p:nvPr/>
          </p:nvSpPr>
          <p:spPr>
            <a:xfrm>
              <a:off x="388690" y="3966889"/>
              <a:ext cx="3027994" cy="1938992"/>
            </a:xfrm>
            <a:prstGeom prst="rect">
              <a:avLst/>
            </a:prstGeom>
            <a:noFill/>
          </p:spPr>
          <p:txBody>
            <a:bodyPr wrap="square">
              <a:spAutoFit/>
            </a:bodyPr>
            <a:lstStyle/>
            <a:p>
              <a:r>
                <a:rPr lang="en-IN" sz="2000" kern="0" dirty="0">
                  <a:solidFill>
                    <a:schemeClr val="bg1">
                      <a:lumMod val="10000"/>
                      <a:lumOff val="90000"/>
                    </a:schemeClr>
                  </a:solidFill>
                </a:rPr>
                <a:t>(Describe in detail the kind of benefit can be planned through your solution, Explain key Matrix, Potential Return on Investment)</a:t>
              </a:r>
              <a:endParaRPr lang="en-US" sz="2000" kern="0" dirty="0">
                <a:solidFill>
                  <a:schemeClr val="bg1">
                    <a:lumMod val="10000"/>
                    <a:lumOff val="90000"/>
                  </a:schemeClr>
                </a:solidFill>
              </a:endParaRPr>
            </a:p>
          </p:txBody>
        </p:sp>
        <p:cxnSp>
          <p:nvCxnSpPr>
            <p:cNvPr id="13" name="Straight Connector 12">
              <a:extLst>
                <a:ext uri="{FF2B5EF4-FFF2-40B4-BE49-F238E27FC236}">
                  <a16:creationId xmlns:a16="http://schemas.microsoft.com/office/drawing/2014/main" id="{D87CAA69-D562-538B-A758-EB32137C748D}"/>
                </a:ext>
              </a:extLst>
            </p:cNvPr>
            <p:cNvCxnSpPr>
              <a:cxnSpLocks/>
            </p:cNvCxnSpPr>
            <p:nvPr/>
          </p:nvCxnSpPr>
          <p:spPr>
            <a:xfrm>
              <a:off x="498945" y="6051781"/>
              <a:ext cx="1181718" cy="0"/>
            </a:xfrm>
            <a:prstGeom prst="line">
              <a:avLst/>
            </a:prstGeom>
            <a:noFill/>
            <a:ln w="50800" cap="flat" cmpd="sng" algn="ctr">
              <a:gradFill flip="none" rotWithShape="1">
                <a:gsLst>
                  <a:gs pos="42000">
                    <a:srgbClr val="FFE600"/>
                  </a:gs>
                  <a:gs pos="100000">
                    <a:srgbClr val="32FFFF"/>
                  </a:gs>
                  <a:gs pos="74000">
                    <a:srgbClr val="FF32FF"/>
                  </a:gs>
                </a:gsLst>
                <a:lin ang="0" scaled="1"/>
                <a:tileRect/>
              </a:gradFill>
              <a:prstDash val="solid"/>
              <a:tailEnd type="none"/>
            </a:ln>
            <a:effectLst/>
          </p:spPr>
        </p:cxnSp>
      </p:grpSp>
      <p:sp>
        <p:nvSpPr>
          <p:cNvPr id="15" name="Content Placeholder 14">
            <a:extLst>
              <a:ext uri="{FF2B5EF4-FFF2-40B4-BE49-F238E27FC236}">
                <a16:creationId xmlns:a16="http://schemas.microsoft.com/office/drawing/2014/main" id="{9A0FBFBB-C674-3B4B-5B54-5D8516C9CA11}"/>
              </a:ext>
            </a:extLst>
          </p:cNvPr>
          <p:cNvSpPr>
            <a:spLocks noGrp="1"/>
          </p:cNvSpPr>
          <p:nvPr>
            <p:ph sz="quarter" idx="16"/>
          </p:nvPr>
        </p:nvSpPr>
        <p:spPr>
          <a:xfrm>
            <a:off x="3906040" y="244961"/>
            <a:ext cx="8223245" cy="6698764"/>
          </a:xfrm>
        </p:spPr>
        <p:txBody>
          <a:bodyPr/>
          <a:lstStyle/>
          <a:p>
            <a:pPr marL="0" indent="0" algn="ctr">
              <a:buNone/>
            </a:pPr>
            <a:r>
              <a:rPr lang="en-US" sz="2000" b="1" dirty="0"/>
              <a:t>Potential Benefits of Agentic AI-Based Provider Directory Validation</a:t>
            </a:r>
          </a:p>
          <a:p>
            <a:pPr>
              <a:buClr>
                <a:srgbClr val="1A1A24"/>
              </a:buClr>
              <a:buFont typeface="Wingdings" panose="05000000000000000000" pitchFamily="2" charset="2"/>
              <a:buChar char="v"/>
            </a:pPr>
            <a:r>
              <a:rPr lang="en-US" sz="1050" b="1" dirty="0"/>
              <a:t>Key Benefits :</a:t>
            </a:r>
          </a:p>
          <a:p>
            <a:pPr>
              <a:buClr>
                <a:srgbClr val="1A1A24"/>
              </a:buClr>
            </a:pPr>
            <a:r>
              <a:rPr lang="en-US" sz="1050" b="1" dirty="0"/>
              <a:t>Operational:</a:t>
            </a:r>
            <a:endParaRPr lang="en-US" sz="1050" dirty="0"/>
          </a:p>
          <a:p>
            <a:pPr lvl="1">
              <a:buClr>
                <a:srgbClr val="1A1A24"/>
              </a:buClr>
            </a:pPr>
            <a:r>
              <a:rPr lang="en-US" sz="1050" dirty="0"/>
              <a:t>Automated validation reduces manual effort by up to 80%.</a:t>
            </a:r>
          </a:p>
          <a:p>
            <a:pPr lvl="1">
              <a:buClr>
                <a:srgbClr val="1A1A24"/>
              </a:buClr>
            </a:pPr>
            <a:r>
              <a:rPr lang="en-US" sz="1050" dirty="0"/>
              <a:t>Faster data updates and synchronization across systems.</a:t>
            </a:r>
          </a:p>
          <a:p>
            <a:pPr lvl="1">
              <a:buClr>
                <a:srgbClr val="1A1A24"/>
              </a:buClr>
            </a:pPr>
            <a:r>
              <a:rPr lang="en-US" sz="1050" dirty="0"/>
              <a:t>Improved data governance and compliance with regulatory standards.</a:t>
            </a:r>
          </a:p>
          <a:p>
            <a:pPr>
              <a:buClr>
                <a:srgbClr val="1A1A24"/>
              </a:buClr>
            </a:pPr>
            <a:r>
              <a:rPr lang="en-US" sz="1050" b="1" dirty="0"/>
              <a:t>Business:</a:t>
            </a:r>
            <a:endParaRPr lang="en-US" sz="1050" dirty="0"/>
          </a:p>
          <a:p>
            <a:pPr lvl="1">
              <a:buClr>
                <a:srgbClr val="1A1A24"/>
              </a:buClr>
            </a:pPr>
            <a:r>
              <a:rPr lang="en-US" sz="1050" dirty="0"/>
              <a:t>Reduced operational costs associated with manual verification.</a:t>
            </a:r>
          </a:p>
          <a:p>
            <a:pPr lvl="1">
              <a:buClr>
                <a:srgbClr val="1A1A24"/>
              </a:buClr>
            </a:pPr>
            <a:r>
              <a:rPr lang="en-US" sz="1050" dirty="0"/>
              <a:t>Improved provider relationships through accurate directory information.</a:t>
            </a:r>
          </a:p>
          <a:p>
            <a:pPr lvl="1">
              <a:buClr>
                <a:srgbClr val="1A1A24"/>
              </a:buClr>
            </a:pPr>
            <a:r>
              <a:rPr lang="en-US" sz="1050" dirty="0"/>
              <a:t>Enhanced revenue cycle management due to fewer claim denials.</a:t>
            </a:r>
          </a:p>
          <a:p>
            <a:pPr>
              <a:buClr>
                <a:srgbClr val="1A1A24"/>
              </a:buClr>
            </a:pPr>
            <a:r>
              <a:rPr lang="en-US" sz="1050" b="1" dirty="0"/>
              <a:t>User:</a:t>
            </a:r>
            <a:endParaRPr lang="en-US" sz="1050" dirty="0"/>
          </a:p>
          <a:p>
            <a:pPr lvl="1">
              <a:buClr>
                <a:srgbClr val="1A1A24"/>
              </a:buClr>
            </a:pPr>
            <a:r>
              <a:rPr lang="en-US" sz="1050" dirty="0"/>
              <a:t>More accurate and reliable provider information for patients.</a:t>
            </a:r>
          </a:p>
          <a:p>
            <a:pPr lvl="1">
              <a:buClr>
                <a:srgbClr val="1A1A24"/>
              </a:buClr>
            </a:pPr>
            <a:r>
              <a:rPr lang="en-US" sz="1050" dirty="0"/>
              <a:t>Improved patient access to care through up-to-date directories.</a:t>
            </a:r>
          </a:p>
          <a:p>
            <a:pPr lvl="1">
              <a:buClr>
                <a:srgbClr val="1A1A24"/>
              </a:buClr>
            </a:pPr>
            <a:r>
              <a:rPr lang="en-US" sz="1050" dirty="0"/>
              <a:t>Reduced call center volume related to directory inaccuracies.</a:t>
            </a:r>
          </a:p>
          <a:p>
            <a:pPr marL="252000" lvl="1" indent="0">
              <a:buClr>
                <a:srgbClr val="1A1A24"/>
              </a:buClr>
              <a:buNone/>
            </a:pPr>
            <a:endParaRPr lang="en-US" sz="1050" dirty="0"/>
          </a:p>
          <a:p>
            <a:pPr>
              <a:buClr>
                <a:srgbClr val="1A1A24"/>
              </a:buClr>
              <a:buFont typeface="Wingdings" panose="05000000000000000000" pitchFamily="2" charset="2"/>
              <a:buChar char="v"/>
            </a:pPr>
            <a:r>
              <a:rPr lang="en-US" sz="1050" b="1" dirty="0"/>
              <a:t>Key Metrics :</a:t>
            </a:r>
          </a:p>
          <a:p>
            <a:pPr>
              <a:buClr>
                <a:srgbClr val="1A1A24"/>
              </a:buClr>
            </a:pPr>
            <a:r>
              <a:rPr lang="en-US" sz="1050" b="1" dirty="0"/>
              <a:t>Accuracy:</a:t>
            </a:r>
            <a:r>
              <a:rPr lang="en-US" sz="1050" dirty="0"/>
              <a:t> Increase provider directory accuracy from 65% to 95%.</a:t>
            </a:r>
          </a:p>
          <a:p>
            <a:pPr>
              <a:buClr>
                <a:srgbClr val="1A1A24"/>
              </a:buClr>
            </a:pPr>
            <a:r>
              <a:rPr lang="en-US" sz="1050" b="1" dirty="0"/>
              <a:t>Time Saved:</a:t>
            </a:r>
            <a:r>
              <a:rPr lang="en-US" sz="1050" dirty="0"/>
              <a:t> Reduce validation time per provider record by 75%.</a:t>
            </a:r>
          </a:p>
          <a:p>
            <a:pPr>
              <a:buClr>
                <a:srgbClr val="1A1A24"/>
              </a:buClr>
            </a:pPr>
            <a:r>
              <a:rPr lang="en-US" sz="1050" b="1" dirty="0"/>
              <a:t>Cost Efficiency:</a:t>
            </a:r>
            <a:r>
              <a:rPr lang="en-US" sz="1050" dirty="0"/>
              <a:t> Lower directory maintenance costs by 60% annually.</a:t>
            </a:r>
          </a:p>
          <a:p>
            <a:pPr>
              <a:buClr>
                <a:srgbClr val="1A1A24"/>
              </a:buClr>
            </a:pPr>
            <a:r>
              <a:rPr lang="en-US" sz="1050" b="1" dirty="0"/>
              <a:t>Compliance:</a:t>
            </a:r>
            <a:r>
              <a:rPr lang="en-US" sz="1050" dirty="0"/>
              <a:t> Achieve 100% compliance with CMS guidelines.</a:t>
            </a:r>
          </a:p>
          <a:p>
            <a:pPr>
              <a:buClr>
                <a:srgbClr val="1A1A24"/>
              </a:buClr>
            </a:pPr>
            <a:r>
              <a:rPr lang="en-US" sz="1050" b="1" dirty="0"/>
              <a:t>Data Coverage:</a:t>
            </a:r>
            <a:r>
              <a:rPr lang="en-US" sz="1050" dirty="0"/>
              <a:t> Increase the number of validated data points per provider by 40%.</a:t>
            </a:r>
          </a:p>
          <a:p>
            <a:pPr marL="0" indent="0">
              <a:buClr>
                <a:srgbClr val="1A1A24"/>
              </a:buClr>
              <a:buNone/>
            </a:pPr>
            <a:endParaRPr lang="en-US" sz="1050" dirty="0"/>
          </a:p>
          <a:p>
            <a:pPr>
              <a:buClr>
                <a:srgbClr val="1A1A24"/>
              </a:buClr>
              <a:buFont typeface="Wingdings" panose="05000000000000000000" pitchFamily="2" charset="2"/>
              <a:buChar char="v"/>
            </a:pPr>
            <a:r>
              <a:rPr lang="en-US" sz="1050" b="1" dirty="0"/>
              <a:t>Impact Summary:</a:t>
            </a:r>
            <a:r>
              <a:rPr lang="en-US" sz="1050" dirty="0"/>
              <a:t> </a:t>
            </a:r>
          </a:p>
          <a:p>
            <a:pPr>
              <a:buClr>
                <a:srgbClr val="1A1A24"/>
              </a:buClr>
            </a:pPr>
            <a:r>
              <a:rPr lang="en-US" sz="1050" dirty="0"/>
              <a:t>Achieve a 3× ROI within the first year through reduced operational costs, improved data accuracy, and enhanced compliance.</a:t>
            </a:r>
          </a:p>
          <a:p>
            <a:pPr marL="0" indent="0">
              <a:buNone/>
            </a:pPr>
            <a:endParaRPr lang="en-IN" dirty="0"/>
          </a:p>
        </p:txBody>
      </p:sp>
      <p:pic>
        <p:nvPicPr>
          <p:cNvPr id="17" name="Picture 16">
            <a:extLst>
              <a:ext uri="{FF2B5EF4-FFF2-40B4-BE49-F238E27FC236}">
                <a16:creationId xmlns:a16="http://schemas.microsoft.com/office/drawing/2014/main" id="{E8410B96-A880-4E6D-D269-67C28FE71D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3812" y="3429000"/>
            <a:ext cx="4039223" cy="1637523"/>
          </a:xfrm>
          <a:prstGeom prst="rect">
            <a:avLst/>
          </a:prstGeom>
        </p:spPr>
      </p:pic>
    </p:spTree>
    <p:extLst>
      <p:ext uri="{BB962C8B-B14F-4D97-AF65-F5344CB8AC3E}">
        <p14:creationId xmlns:p14="http://schemas.microsoft.com/office/powerpoint/2010/main" val="7615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F7F7F">
            <a:alpha val="14509"/>
          </a:srgbClr>
        </a:solidFill>
        <a:effectLst/>
      </p:bgPr>
    </p:bg>
    <p:spTree>
      <p:nvGrpSpPr>
        <p:cNvPr id="1" name="Shape 794">
          <a:extLst>
            <a:ext uri="{FF2B5EF4-FFF2-40B4-BE49-F238E27FC236}">
              <a16:creationId xmlns:a16="http://schemas.microsoft.com/office/drawing/2014/main" id="{C0D3407C-5ADF-236B-7BCA-CB4DF523A75B}"/>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B3D05C1C-F538-084A-3090-F480B5DB10A5}"/>
              </a:ext>
            </a:extLst>
          </p:cNvPr>
          <p:cNvCxnSpPr/>
          <p:nvPr/>
        </p:nvCxnSpPr>
        <p:spPr>
          <a:xfrm>
            <a:off x="618241" y="456869"/>
            <a:ext cx="1101600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01615E8-B201-D0A0-4EFB-D599495210F9}"/>
              </a:ext>
            </a:extLst>
          </p:cNvPr>
          <p:cNvCxnSpPr>
            <a:cxnSpLocks/>
          </p:cNvCxnSpPr>
          <p:nvPr/>
        </p:nvCxnSpPr>
        <p:spPr>
          <a:xfrm>
            <a:off x="0" y="6797040"/>
            <a:ext cx="12192000" cy="0"/>
          </a:xfrm>
          <a:prstGeom prst="line">
            <a:avLst/>
          </a:prstGeom>
          <a:ln w="152400">
            <a:gradFill flip="none" rotWithShape="1">
              <a:gsLst>
                <a:gs pos="32000">
                  <a:srgbClr val="FFE600"/>
                </a:gs>
                <a:gs pos="93000">
                  <a:srgbClr val="32FFFF"/>
                </a:gs>
                <a:gs pos="66000">
                  <a:srgbClr val="FF32FF"/>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54" name="Google Shape;796;p51">
            <a:extLst>
              <a:ext uri="{FF2B5EF4-FFF2-40B4-BE49-F238E27FC236}">
                <a16:creationId xmlns:a16="http://schemas.microsoft.com/office/drawing/2014/main" id="{A4C5C67D-F4F8-5727-865C-B31940D8FC24}"/>
              </a:ext>
            </a:extLst>
          </p:cNvPr>
          <p:cNvSpPr txBox="1"/>
          <p:nvPr/>
        </p:nvSpPr>
        <p:spPr>
          <a:xfrm>
            <a:off x="471069" y="494464"/>
            <a:ext cx="11068482" cy="707846"/>
          </a:xfrm>
          <a:prstGeom prst="rect">
            <a:avLst/>
          </a:prstGeom>
          <a:noFill/>
          <a:ln>
            <a:noFill/>
          </a:ln>
        </p:spPr>
        <p:txBody>
          <a:bodyPr spcFirstLastPara="1" wrap="square" lIns="91425" tIns="45700" rIns="91425" bIns="45700" anchor="t" anchorCtr="0">
            <a:spAutoFit/>
          </a:bodyPr>
          <a:lstStyle/>
          <a:p>
            <a:pPr lvl="0">
              <a:buClr>
                <a:srgbClr val="000000"/>
              </a:buClr>
              <a:buSzPts val="3500"/>
            </a:pPr>
            <a:r>
              <a:rPr lang="en-IN" sz="4000" kern="0" dirty="0">
                <a:solidFill>
                  <a:srgbClr val="000000"/>
                </a:solidFill>
                <a:latin typeface="EYInterstate" panose="02000503020000020004" pitchFamily="2" charset="0"/>
                <a:ea typeface="Montserrat SemiBold"/>
                <a:cs typeface="Montserrat SemiBold"/>
              </a:rPr>
              <a:t>Powered by India's leading enterprises</a:t>
            </a:r>
          </a:p>
        </p:txBody>
      </p:sp>
      <p:grpSp>
        <p:nvGrpSpPr>
          <p:cNvPr id="24" name="Group 23">
            <a:extLst>
              <a:ext uri="{FF2B5EF4-FFF2-40B4-BE49-F238E27FC236}">
                <a16:creationId xmlns:a16="http://schemas.microsoft.com/office/drawing/2014/main" id="{7A33602F-391A-115A-0F71-29412580A5D3}"/>
              </a:ext>
            </a:extLst>
          </p:cNvPr>
          <p:cNvGrpSpPr/>
          <p:nvPr/>
        </p:nvGrpSpPr>
        <p:grpSpPr>
          <a:xfrm>
            <a:off x="598718" y="1306812"/>
            <a:ext cx="10531079" cy="1927956"/>
            <a:chOff x="598718" y="4574293"/>
            <a:chExt cx="8811497" cy="1613147"/>
          </a:xfrm>
        </p:grpSpPr>
        <p:grpSp>
          <p:nvGrpSpPr>
            <p:cNvPr id="814" name="Group 813">
              <a:extLst>
                <a:ext uri="{FF2B5EF4-FFF2-40B4-BE49-F238E27FC236}">
                  <a16:creationId xmlns:a16="http://schemas.microsoft.com/office/drawing/2014/main" id="{68C03251-9049-4127-01CA-7EE374E13BBA}"/>
                </a:ext>
              </a:extLst>
            </p:cNvPr>
            <p:cNvGrpSpPr/>
            <p:nvPr/>
          </p:nvGrpSpPr>
          <p:grpSpPr>
            <a:xfrm>
              <a:off x="3960081" y="4574293"/>
              <a:ext cx="2679358" cy="1613146"/>
              <a:chOff x="3960082" y="4501387"/>
              <a:chExt cx="2170829" cy="1368020"/>
            </a:xfrm>
          </p:grpSpPr>
          <p:sp>
            <p:nvSpPr>
              <p:cNvPr id="839" name="Rectangle: Rounded Corners 838">
                <a:extLst>
                  <a:ext uri="{FF2B5EF4-FFF2-40B4-BE49-F238E27FC236}">
                    <a16:creationId xmlns:a16="http://schemas.microsoft.com/office/drawing/2014/main" id="{57EC8930-B815-E40D-5B0C-75B07DDE0F73}"/>
                  </a:ext>
                </a:extLst>
              </p:cNvPr>
              <p:cNvSpPr/>
              <p:nvPr/>
            </p:nvSpPr>
            <p:spPr>
              <a:xfrm>
                <a:off x="3960082" y="4501387"/>
                <a:ext cx="2170829" cy="653027"/>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840" name="Rectangle: Rounded Corners 839">
                <a:extLst>
                  <a:ext uri="{FF2B5EF4-FFF2-40B4-BE49-F238E27FC236}">
                    <a16:creationId xmlns:a16="http://schemas.microsoft.com/office/drawing/2014/main" id="{1E7F720A-115D-5AA3-C1CE-EB5A2F77EB8E}"/>
                  </a:ext>
                </a:extLst>
              </p:cNvPr>
              <p:cNvSpPr/>
              <p:nvPr/>
            </p:nvSpPr>
            <p:spPr>
              <a:xfrm>
                <a:off x="3960082" y="5216380"/>
                <a:ext cx="2170829" cy="653027"/>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grpSp>
        <p:grpSp>
          <p:nvGrpSpPr>
            <p:cNvPr id="18" name="Group 17">
              <a:extLst>
                <a:ext uri="{FF2B5EF4-FFF2-40B4-BE49-F238E27FC236}">
                  <a16:creationId xmlns:a16="http://schemas.microsoft.com/office/drawing/2014/main" id="{45BA21AB-44D2-831B-750F-E50AA4E7B4E6}"/>
                </a:ext>
              </a:extLst>
            </p:cNvPr>
            <p:cNvGrpSpPr/>
            <p:nvPr/>
          </p:nvGrpSpPr>
          <p:grpSpPr>
            <a:xfrm>
              <a:off x="6730857" y="4574293"/>
              <a:ext cx="2679358" cy="1613146"/>
              <a:chOff x="3960082" y="4501387"/>
              <a:chExt cx="2170829" cy="1368020"/>
            </a:xfrm>
          </p:grpSpPr>
          <p:sp>
            <p:nvSpPr>
              <p:cNvPr id="19" name="Rectangle: Rounded Corners 18">
                <a:extLst>
                  <a:ext uri="{FF2B5EF4-FFF2-40B4-BE49-F238E27FC236}">
                    <a16:creationId xmlns:a16="http://schemas.microsoft.com/office/drawing/2014/main" id="{8FF0EA3F-4178-6DAB-935B-DED0B962EC8B}"/>
                  </a:ext>
                </a:extLst>
              </p:cNvPr>
              <p:cNvSpPr/>
              <p:nvPr/>
            </p:nvSpPr>
            <p:spPr>
              <a:xfrm>
                <a:off x="3960082" y="4501387"/>
                <a:ext cx="2170829" cy="653027"/>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20" name="Rectangle: Rounded Corners 19">
                <a:extLst>
                  <a:ext uri="{FF2B5EF4-FFF2-40B4-BE49-F238E27FC236}">
                    <a16:creationId xmlns:a16="http://schemas.microsoft.com/office/drawing/2014/main" id="{93347CB9-4FF0-B3E8-FA96-138C4730EBD8}"/>
                  </a:ext>
                </a:extLst>
              </p:cNvPr>
              <p:cNvSpPr/>
              <p:nvPr/>
            </p:nvSpPr>
            <p:spPr>
              <a:xfrm>
                <a:off x="3960082" y="5216380"/>
                <a:ext cx="2170829" cy="653027"/>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grpSp>
        <p:sp>
          <p:nvSpPr>
            <p:cNvPr id="812" name="Rectangle: Rounded Corners 811">
              <a:extLst>
                <a:ext uri="{FF2B5EF4-FFF2-40B4-BE49-F238E27FC236}">
                  <a16:creationId xmlns:a16="http://schemas.microsoft.com/office/drawing/2014/main" id="{A99DCDCC-83AD-B3A3-B55E-2639C77B23CB}"/>
                </a:ext>
              </a:extLst>
            </p:cNvPr>
            <p:cNvSpPr/>
            <p:nvPr/>
          </p:nvSpPr>
          <p:spPr>
            <a:xfrm>
              <a:off x="598718" y="4574294"/>
              <a:ext cx="1600981" cy="1613146"/>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sp>
          <p:nvSpPr>
            <p:cNvPr id="813" name="Rectangle: Rounded Corners 812">
              <a:extLst>
                <a:ext uri="{FF2B5EF4-FFF2-40B4-BE49-F238E27FC236}">
                  <a16:creationId xmlns:a16="http://schemas.microsoft.com/office/drawing/2014/main" id="{57188AB7-9569-89A4-B788-65D9AAE8FC67}"/>
                </a:ext>
              </a:extLst>
            </p:cNvPr>
            <p:cNvSpPr/>
            <p:nvPr/>
          </p:nvSpPr>
          <p:spPr>
            <a:xfrm>
              <a:off x="2279400" y="4574294"/>
              <a:ext cx="1600981" cy="1613146"/>
            </a:xfrm>
            <a:prstGeom prst="roundRect">
              <a:avLst>
                <a:gd name="adj" fmla="val 7471"/>
              </a:avLst>
            </a:prstGeom>
            <a:solidFill>
              <a:srgbClr val="FFFFFF"/>
            </a:solidFill>
            <a:ln w="9525" cap="flat" cmpd="sng" algn="ctr">
              <a:noFill/>
              <a:prstDash val="solid"/>
            </a:ln>
            <a:effectLst>
              <a:outerShdw blurRad="76200" dist="38100" dir="5400000" algn="t" rotWithShape="0">
                <a:prstClr val="black">
                  <a:alpha val="16000"/>
                </a:prstClr>
              </a:outerShdw>
            </a:effectLst>
          </p:spPr>
          <p:txBody>
            <a:bodyPr rtlCol="0" anchor="t" anchorCtr="0"/>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dirty="0">
                <a:ln>
                  <a:noFill/>
                </a:ln>
                <a:solidFill>
                  <a:srgbClr val="FFFFFF"/>
                </a:solidFill>
                <a:effectLst/>
                <a:uLnTx/>
                <a:uFillTx/>
                <a:latin typeface="EYInterstate Light"/>
                <a:ea typeface="+mn-ea"/>
                <a:cs typeface="+mn-cs"/>
              </a:endParaRPr>
            </a:p>
          </p:txBody>
        </p:sp>
        <p:pic>
          <p:nvPicPr>
            <p:cNvPr id="5" name="Picture 4" descr="Download Hero MotoCorp Logo in SVG Vector or PNG File Format - Logo.wine">
              <a:extLst>
                <a:ext uri="{FF2B5EF4-FFF2-40B4-BE49-F238E27FC236}">
                  <a16:creationId xmlns:a16="http://schemas.microsoft.com/office/drawing/2014/main" id="{0E1902BF-1471-3F37-5AAF-88DD881FCC1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468" t="12367" r="27315" b="10114"/>
            <a:stretch/>
          </p:blipFill>
          <p:spPr bwMode="auto">
            <a:xfrm>
              <a:off x="834623" y="4789148"/>
              <a:ext cx="1082869" cy="11606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red and black logo&#10;&#10;AI-generated content may be incorrect.">
              <a:extLst>
                <a:ext uri="{FF2B5EF4-FFF2-40B4-BE49-F238E27FC236}">
                  <a16:creationId xmlns:a16="http://schemas.microsoft.com/office/drawing/2014/main" id="{E07E8254-E854-B986-360F-51F6D1933B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6648" y="4796064"/>
              <a:ext cx="2169441" cy="316741"/>
            </a:xfrm>
            <a:prstGeom prst="rect">
              <a:avLst/>
            </a:prstGeom>
          </p:spPr>
        </p:pic>
        <p:pic>
          <p:nvPicPr>
            <p:cNvPr id="7" name="Picture 6" descr="A blue and yellow logo&#10;&#10;AI-generated content may be incorrect.">
              <a:extLst>
                <a:ext uri="{FF2B5EF4-FFF2-40B4-BE49-F238E27FC236}">
                  <a16:creationId xmlns:a16="http://schemas.microsoft.com/office/drawing/2014/main" id="{EEC158FB-262C-85CB-EAB2-04BCF5E1DC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2763" y="5609863"/>
              <a:ext cx="1951343" cy="382658"/>
            </a:xfrm>
            <a:prstGeom prst="rect">
              <a:avLst/>
            </a:prstGeom>
          </p:spPr>
        </p:pic>
        <p:pic>
          <p:nvPicPr>
            <p:cNvPr id="8" name="Picture 7" descr="A logo with blue and orange colors&#10;&#10;AI-generated content may be incorrect.">
              <a:extLst>
                <a:ext uri="{FF2B5EF4-FFF2-40B4-BE49-F238E27FC236}">
                  <a16:creationId xmlns:a16="http://schemas.microsoft.com/office/drawing/2014/main" id="{18554ECE-06B4-00C0-3C71-0B252E8CB0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71449" y="4604434"/>
              <a:ext cx="1682425" cy="723148"/>
            </a:xfrm>
            <a:prstGeom prst="rect">
              <a:avLst/>
            </a:prstGeom>
          </p:spPr>
        </p:pic>
        <p:pic>
          <p:nvPicPr>
            <p:cNvPr id="9" name="Picture 8" descr="A logo with red and yellow triangles&#10;&#10;AI-generated content may be incorrect.">
              <a:extLst>
                <a:ext uri="{FF2B5EF4-FFF2-40B4-BE49-F238E27FC236}">
                  <a16:creationId xmlns:a16="http://schemas.microsoft.com/office/drawing/2014/main" id="{19804D0A-045B-A273-5775-D4B2F2110ED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56575" y="4798939"/>
              <a:ext cx="1045670" cy="1139227"/>
            </a:xfrm>
            <a:prstGeom prst="rect">
              <a:avLst/>
            </a:prstGeom>
          </p:spPr>
        </p:pic>
        <p:pic>
          <p:nvPicPr>
            <p:cNvPr id="10" name="Picture 9" descr="A red text on a black background&#10;&#10;AI-generated content may be incorrect.">
              <a:extLst>
                <a:ext uri="{FF2B5EF4-FFF2-40B4-BE49-F238E27FC236}">
                  <a16:creationId xmlns:a16="http://schemas.microsoft.com/office/drawing/2014/main" id="{54285DF4-BA20-32DB-2000-32FDDF8B25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5672" y="5639671"/>
              <a:ext cx="1949726" cy="382658"/>
            </a:xfrm>
            <a:prstGeom prst="rect">
              <a:avLst/>
            </a:prstGeom>
          </p:spPr>
        </p:pic>
      </p:grpSp>
      <p:sp>
        <p:nvSpPr>
          <p:cNvPr id="25" name="Rectangle: Rounded Corners 24">
            <a:extLst>
              <a:ext uri="{FF2B5EF4-FFF2-40B4-BE49-F238E27FC236}">
                <a16:creationId xmlns:a16="http://schemas.microsoft.com/office/drawing/2014/main" id="{78F31578-452A-A33F-95E2-C62BABCFF167}"/>
              </a:ext>
            </a:extLst>
          </p:cNvPr>
          <p:cNvSpPr/>
          <p:nvPr/>
        </p:nvSpPr>
        <p:spPr>
          <a:xfrm>
            <a:off x="573205" y="3623233"/>
            <a:ext cx="10120580" cy="2489264"/>
          </a:xfrm>
          <a:prstGeom prst="roundRect">
            <a:avLst>
              <a:gd name="adj" fmla="val 4532"/>
            </a:avLst>
          </a:prstGeom>
          <a:solidFill>
            <a:schemeClr val="bg1"/>
          </a:solidFill>
          <a:ln>
            <a:noFill/>
          </a:ln>
          <a:effectLst>
            <a:outerShdw blurRad="444500" sx="101000" sy="101000" algn="ctr" rotWithShape="0">
              <a:prstClr val="black">
                <a:alpha val="1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pic>
        <p:nvPicPr>
          <p:cNvPr id="26" name="Picture 25" descr="A colorful twisted object with a black background&#10;&#10;AI-generated content may be incorrect.">
            <a:extLst>
              <a:ext uri="{FF2B5EF4-FFF2-40B4-BE49-F238E27FC236}">
                <a16:creationId xmlns:a16="http://schemas.microsoft.com/office/drawing/2014/main" id="{69ED7870-D43F-71E9-FB9E-FA072991DCF5}"/>
              </a:ext>
            </a:extLst>
          </p:cNvPr>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a:xfrm flipH="1" flipV="1">
            <a:off x="9597754" y="4468477"/>
            <a:ext cx="2435781" cy="2003368"/>
          </a:xfrm>
          <a:custGeom>
            <a:avLst/>
            <a:gdLst>
              <a:gd name="connsiteX0" fmla="*/ 2175677 w 3922849"/>
              <a:gd name="connsiteY0" fmla="*/ 3226444 h 3226444"/>
              <a:gd name="connsiteX1" fmla="*/ 0 w 3922849"/>
              <a:gd name="connsiteY1" fmla="*/ 3226444 h 3226444"/>
              <a:gd name="connsiteX2" fmla="*/ 0 w 3922849"/>
              <a:gd name="connsiteY2" fmla="*/ 0 h 3226444"/>
              <a:gd name="connsiteX3" fmla="*/ 3922849 w 3922849"/>
              <a:gd name="connsiteY3" fmla="*/ 0 h 3226444"/>
              <a:gd name="connsiteX4" fmla="*/ 3922849 w 3922849"/>
              <a:gd name="connsiteY4" fmla="*/ 1670093 h 3226444"/>
              <a:gd name="connsiteX5" fmla="*/ 3878528 w 3922849"/>
              <a:gd name="connsiteY5" fmla="*/ 1651010 h 3226444"/>
              <a:gd name="connsiteX6" fmla="*/ 3227018 w 3922849"/>
              <a:gd name="connsiteY6" fmla="*/ 1494800 h 3226444"/>
              <a:gd name="connsiteX7" fmla="*/ 3227018 w 3922849"/>
              <a:gd name="connsiteY7" fmla="*/ 1505312 h 3226444"/>
              <a:gd name="connsiteX8" fmla="*/ 3195314 w 3922849"/>
              <a:gd name="connsiteY8" fmla="*/ 1539212 h 3226444"/>
              <a:gd name="connsiteX9" fmla="*/ 3188918 w 3922849"/>
              <a:gd name="connsiteY9" fmla="*/ 1544330 h 3226444"/>
              <a:gd name="connsiteX10" fmla="*/ 3188810 w 3922849"/>
              <a:gd name="connsiteY10" fmla="*/ 1546168 h 3226444"/>
              <a:gd name="connsiteX11" fmla="*/ 2719018 w 3922849"/>
              <a:gd name="connsiteY11" fmla="*/ 2048520 h 3226444"/>
              <a:gd name="connsiteX12" fmla="*/ 2305899 w 3922849"/>
              <a:gd name="connsiteY12" fmla="*/ 2187462 h 3226444"/>
              <a:gd name="connsiteX13" fmla="*/ 2146883 w 3922849"/>
              <a:gd name="connsiteY13" fmla="*/ 2205364 h 3226444"/>
              <a:gd name="connsiteX14" fmla="*/ 2137358 w 3922849"/>
              <a:gd name="connsiteY14" fmla="*/ 3148339 h 3226444"/>
              <a:gd name="connsiteX15" fmla="*/ 2152598 w 3922849"/>
              <a:gd name="connsiteY15" fmla="*/ 3142714 h 3226444"/>
              <a:gd name="connsiteX16" fmla="*/ 2152598 w 3922849"/>
              <a:gd name="connsiteY16" fmla="*/ 3186440 h 3226444"/>
              <a:gd name="connsiteX17" fmla="*/ 3922849 w 3922849"/>
              <a:gd name="connsiteY17" fmla="*/ 3226444 h 3226444"/>
              <a:gd name="connsiteX18" fmla="*/ 3782438 w 3922849"/>
              <a:gd name="connsiteY18" fmla="*/ 3226444 h 3226444"/>
              <a:gd name="connsiteX19" fmla="*/ 3922849 w 3922849"/>
              <a:gd name="connsiteY19" fmla="*/ 3088879 h 322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22849" h="3226444">
                <a:moveTo>
                  <a:pt x="2175677" y="3226444"/>
                </a:moveTo>
                <a:lnTo>
                  <a:pt x="0" y="3226444"/>
                </a:lnTo>
                <a:lnTo>
                  <a:pt x="0" y="0"/>
                </a:lnTo>
                <a:lnTo>
                  <a:pt x="3922849" y="0"/>
                </a:lnTo>
                <a:lnTo>
                  <a:pt x="3922849" y="1670093"/>
                </a:lnTo>
                <a:lnTo>
                  <a:pt x="3878528" y="1651010"/>
                </a:lnTo>
                <a:lnTo>
                  <a:pt x="3227018" y="1494800"/>
                </a:lnTo>
                <a:lnTo>
                  <a:pt x="3227018" y="1505312"/>
                </a:lnTo>
                <a:lnTo>
                  <a:pt x="3195314" y="1539212"/>
                </a:lnTo>
                <a:lnTo>
                  <a:pt x="3188918" y="1544330"/>
                </a:lnTo>
                <a:lnTo>
                  <a:pt x="3188810" y="1546168"/>
                </a:lnTo>
                <a:lnTo>
                  <a:pt x="2719018" y="2048520"/>
                </a:lnTo>
                <a:lnTo>
                  <a:pt x="2305899" y="2187462"/>
                </a:lnTo>
                <a:lnTo>
                  <a:pt x="2146883" y="2205364"/>
                </a:lnTo>
                <a:lnTo>
                  <a:pt x="2137358" y="3148339"/>
                </a:lnTo>
                <a:lnTo>
                  <a:pt x="2152598" y="3142714"/>
                </a:lnTo>
                <a:lnTo>
                  <a:pt x="2152598" y="3186440"/>
                </a:lnTo>
                <a:close/>
                <a:moveTo>
                  <a:pt x="3922849" y="3226444"/>
                </a:moveTo>
                <a:lnTo>
                  <a:pt x="3782438" y="3226444"/>
                </a:lnTo>
                <a:lnTo>
                  <a:pt x="3922849" y="3088879"/>
                </a:lnTo>
                <a:close/>
              </a:path>
            </a:pathLst>
          </a:custGeom>
        </p:spPr>
      </p:pic>
      <p:pic>
        <p:nvPicPr>
          <p:cNvPr id="27" name="Picture 26">
            <a:extLst>
              <a:ext uri="{FF2B5EF4-FFF2-40B4-BE49-F238E27FC236}">
                <a16:creationId xmlns:a16="http://schemas.microsoft.com/office/drawing/2014/main" id="{33AED27A-2787-27D6-72D0-76F6180A5062}"/>
              </a:ext>
            </a:extLst>
          </p:cNvPr>
          <p:cNvPicPr>
            <a:picLocks noChangeAspect="1"/>
          </p:cNvPicPr>
          <p:nvPr/>
        </p:nvPicPr>
        <p:blipFill>
          <a:blip r:embed="rId10"/>
          <a:stretch>
            <a:fillRect/>
          </a:stretch>
        </p:blipFill>
        <p:spPr>
          <a:xfrm>
            <a:off x="845935" y="3806820"/>
            <a:ext cx="1774289" cy="2045729"/>
          </a:xfrm>
          <a:prstGeom prst="rect">
            <a:avLst/>
          </a:prstGeom>
        </p:spPr>
      </p:pic>
      <p:sp>
        <p:nvSpPr>
          <p:cNvPr id="29" name="Google Shape;1144;p62">
            <a:extLst>
              <a:ext uri="{FF2B5EF4-FFF2-40B4-BE49-F238E27FC236}">
                <a16:creationId xmlns:a16="http://schemas.microsoft.com/office/drawing/2014/main" id="{D6293F75-B1D3-C0C8-7F1F-3222D5E6E830}"/>
              </a:ext>
            </a:extLst>
          </p:cNvPr>
          <p:cNvSpPr txBox="1"/>
          <p:nvPr/>
        </p:nvSpPr>
        <p:spPr>
          <a:xfrm>
            <a:off x="2607170" y="4086330"/>
            <a:ext cx="5889603" cy="15098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94444"/>
              </a:lnSpc>
              <a:spcBef>
                <a:spcPts val="0"/>
              </a:spcBef>
              <a:spcAft>
                <a:spcPts val="0"/>
              </a:spcAft>
              <a:buClr>
                <a:srgbClr val="000000"/>
              </a:buClr>
              <a:buSzPts val="3600"/>
              <a:buFontTx/>
              <a:buNone/>
              <a:tabLst/>
              <a:defRPr/>
            </a:pPr>
            <a:r>
              <a:rPr kumimoji="0" lang="en-IN" sz="4400" b="0" i="0" u="none" strike="noStrike" kern="0" cap="none" spc="0" normalizeH="0" baseline="0" noProof="0" dirty="0">
                <a:ln>
                  <a:noFill/>
                </a:ln>
                <a:solidFill>
                  <a:srgbClr val="000000">
                    <a:lumMod val="75000"/>
                    <a:lumOff val="25000"/>
                  </a:srgbClr>
                </a:solidFill>
                <a:effectLst/>
                <a:uLnTx/>
                <a:uFillTx/>
                <a:latin typeface="EYInterstate Light" panose="02000506000000020004" pitchFamily="2" charset="0"/>
                <a:ea typeface="+mn-ea"/>
                <a:cs typeface="+mn-cs"/>
              </a:rPr>
              <a:t>Thank you for</a:t>
            </a:r>
            <a:br>
              <a:rPr kumimoji="0" lang="en-IN" sz="4400" b="0" i="0" u="none" strike="noStrike" kern="0" cap="none" spc="0" normalizeH="0" baseline="0" noProof="0" dirty="0">
                <a:ln>
                  <a:noFill/>
                </a:ln>
                <a:solidFill>
                  <a:srgbClr val="000000">
                    <a:lumMod val="75000"/>
                    <a:lumOff val="25000"/>
                  </a:srgbClr>
                </a:solidFill>
                <a:effectLst/>
                <a:uLnTx/>
                <a:uFillTx/>
                <a:latin typeface="EYInterstate Light" panose="02000506000000020004" pitchFamily="2" charset="0"/>
                <a:ea typeface="+mn-ea"/>
                <a:cs typeface="+mn-cs"/>
              </a:rPr>
            </a:br>
            <a:r>
              <a:rPr kumimoji="0" lang="en-IN" sz="5400" b="0" i="0" u="none" strike="noStrike" kern="0" cap="none" spc="0" normalizeH="0" baseline="0" noProof="0" dirty="0">
                <a:ln>
                  <a:noFill/>
                </a:ln>
                <a:solidFill>
                  <a:srgbClr val="BFBFBF"/>
                </a:solidFill>
                <a:effectLst/>
                <a:uLnTx/>
                <a:uFillTx/>
                <a:latin typeface="EYInterstate" panose="02000503020000020004" pitchFamily="2" charset="0"/>
                <a:ea typeface="+mn-ea"/>
                <a:cs typeface="+mn-cs"/>
              </a:rPr>
              <a:t>your attention! </a:t>
            </a:r>
            <a:endParaRPr kumimoji="0" sz="4000" b="0" i="0" u="none" strike="noStrike" kern="0" cap="none" spc="0" normalizeH="0" baseline="0" noProof="0" dirty="0">
              <a:ln>
                <a:noFill/>
              </a:ln>
              <a:solidFill>
                <a:srgbClr val="BFBFBF"/>
              </a:solidFill>
              <a:effectLst/>
              <a:uLnTx/>
              <a:uFillTx/>
              <a:latin typeface="EYInterstate" panose="02000503020000020004" pitchFamily="2" charset="0"/>
              <a:ea typeface="+mn-ea"/>
              <a:cs typeface="+mn-cs"/>
              <a:sym typeface="Arial"/>
            </a:endParaRPr>
          </a:p>
        </p:txBody>
      </p:sp>
    </p:spTree>
    <p:extLst>
      <p:ext uri="{BB962C8B-B14F-4D97-AF65-F5344CB8AC3E}">
        <p14:creationId xmlns:p14="http://schemas.microsoft.com/office/powerpoint/2010/main" val="409875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descr="Boilerplate">
            <a:extLst>
              <a:ext uri="{FF2B5EF4-FFF2-40B4-BE49-F238E27FC236}">
                <a16:creationId xmlns:a16="http://schemas.microsoft.com/office/drawing/2014/main" id="{62C0F0C1-9EF4-372C-B2BC-A76079427F3E}"/>
              </a:ext>
            </a:extLst>
          </p:cNvPr>
          <p:cNvGrpSpPr/>
          <p:nvPr/>
        </p:nvGrpSpPr>
        <p:grpSpPr>
          <a:xfrm>
            <a:off x="612510" y="366157"/>
            <a:ext cx="3427175" cy="5349251"/>
            <a:chOff x="4378324" y="927100"/>
            <a:chExt cx="3427175" cy="5349251"/>
          </a:xfrm>
        </p:grpSpPr>
        <p:sp>
          <p:nvSpPr>
            <p:cNvPr id="4" name="Text Box 3">
              <a:extLst>
                <a:ext uri="{FF2B5EF4-FFF2-40B4-BE49-F238E27FC236}">
                  <a16:creationId xmlns:a16="http://schemas.microsoft.com/office/drawing/2014/main" id="{41C82077-EE68-9391-70A0-82DB4BEBA5A6}"/>
                </a:ext>
              </a:extLst>
            </p:cNvPr>
            <p:cNvSpPr txBox="1">
              <a:spLocks noChangeArrowheads="1"/>
            </p:cNvSpPr>
            <p:nvPr/>
          </p:nvSpPr>
          <p:spPr bwMode="auto">
            <a:xfrm>
              <a:off x="4378325" y="927100"/>
              <a:ext cx="18367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altLang="en-US" sz="11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Ernst &amp; Young LLP</a:t>
              </a:r>
              <a:endParaRPr kumimoji="0" lang="en-US" altLang="en-US" sz="11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p:txBody>
        </p:sp>
        <p:sp>
          <p:nvSpPr>
            <p:cNvPr id="7" name="Text Box 4">
              <a:extLst>
                <a:ext uri="{FF2B5EF4-FFF2-40B4-BE49-F238E27FC236}">
                  <a16:creationId xmlns:a16="http://schemas.microsoft.com/office/drawing/2014/main" id="{2AC745E2-B91C-3F4E-3E4F-85C0BD80029B}"/>
                </a:ext>
              </a:extLst>
            </p:cNvPr>
            <p:cNvSpPr txBox="1">
              <a:spLocks noChangeArrowheads="1"/>
            </p:cNvSpPr>
            <p:nvPr/>
          </p:nvSpPr>
          <p:spPr bwMode="auto">
            <a:xfrm>
              <a:off x="4378324" y="1147813"/>
              <a:ext cx="324167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1000" b="1" i="0" u="none" strike="noStrike" kern="1200" cap="none" spc="0" normalizeH="0" baseline="0" noProof="0" dirty="0">
                  <a:ln>
                    <a:noFill/>
                  </a:ln>
                  <a:solidFill>
                    <a:srgbClr val="FFE600"/>
                  </a:solidFill>
                  <a:effectLst/>
                  <a:uLnTx/>
                  <a:uFillTx/>
                  <a:latin typeface="EYInterstate" panose="02000503020000020004" pitchFamily="2" charset="0"/>
                  <a:ea typeface="+mn-ea"/>
                  <a:cs typeface="+mn-cs"/>
                </a:rPr>
                <a:t>EY  |  </a:t>
              </a:r>
              <a:r>
                <a:rPr kumimoji="0" lang="en-IN" altLang="en-US" sz="1000" b="0" i="0" u="none" strike="noStrike" kern="1200" cap="none" spc="0" normalizeH="0" baseline="0" noProof="0" dirty="0">
                  <a:ln>
                    <a:noFill/>
                  </a:ln>
                  <a:solidFill>
                    <a:srgbClr val="FFE600"/>
                  </a:solidFill>
                  <a:effectLst/>
                  <a:uLnTx/>
                  <a:uFillTx/>
                  <a:latin typeface="EYInterstate" panose="02000503020000020004" pitchFamily="2" charset="0"/>
                  <a:ea typeface="+mn-ea"/>
                  <a:cs typeface="+mn-cs"/>
                </a:rPr>
                <a:t>Building a better working world</a:t>
              </a:r>
            </a:p>
          </p:txBody>
        </p:sp>
        <p:sp>
          <p:nvSpPr>
            <p:cNvPr id="8" name="Text Box 5">
              <a:extLst>
                <a:ext uri="{FF2B5EF4-FFF2-40B4-BE49-F238E27FC236}">
                  <a16:creationId xmlns:a16="http://schemas.microsoft.com/office/drawing/2014/main" id="{9BB812E3-95B2-C9E1-36A5-1B901EC35D2A}"/>
                </a:ext>
              </a:extLst>
            </p:cNvPr>
            <p:cNvSpPr txBox="1">
              <a:spLocks noChangeArrowheads="1"/>
            </p:cNvSpPr>
            <p:nvPr/>
          </p:nvSpPr>
          <p:spPr bwMode="auto">
            <a:xfrm>
              <a:off x="4378325" y="1460500"/>
              <a:ext cx="3427174" cy="321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altLang="en-US" sz="9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EY is building a better working world by creating new value for clients, people, society and the planet, while building trust in capital markets.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altLang="en-US" sz="9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Enabled by data, AI and advanced technology, EY teams help clients shape the future with confidence and develop answers for the most pressing issues of today and tomorrow.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altLang="en-US" sz="9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EY teams work across a full spectrum of services in assurance, consulting, tax, strategy and transactions. </a:t>
              </a:r>
              <a:r>
                <a:rPr kumimoji="0" lang="en-IN" altLang="en-US" sz="900" b="0" i="0" u="none" strike="noStrike" kern="1200" cap="none" spc="0" normalizeH="0" baseline="0" noProof="0" dirty="0" err="1">
                  <a:ln>
                    <a:noFill/>
                  </a:ln>
                  <a:solidFill>
                    <a:prstClr val="white"/>
                  </a:solidFill>
                  <a:effectLst/>
                  <a:uLnTx/>
                  <a:uFillTx/>
                  <a:latin typeface="EYInterstate Light" panose="02000506000000020004" pitchFamily="2" charset="0"/>
                  <a:ea typeface="+mn-ea"/>
                  <a:cs typeface="+mn-cs"/>
                </a:rPr>
                <a:t>Fueled</a:t>
              </a:r>
              <a:r>
                <a:rPr kumimoji="0" lang="en-IN" altLang="en-US" sz="9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 by sector insights, a globally connected, multi-disciplinary network and diverse ecosystem partners, EY teams can provide services in more than 150 countries and territories.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0" cap="none" spc="0" normalizeH="0" baseline="0" noProof="0" dirty="0">
                  <a:ln>
                    <a:noFill/>
                  </a:ln>
                  <a:solidFill>
                    <a:srgbClr val="FFE600"/>
                  </a:solidFill>
                  <a:effectLst/>
                  <a:uLnTx/>
                  <a:uFillTx/>
                  <a:latin typeface="EYInterstate" panose="02000503020000020004" pitchFamily="2" charset="0"/>
                  <a:ea typeface="+mn-ea"/>
                  <a:cs typeface="+mn-cs"/>
                </a:rPr>
                <a:t>All in to shape the future with confidence. </a:t>
              </a:r>
              <a:endParaRPr kumimoji="0" lang="en-IN" altLang="en-US" sz="1000" b="0" i="0" u="none" strike="noStrike" kern="1200" cap="none" spc="0" normalizeH="0" baseline="0" noProof="0" dirty="0">
                <a:ln>
                  <a:noFill/>
                </a:ln>
                <a:solidFill>
                  <a:prstClr val="white"/>
                </a:solidFill>
                <a:effectLst/>
                <a:uLnTx/>
                <a:uFillTx/>
                <a:latin typeface="EYInterstate" panose="020005030200000200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9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EYG member firms do not practice law where prohibited by local laws. For more information about our organization, please visit ey.com.</a:t>
              </a:r>
            </a:p>
          </p:txBody>
        </p:sp>
        <p:sp>
          <p:nvSpPr>
            <p:cNvPr id="9" name="Text Box 11">
              <a:extLst>
                <a:ext uri="{FF2B5EF4-FFF2-40B4-BE49-F238E27FC236}">
                  <a16:creationId xmlns:a16="http://schemas.microsoft.com/office/drawing/2014/main" id="{788C18A0-85F5-54AD-C6B8-402003D2F8AE}"/>
                </a:ext>
              </a:extLst>
            </p:cNvPr>
            <p:cNvSpPr txBox="1">
              <a:spLocks noChangeArrowheads="1"/>
            </p:cNvSpPr>
            <p:nvPr/>
          </p:nvSpPr>
          <p:spPr bwMode="auto">
            <a:xfrm>
              <a:off x="4378325" y="4799023"/>
              <a:ext cx="318681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Ernst &amp; Young LLP is one of the Indian client serving member firms of EYGM Limited. For more information about our organization, please visit www.ey.com/en_in.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Ernst &amp; Young LLP is a Limited Liability Partnership, registered under the Limited Liability Partnership Act, 2008 in India, having its registered office at Ground Floor, Plot No. 67, Institutional Area, Sector - 44, Gurugram - 122 003, Haryana, India.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 2025 Ernst &amp; Young LLP. Published in India. </a:t>
              </a:r>
              <a:b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br>
              <a: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All Rights Reserved.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6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This publication contains information in summary form and is therefore intended for general guidance only. It is not intended to be a substitute for detailed research or the exercise of professional judgment. Neither EYGM Limited nor any other member of the global Ernst &amp; Young organization can accept any responsibility for loss occasioned to any person acting or refraining from action as a result of any material in this publication. On any specific matter, reference should be made to the appropriate advisor.</a:t>
              </a:r>
            </a:p>
          </p:txBody>
        </p:sp>
      </p:grpSp>
      <p:pic>
        <p:nvPicPr>
          <p:cNvPr id="16" name="Picture 15">
            <a:extLst>
              <a:ext uri="{FF2B5EF4-FFF2-40B4-BE49-F238E27FC236}">
                <a16:creationId xmlns:a16="http://schemas.microsoft.com/office/drawing/2014/main" id="{B29C53B7-C410-042B-DAE6-5541EB75D8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722" y="5838762"/>
            <a:ext cx="3237247" cy="489600"/>
          </a:xfrm>
          <a:prstGeom prst="rect">
            <a:avLst/>
          </a:prstGeom>
        </p:spPr>
      </p:pic>
      <p:pic>
        <p:nvPicPr>
          <p:cNvPr id="17" name="Picture 16">
            <a:extLst>
              <a:ext uri="{FF2B5EF4-FFF2-40B4-BE49-F238E27FC236}">
                <a16:creationId xmlns:a16="http://schemas.microsoft.com/office/drawing/2014/main" id="{7DEE4CDB-7BDE-CFB1-4E70-6BF2912B5D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8722" y="5837666"/>
            <a:ext cx="3244495" cy="490696"/>
          </a:xfrm>
          <a:prstGeom prst="rect">
            <a:avLst/>
          </a:prstGeom>
        </p:spPr>
      </p:pic>
    </p:spTree>
    <p:extLst>
      <p:ext uri="{BB962C8B-B14F-4D97-AF65-F5344CB8AC3E}">
        <p14:creationId xmlns:p14="http://schemas.microsoft.com/office/powerpoint/2010/main" val="2172062963"/>
      </p:ext>
    </p:extLst>
  </p:cSld>
  <p:clrMapOvr>
    <a:masterClrMapping/>
  </p:clrMapOvr>
</p:sld>
</file>

<file path=ppt/theme/theme1.xml><?xml version="1.0" encoding="utf-8"?>
<a:theme xmlns:a="http://schemas.openxmlformats.org/drawingml/2006/main" name="Light Background">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owerPoint 2024_Template_White-v2a.potx" id="{BD982E67-C16A-491D-BCD7-1A08DD91C0C8}" vid="{586A0A9F-6178-4322-BD94-02F694D5346C}"/>
    </a:ext>
  </a:extLst>
</a:theme>
</file>

<file path=ppt/theme/theme2.xml><?xml version="1.0" encoding="utf-8"?>
<a:theme xmlns:a="http://schemas.openxmlformats.org/drawingml/2006/main" name="1_EY Core Slides">
  <a:themeElements>
    <a:clrScheme name="Custom 84">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owerPoint 2024_Template_Dark_v2.potx" id="{C809F8AB-991E-460A-A122-03ADFA52C0BF}" vid="{4A63C152-927B-4484-91FE-BD46D62167FF}"/>
    </a:ext>
  </a:extLst>
</a:theme>
</file>

<file path=ppt/theme/theme3.xml><?xml version="1.0" encoding="utf-8"?>
<a:theme xmlns:a="http://schemas.openxmlformats.org/drawingml/2006/main" name="Office Theme">
  <a:themeElements>
    <a:clrScheme name="Custom 653">
      <a:dk1>
        <a:srgbClr val="000000"/>
      </a:dk1>
      <a:lt1>
        <a:srgbClr val="FFFFFF"/>
      </a:lt1>
      <a:dk2>
        <a:srgbClr val="44546A"/>
      </a:dk2>
      <a:lt2>
        <a:srgbClr val="E7E6E6"/>
      </a:lt2>
      <a:accent1>
        <a:srgbClr val="000000"/>
      </a:accent1>
      <a:accent2>
        <a:srgbClr val="9637FF"/>
      </a:accent2>
      <a:accent3>
        <a:srgbClr val="39308C"/>
      </a:accent3>
      <a:accent4>
        <a:srgbClr val="0DBCD3"/>
      </a:accent4>
      <a:accent5>
        <a:srgbClr val="F87412"/>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Light Background">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owerPoint 2024_Template_White-v2a.potx" id="{BD982E67-C16A-491D-BCD7-1A08DD91C0C8}" vid="{586A0A9F-6178-4322-BD94-02F694D5346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24D6B7C3717C47AB301E11BF9B4951" ma:contentTypeVersion="4" ma:contentTypeDescription="Create a new document." ma:contentTypeScope="" ma:versionID="6a2ac9e823fe16b7fbf39f49d883e91a">
  <xsd:schema xmlns:xsd="http://www.w3.org/2001/XMLSchema" xmlns:xs="http://www.w3.org/2001/XMLSchema" xmlns:p="http://schemas.microsoft.com/office/2006/metadata/properties" xmlns:ns2="714879ae-1033-45c6-9be3-c577918c63c3" targetNamespace="http://schemas.microsoft.com/office/2006/metadata/properties" ma:root="true" ma:fieldsID="67b307d9afce70da7b4a92e414b6e779" ns2:_="">
    <xsd:import namespace="714879ae-1033-45c6-9be3-c577918c63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4879ae-1033-45c6-9be3-c577918c63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BF3EB86-FB13-4C5C-B0AA-1D887D1073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4879ae-1033-45c6-9be3-c577918c63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C014D9-0F8B-4066-823B-E589F64FAF10}">
  <ds:schemaRefs>
    <ds:schemaRef ds:uri="http://schemas.microsoft.com/sharepoint/v3/contenttype/forms"/>
  </ds:schemaRefs>
</ds:datastoreItem>
</file>

<file path=customXml/itemProps3.xml><?xml version="1.0" encoding="utf-8"?>
<ds:datastoreItem xmlns:ds="http://schemas.openxmlformats.org/officeDocument/2006/customXml" ds:itemID="{45087F47-891A-4332-AEE8-A122FCE56C49}">
  <ds:schemaRefs>
    <ds:schemaRef ds:uri="http://purl.org/dc/dcmitype/"/>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http://schemas.microsoft.com/office/infopath/2007/PartnerControls"/>
    <ds:schemaRef ds:uri="714879ae-1033-45c6-9be3-c577918c63c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Light-global-widescreen-presentation-template-v2.0</Template>
  <TotalTime>1402</TotalTime>
  <Words>1366</Words>
  <Application>Microsoft Office PowerPoint</Application>
  <PresentationFormat>Widescreen</PresentationFormat>
  <Paragraphs>105</Paragraphs>
  <Slides>9</Slides>
  <Notes>9</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9</vt:i4>
      </vt:variant>
    </vt:vector>
  </HeadingPairs>
  <TitlesOfParts>
    <vt:vector size="20" baseType="lpstr">
      <vt:lpstr>Arial</vt:lpstr>
      <vt:lpstr>Calibri</vt:lpstr>
      <vt:lpstr>EYInterstate</vt:lpstr>
      <vt:lpstr>EYInterstate Light</vt:lpstr>
      <vt:lpstr>EYInterstate Regular</vt:lpstr>
      <vt:lpstr>Open Sans Light</vt:lpstr>
      <vt:lpstr>Wingdings</vt:lpstr>
      <vt:lpstr>Light Background</vt:lpstr>
      <vt:lpstr>1_EY Core Slides</vt:lpstr>
      <vt:lpstr>Office Theme</vt:lpstr>
      <vt:lpstr>1_Light Background</vt:lpstr>
      <vt:lpstr>EY Techathon 6.0 Executive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Rachita Gupta</dc:creator>
  <cp:lastModifiedBy>shravya puram</cp:lastModifiedBy>
  <cp:revision>10</cp:revision>
  <dcterms:created xsi:type="dcterms:W3CDTF">2024-11-06T10:56:59Z</dcterms:created>
  <dcterms:modified xsi:type="dcterms:W3CDTF">2025-11-09T17:08:26Z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0x01010039AC5ADA8D426E4FBEDF652E9440888F</vt:lpwstr>
  </property>
</Properties>
</file>